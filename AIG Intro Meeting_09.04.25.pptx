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5" r:id="rId2"/>
  </p:sldMasterIdLst>
  <p:notesMasterIdLst>
    <p:notesMasterId r:id="rId24"/>
  </p:notesMasterIdLst>
  <p:sldIdLst>
    <p:sldId id="257" r:id="rId3"/>
    <p:sldId id="274" r:id="rId4"/>
    <p:sldId id="265" r:id="rId5"/>
    <p:sldId id="286" r:id="rId6"/>
    <p:sldId id="2145706931" r:id="rId7"/>
    <p:sldId id="308" r:id="rId8"/>
    <p:sldId id="284" r:id="rId9"/>
    <p:sldId id="269" r:id="rId10"/>
    <p:sldId id="275" r:id="rId11"/>
    <p:sldId id="276" r:id="rId12"/>
    <p:sldId id="272" r:id="rId13"/>
    <p:sldId id="273" r:id="rId14"/>
    <p:sldId id="280" r:id="rId15"/>
    <p:sldId id="279" r:id="rId16"/>
    <p:sldId id="2145706928" r:id="rId17"/>
    <p:sldId id="2145706929" r:id="rId18"/>
    <p:sldId id="282" r:id="rId19"/>
    <p:sldId id="309" r:id="rId20"/>
    <p:sldId id="285" r:id="rId21"/>
    <p:sldId id="306" r:id="rId22"/>
    <p:sldId id="2145706930"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72" userDrawn="1">
          <p15:clr>
            <a:srgbClr val="A4A3A4"/>
          </p15:clr>
        </p15:guide>
        <p15:guide id="2" pos="72" userDrawn="1">
          <p15:clr>
            <a:srgbClr val="A4A3A4"/>
          </p15:clr>
        </p15:guide>
        <p15:guide id="3" pos="568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7AFE6E-EFE7-7440-8493-4ECA82ADAB49}" name="Walper, Matthew" initials="MW" userId="S::walperma@msu.edu::18d262e5-0dff-4038-a478-f86a0c7b969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604A"/>
    <a:srgbClr val="384D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024" autoAdjust="0"/>
  </p:normalViewPr>
  <p:slideViewPr>
    <p:cSldViewPr snapToGrid="0">
      <p:cViewPr varScale="1">
        <p:scale>
          <a:sx n="78" d="100"/>
          <a:sy n="78" d="100"/>
        </p:scale>
        <p:origin x="1522" y="43"/>
      </p:cViewPr>
      <p:guideLst>
        <p:guide orient="horz" pos="1872"/>
        <p:guide pos="72"/>
        <p:guide pos="56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34D-2632-4BF9-A672-6A423465396E}" type="datetimeFigureOut">
              <a:rPr lang="en-US" smtClean="0"/>
              <a:t>9/4/2025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0FC2C1-364E-4E28-BA61-1E5B82B6D3D1}" type="slidenum">
              <a:rPr lang="en-US" smtClean="0"/>
              <a:t>‹#›</a:t>
            </a:fld>
            <a:endParaRPr lang="en-US"/>
          </a:p>
        </p:txBody>
      </p:sp>
    </p:spTree>
    <p:extLst>
      <p:ext uri="{BB962C8B-B14F-4D97-AF65-F5344CB8AC3E}">
        <p14:creationId xmlns:p14="http://schemas.microsoft.com/office/powerpoint/2010/main" val="259348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/sign in QR code</a:t>
            </a:r>
          </a:p>
        </p:txBody>
      </p:sp>
      <p:sp>
        <p:nvSpPr>
          <p:cNvPr id="4" name="Slide Number Placeholder 3"/>
          <p:cNvSpPr>
            <a:spLocks noGrp="1"/>
          </p:cNvSpPr>
          <p:nvPr>
            <p:ph type="sldNum" sz="quarter" idx="5"/>
          </p:nvPr>
        </p:nvSpPr>
        <p:spPr/>
        <p:txBody>
          <a:bodyPr/>
          <a:lstStyle/>
          <a:p>
            <a:fld id="{EC0FC2C1-364E-4E28-BA61-1E5B82B6D3D1}" type="slidenum">
              <a:rPr lang="en-US" smtClean="0"/>
              <a:t>2</a:t>
            </a:fld>
            <a:endParaRPr lang="en-US"/>
          </a:p>
        </p:txBody>
      </p:sp>
    </p:spTree>
    <p:extLst>
      <p:ext uri="{BB962C8B-B14F-4D97-AF65-F5344CB8AC3E}">
        <p14:creationId xmlns:p14="http://schemas.microsoft.com/office/powerpoint/2010/main" val="806664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a:t>
            </a:r>
          </a:p>
        </p:txBody>
      </p:sp>
      <p:sp>
        <p:nvSpPr>
          <p:cNvPr id="4" name="Slide Number Placeholder 3"/>
          <p:cNvSpPr>
            <a:spLocks noGrp="1"/>
          </p:cNvSpPr>
          <p:nvPr>
            <p:ph type="sldNum" sz="quarter" idx="5"/>
          </p:nvPr>
        </p:nvSpPr>
        <p:spPr/>
        <p:txBody>
          <a:bodyPr/>
          <a:lstStyle/>
          <a:p>
            <a:fld id="{EC0FC2C1-364E-4E28-BA61-1E5B82B6D3D1}" type="slidenum">
              <a:rPr lang="en-US" smtClean="0"/>
              <a:t>6</a:t>
            </a:fld>
            <a:endParaRPr lang="en-US"/>
          </a:p>
        </p:txBody>
      </p:sp>
    </p:spTree>
    <p:extLst>
      <p:ext uri="{BB962C8B-B14F-4D97-AF65-F5344CB8AC3E}">
        <p14:creationId xmlns:p14="http://schemas.microsoft.com/office/powerpoint/2010/main" val="3609429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Dina</a:t>
            </a:r>
          </a:p>
        </p:txBody>
      </p:sp>
      <p:sp>
        <p:nvSpPr>
          <p:cNvPr id="4" name="Slide Number Placeholder 3"/>
          <p:cNvSpPr>
            <a:spLocks noGrp="1"/>
          </p:cNvSpPr>
          <p:nvPr>
            <p:ph type="sldNum" sz="quarter" idx="5"/>
          </p:nvPr>
        </p:nvSpPr>
        <p:spPr/>
        <p:txBody>
          <a:bodyPr/>
          <a:lstStyle/>
          <a:p>
            <a:fld id="{EC0FC2C1-364E-4E28-BA61-1E5B82B6D3D1}" type="slidenum">
              <a:rPr lang="en-US" smtClean="0"/>
              <a:t>7</a:t>
            </a:fld>
            <a:endParaRPr lang="en-US"/>
          </a:p>
        </p:txBody>
      </p:sp>
    </p:spTree>
    <p:extLst>
      <p:ext uri="{BB962C8B-B14F-4D97-AF65-F5344CB8AC3E}">
        <p14:creationId xmlns:p14="http://schemas.microsoft.com/office/powerpoint/2010/main" val="1273713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a:t>
            </a:r>
          </a:p>
        </p:txBody>
      </p:sp>
      <p:sp>
        <p:nvSpPr>
          <p:cNvPr id="4" name="Slide Number Placeholder 3"/>
          <p:cNvSpPr>
            <a:spLocks noGrp="1"/>
          </p:cNvSpPr>
          <p:nvPr>
            <p:ph type="sldNum" sz="quarter" idx="5"/>
          </p:nvPr>
        </p:nvSpPr>
        <p:spPr/>
        <p:txBody>
          <a:bodyPr/>
          <a:lstStyle/>
          <a:p>
            <a:fld id="{EC0FC2C1-364E-4E28-BA61-1E5B82B6D3D1}" type="slidenum">
              <a:rPr lang="en-US" smtClean="0"/>
              <a:t>8</a:t>
            </a:fld>
            <a:endParaRPr lang="en-US"/>
          </a:p>
        </p:txBody>
      </p:sp>
    </p:spTree>
    <p:extLst>
      <p:ext uri="{BB962C8B-B14F-4D97-AF65-F5344CB8AC3E}">
        <p14:creationId xmlns:p14="http://schemas.microsoft.com/office/powerpoint/2010/main" val="1115910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Luke</a:t>
            </a:r>
          </a:p>
        </p:txBody>
      </p:sp>
      <p:sp>
        <p:nvSpPr>
          <p:cNvPr id="4" name="Slide Number Placeholder 3"/>
          <p:cNvSpPr>
            <a:spLocks noGrp="1"/>
          </p:cNvSpPr>
          <p:nvPr>
            <p:ph type="sldNum" sz="quarter" idx="5"/>
          </p:nvPr>
        </p:nvSpPr>
        <p:spPr/>
        <p:txBody>
          <a:bodyPr/>
          <a:lstStyle/>
          <a:p>
            <a:fld id="{EC0FC2C1-364E-4E28-BA61-1E5B82B6D3D1}" type="slidenum">
              <a:rPr lang="en-US" smtClean="0"/>
              <a:t>9</a:t>
            </a:fld>
            <a:endParaRPr lang="en-US"/>
          </a:p>
        </p:txBody>
      </p:sp>
    </p:spTree>
    <p:extLst>
      <p:ext uri="{BB962C8B-B14F-4D97-AF65-F5344CB8AC3E}">
        <p14:creationId xmlns:p14="http://schemas.microsoft.com/office/powerpoint/2010/main" val="4009603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Saransh</a:t>
            </a:r>
          </a:p>
        </p:txBody>
      </p:sp>
      <p:sp>
        <p:nvSpPr>
          <p:cNvPr id="4" name="Slide Number Placeholder 3"/>
          <p:cNvSpPr>
            <a:spLocks noGrp="1"/>
          </p:cNvSpPr>
          <p:nvPr>
            <p:ph type="sldNum" sz="quarter" idx="5"/>
          </p:nvPr>
        </p:nvSpPr>
        <p:spPr/>
        <p:txBody>
          <a:bodyPr/>
          <a:lstStyle/>
          <a:p>
            <a:fld id="{EC0FC2C1-364E-4E28-BA61-1E5B82B6D3D1}" type="slidenum">
              <a:rPr lang="en-US" smtClean="0"/>
              <a:t>10</a:t>
            </a:fld>
            <a:endParaRPr lang="en-US"/>
          </a:p>
        </p:txBody>
      </p:sp>
    </p:spTree>
    <p:extLst>
      <p:ext uri="{BB962C8B-B14F-4D97-AF65-F5344CB8AC3E}">
        <p14:creationId xmlns:p14="http://schemas.microsoft.com/office/powerpoint/2010/main" val="306953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Dina</a:t>
            </a:r>
          </a:p>
        </p:txBody>
      </p:sp>
      <p:sp>
        <p:nvSpPr>
          <p:cNvPr id="4" name="Slide Number Placeholder 3"/>
          <p:cNvSpPr>
            <a:spLocks noGrp="1"/>
          </p:cNvSpPr>
          <p:nvPr>
            <p:ph type="sldNum" sz="quarter" idx="5"/>
          </p:nvPr>
        </p:nvSpPr>
        <p:spPr/>
        <p:txBody>
          <a:bodyPr/>
          <a:lstStyle/>
          <a:p>
            <a:fld id="{EC0FC2C1-364E-4E28-BA61-1E5B82B6D3D1}" type="slidenum">
              <a:rPr lang="en-US" smtClean="0"/>
              <a:t>11</a:t>
            </a:fld>
            <a:endParaRPr lang="en-US"/>
          </a:p>
        </p:txBody>
      </p:sp>
    </p:spTree>
    <p:extLst>
      <p:ext uri="{BB962C8B-B14F-4D97-AF65-F5344CB8AC3E}">
        <p14:creationId xmlns:p14="http://schemas.microsoft.com/office/powerpoint/2010/main" val="1894423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Yash</a:t>
            </a:r>
          </a:p>
        </p:txBody>
      </p:sp>
      <p:sp>
        <p:nvSpPr>
          <p:cNvPr id="4" name="Slide Number Placeholder 3"/>
          <p:cNvSpPr>
            <a:spLocks noGrp="1"/>
          </p:cNvSpPr>
          <p:nvPr>
            <p:ph type="sldNum" sz="quarter" idx="5"/>
          </p:nvPr>
        </p:nvSpPr>
        <p:spPr/>
        <p:txBody>
          <a:bodyPr/>
          <a:lstStyle/>
          <a:p>
            <a:fld id="{EC0FC2C1-364E-4E28-BA61-1E5B82B6D3D1}" type="slidenum">
              <a:rPr lang="en-US" smtClean="0"/>
              <a:t>12</a:t>
            </a:fld>
            <a:endParaRPr lang="en-US"/>
          </a:p>
        </p:txBody>
      </p:sp>
    </p:spTree>
    <p:extLst>
      <p:ext uri="{BB962C8B-B14F-4D97-AF65-F5344CB8AC3E}">
        <p14:creationId xmlns:p14="http://schemas.microsoft.com/office/powerpoint/2010/main" val="410907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a:t>
            </a:r>
          </a:p>
        </p:txBody>
      </p:sp>
      <p:sp>
        <p:nvSpPr>
          <p:cNvPr id="4" name="Slide Number Placeholder 3"/>
          <p:cNvSpPr>
            <a:spLocks noGrp="1"/>
          </p:cNvSpPr>
          <p:nvPr>
            <p:ph type="sldNum" sz="quarter" idx="5"/>
          </p:nvPr>
        </p:nvSpPr>
        <p:spPr/>
        <p:txBody>
          <a:bodyPr/>
          <a:lstStyle/>
          <a:p>
            <a:fld id="{EC0FC2C1-364E-4E28-BA61-1E5B82B6D3D1}" type="slidenum">
              <a:rPr lang="en-US" smtClean="0"/>
              <a:t>13</a:t>
            </a:fld>
            <a:endParaRPr lang="en-US"/>
          </a:p>
        </p:txBody>
      </p:sp>
    </p:spTree>
    <p:extLst>
      <p:ext uri="{BB962C8B-B14F-4D97-AF65-F5344CB8AC3E}">
        <p14:creationId xmlns:p14="http://schemas.microsoft.com/office/powerpoint/2010/main" val="744936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a:t>
            </a:r>
          </a:p>
        </p:txBody>
      </p:sp>
      <p:sp>
        <p:nvSpPr>
          <p:cNvPr id="4" name="Slide Number Placeholder 3"/>
          <p:cNvSpPr>
            <a:spLocks noGrp="1"/>
          </p:cNvSpPr>
          <p:nvPr>
            <p:ph type="sldNum" sz="quarter" idx="5"/>
          </p:nvPr>
        </p:nvSpPr>
        <p:spPr/>
        <p:txBody>
          <a:bodyPr/>
          <a:lstStyle/>
          <a:p>
            <a:fld id="{EC0FC2C1-364E-4E28-BA61-1E5B82B6D3D1}" type="slidenum">
              <a:rPr lang="en-US" smtClean="0"/>
              <a:t>14</a:t>
            </a:fld>
            <a:endParaRPr lang="en-US"/>
          </a:p>
        </p:txBody>
      </p:sp>
    </p:spTree>
    <p:extLst>
      <p:ext uri="{BB962C8B-B14F-4D97-AF65-F5344CB8AC3E}">
        <p14:creationId xmlns:p14="http://schemas.microsoft.com/office/powerpoint/2010/main" val="1898134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48443-CAD7-A635-BA7A-67A15834E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90E5D-CAC8-0B29-D8D9-0937805E4514}"/>
              </a:ext>
            </a:extLst>
          </p:cNvPr>
          <p:cNvSpPr>
            <a:spLocks noGrp="1" noRot="1" noChangeAspect="1"/>
          </p:cNvSpPr>
          <p:nvPr>
            <p:ph type="sldImg"/>
          </p:nvPr>
        </p:nvSpPr>
        <p:spPr>
          <a:xfrm>
            <a:off x="1395413" y="1171575"/>
            <a:ext cx="4219575" cy="3163888"/>
          </a:xfrm>
        </p:spPr>
      </p:sp>
      <p:sp>
        <p:nvSpPr>
          <p:cNvPr id="3" name="Notes Placeholder 2">
            <a:extLst>
              <a:ext uri="{FF2B5EF4-FFF2-40B4-BE49-F238E27FC236}">
                <a16:creationId xmlns:a16="http://schemas.microsoft.com/office/drawing/2014/main" id="{0E334062-FE98-076B-7C17-E7393FBA0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1CB2A0-8E41-B177-04DD-11C61F951C2F}"/>
              </a:ext>
            </a:extLst>
          </p:cNvPr>
          <p:cNvSpPr>
            <a:spLocks noGrp="1"/>
          </p:cNvSpPr>
          <p:nvPr>
            <p:ph type="sldNum" sz="quarter" idx="5"/>
          </p:nvPr>
        </p:nvSpPr>
        <p:spPr/>
        <p:txBody>
          <a:bodyPr/>
          <a:lstStyle/>
          <a:p>
            <a:fld id="{5DB24282-05AE-4D46-9EC8-7918768348FF}" type="slidenum">
              <a:rPr lang="en-US" smtClean="0"/>
              <a:pPr/>
              <a:t>15</a:t>
            </a:fld>
            <a:endParaRPr lang="en-US"/>
          </a:p>
        </p:txBody>
      </p:sp>
    </p:spTree>
    <p:extLst>
      <p:ext uri="{BB962C8B-B14F-4D97-AF65-F5344CB8AC3E}">
        <p14:creationId xmlns:p14="http://schemas.microsoft.com/office/powerpoint/2010/main" val="610033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F057-1073-1FFA-6369-577B8D17C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38EC2-4888-4FE5-356D-2AA6111184D0}"/>
              </a:ext>
            </a:extLst>
          </p:cNvPr>
          <p:cNvSpPr>
            <a:spLocks noGrp="1" noRot="1" noChangeAspect="1"/>
          </p:cNvSpPr>
          <p:nvPr>
            <p:ph type="sldImg"/>
          </p:nvPr>
        </p:nvSpPr>
        <p:spPr>
          <a:xfrm>
            <a:off x="1395413" y="1171575"/>
            <a:ext cx="4219575" cy="3163888"/>
          </a:xfrm>
        </p:spPr>
      </p:sp>
      <p:sp>
        <p:nvSpPr>
          <p:cNvPr id="3" name="Notes Placeholder 2">
            <a:extLst>
              <a:ext uri="{FF2B5EF4-FFF2-40B4-BE49-F238E27FC236}">
                <a16:creationId xmlns:a16="http://schemas.microsoft.com/office/drawing/2014/main" id="{DE193DC9-D727-E534-1464-5DFB08E6EA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F873D7-3F10-308C-7865-D82296D5E3E2}"/>
              </a:ext>
            </a:extLst>
          </p:cNvPr>
          <p:cNvSpPr>
            <a:spLocks noGrp="1"/>
          </p:cNvSpPr>
          <p:nvPr>
            <p:ph type="sldNum" sz="quarter" idx="5"/>
          </p:nvPr>
        </p:nvSpPr>
        <p:spPr/>
        <p:txBody>
          <a:bodyPr/>
          <a:lstStyle/>
          <a:p>
            <a:fld id="{5DB24282-05AE-4D46-9EC8-7918768348FF}" type="slidenum">
              <a:rPr lang="en-US" smtClean="0"/>
              <a:pPr/>
              <a:t>16</a:t>
            </a:fld>
            <a:endParaRPr lang="en-US"/>
          </a:p>
        </p:txBody>
      </p:sp>
    </p:spTree>
    <p:extLst>
      <p:ext uri="{BB962C8B-B14F-4D97-AF65-F5344CB8AC3E}">
        <p14:creationId xmlns:p14="http://schemas.microsoft.com/office/powerpoint/2010/main" val="2153732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Dina</a:t>
            </a:r>
          </a:p>
        </p:txBody>
      </p:sp>
      <p:sp>
        <p:nvSpPr>
          <p:cNvPr id="4" name="Slide Number Placeholder 3"/>
          <p:cNvSpPr>
            <a:spLocks noGrp="1"/>
          </p:cNvSpPr>
          <p:nvPr>
            <p:ph type="sldNum" sz="quarter" idx="5"/>
          </p:nvPr>
        </p:nvSpPr>
        <p:spPr/>
        <p:txBody>
          <a:bodyPr/>
          <a:lstStyle/>
          <a:p>
            <a:fld id="{EC0FC2C1-364E-4E28-BA61-1E5B82B6D3D1}" type="slidenum">
              <a:rPr lang="en-US" smtClean="0"/>
              <a:t>17</a:t>
            </a:fld>
            <a:endParaRPr lang="en-US"/>
          </a:p>
        </p:txBody>
      </p:sp>
    </p:spTree>
    <p:extLst>
      <p:ext uri="{BB962C8B-B14F-4D97-AF65-F5344CB8AC3E}">
        <p14:creationId xmlns:p14="http://schemas.microsoft.com/office/powerpoint/2010/main" val="4154357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EE67A-581E-1E18-C26F-9573B9B15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A4312-DA64-1FCA-C9D7-3D0CD8EF6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24A6D-E852-6717-A601-9C51EC1A615C}"/>
              </a:ext>
            </a:extLst>
          </p:cNvPr>
          <p:cNvSpPr>
            <a:spLocks noGrp="1"/>
          </p:cNvSpPr>
          <p:nvPr>
            <p:ph type="body" idx="1"/>
          </p:nvPr>
        </p:nvSpPr>
        <p:spPr/>
        <p:txBody>
          <a:bodyPr/>
          <a:lstStyle/>
          <a:p>
            <a:r>
              <a:rPr lang="en-US">
                <a:ea typeface="Calibri"/>
                <a:cs typeface="Calibri"/>
              </a:rPr>
              <a:t>Yash</a:t>
            </a:r>
          </a:p>
        </p:txBody>
      </p:sp>
      <p:sp>
        <p:nvSpPr>
          <p:cNvPr id="4" name="Slide Number Placeholder 3">
            <a:extLst>
              <a:ext uri="{FF2B5EF4-FFF2-40B4-BE49-F238E27FC236}">
                <a16:creationId xmlns:a16="http://schemas.microsoft.com/office/drawing/2014/main" id="{9095077E-0367-F396-6A44-9F740540EC6F}"/>
              </a:ext>
            </a:extLst>
          </p:cNvPr>
          <p:cNvSpPr>
            <a:spLocks noGrp="1"/>
          </p:cNvSpPr>
          <p:nvPr>
            <p:ph type="sldNum" sz="quarter" idx="5"/>
          </p:nvPr>
        </p:nvSpPr>
        <p:spPr/>
        <p:txBody>
          <a:bodyPr/>
          <a:lstStyle/>
          <a:p>
            <a:fld id="{EC0FC2C1-364E-4E28-BA61-1E5B82B6D3D1}" type="slidenum">
              <a:rPr lang="en-US" smtClean="0"/>
              <a:t>18</a:t>
            </a:fld>
            <a:endParaRPr lang="en-US"/>
          </a:p>
        </p:txBody>
      </p:sp>
    </p:spTree>
    <p:extLst>
      <p:ext uri="{BB962C8B-B14F-4D97-AF65-F5344CB8AC3E}">
        <p14:creationId xmlns:p14="http://schemas.microsoft.com/office/powerpoint/2010/main" val="1074733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Jack</a:t>
            </a:r>
          </a:p>
        </p:txBody>
      </p:sp>
      <p:sp>
        <p:nvSpPr>
          <p:cNvPr id="4" name="Slide Number Placeholder 3"/>
          <p:cNvSpPr>
            <a:spLocks noGrp="1"/>
          </p:cNvSpPr>
          <p:nvPr>
            <p:ph type="sldNum" sz="quarter" idx="5"/>
          </p:nvPr>
        </p:nvSpPr>
        <p:spPr/>
        <p:txBody>
          <a:bodyPr/>
          <a:lstStyle/>
          <a:p>
            <a:fld id="{EC0FC2C1-364E-4E28-BA61-1E5B82B6D3D1}" type="slidenum">
              <a:rPr lang="en-US" smtClean="0"/>
              <a:t>19</a:t>
            </a:fld>
            <a:endParaRPr lang="en-US"/>
          </a:p>
        </p:txBody>
      </p:sp>
    </p:spTree>
    <p:extLst>
      <p:ext uri="{BB962C8B-B14F-4D97-AF65-F5344CB8AC3E}">
        <p14:creationId xmlns:p14="http://schemas.microsoft.com/office/powerpoint/2010/main" val="2332250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56301CF-0179-48CA-A544-FA35844A5656}" type="slidenum">
              <a:rPr lang="en-US" smtClean="0"/>
              <a:t>20</a:t>
            </a:fld>
            <a:endParaRPr lang="en-US"/>
          </a:p>
        </p:txBody>
      </p:sp>
    </p:spTree>
    <p:extLst>
      <p:ext uri="{BB962C8B-B14F-4D97-AF65-F5344CB8AC3E}">
        <p14:creationId xmlns:p14="http://schemas.microsoft.com/office/powerpoint/2010/main" val="3490760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FC282-02DA-7911-71D9-6359F1600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15B72-83BD-2765-36B3-05DE50A43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34FB4-2B12-2ABD-7EB2-98CD59B159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42633F-57FD-DAE8-7CDA-558F3F161C66}"/>
              </a:ext>
            </a:extLst>
          </p:cNvPr>
          <p:cNvSpPr>
            <a:spLocks noGrp="1"/>
          </p:cNvSpPr>
          <p:nvPr>
            <p:ph type="sldNum" sz="quarter" idx="5"/>
          </p:nvPr>
        </p:nvSpPr>
        <p:spPr/>
        <p:txBody>
          <a:bodyPr/>
          <a:lstStyle/>
          <a:p>
            <a:fld id="{156301CF-0179-48CA-A544-FA35844A5656}" type="slidenum">
              <a:rPr lang="en-US" smtClean="0"/>
              <a:t>21</a:t>
            </a:fld>
            <a:endParaRPr lang="en-US"/>
          </a:p>
        </p:txBody>
      </p:sp>
    </p:spTree>
    <p:extLst>
      <p:ext uri="{BB962C8B-B14F-4D97-AF65-F5344CB8AC3E}">
        <p14:creationId xmlns:p14="http://schemas.microsoft.com/office/powerpoint/2010/main" val="3222344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building with a large roof&#10;&#10;Description automatically generated">
            <a:extLst>
              <a:ext uri="{FF2B5EF4-FFF2-40B4-BE49-F238E27FC236}">
                <a16:creationId xmlns:a16="http://schemas.microsoft.com/office/drawing/2014/main" id="{C2BB3DD0-46EE-DAC3-C235-49F23BB07BE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277"/>
          <a:stretch/>
        </p:blipFill>
        <p:spPr>
          <a:xfrm>
            <a:off x="0" y="0"/>
            <a:ext cx="9144000" cy="4847290"/>
          </a:xfrm>
          <a:prstGeom prst="rect">
            <a:avLst/>
          </a:prstGeom>
          <a:effectLst>
            <a:reflection blurRad="6350" stA="21000" endPos="55000" dir="5400000" sy="-100000" algn="bl" rotWithShape="0"/>
          </a:effectLst>
        </p:spPr>
      </p:pic>
    </p:spTree>
    <p:extLst>
      <p:ext uri="{BB962C8B-B14F-4D97-AF65-F5344CB8AC3E}">
        <p14:creationId xmlns:p14="http://schemas.microsoft.com/office/powerpoint/2010/main" val="350538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7D1925-E4E4-5130-DF30-D1D8CBA28D4C}"/>
              </a:ext>
            </a:extLst>
          </p:cNvPr>
          <p:cNvSpPr/>
          <p:nvPr userDrawn="1"/>
        </p:nvSpPr>
        <p:spPr>
          <a:xfrm>
            <a:off x="0" y="6520546"/>
            <a:ext cx="9144000" cy="37010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8" name="Straight Connector 7">
            <a:extLst>
              <a:ext uri="{FF2B5EF4-FFF2-40B4-BE49-F238E27FC236}">
                <a16:creationId xmlns:a16="http://schemas.microsoft.com/office/drawing/2014/main" id="{B53261E0-7349-4E6E-BAAC-125C8AA3804D}"/>
              </a:ext>
            </a:extLst>
          </p:cNvPr>
          <p:cNvCxnSpPr/>
          <p:nvPr userDrawn="1"/>
        </p:nvCxnSpPr>
        <p:spPr>
          <a:xfrm>
            <a:off x="0" y="6509658"/>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423E1DF4-8221-4AB9-3A70-9F8C6BDBE8A6}"/>
              </a:ext>
            </a:extLst>
          </p:cNvPr>
          <p:cNvSpPr>
            <a:spLocks noGrp="1"/>
          </p:cNvSpPr>
          <p:nvPr>
            <p:ph type="sldNum" sz="quarter" idx="12"/>
          </p:nvPr>
        </p:nvSpPr>
        <p:spPr>
          <a:xfrm>
            <a:off x="7086600" y="6492877"/>
            <a:ext cx="2057400" cy="365125"/>
          </a:xfrm>
          <a:prstGeom prst="rect">
            <a:avLst/>
          </a:prstGeom>
        </p:spPr>
        <p:txBody>
          <a:bodyPr/>
          <a:lstStyle>
            <a:lvl1pPr algn="r">
              <a:defRPr sz="1350" b="1"/>
            </a:lvl1pPr>
          </a:lstStyle>
          <a:p>
            <a:fld id="{A8B6A6A5-8837-444D-81FE-D5B56551E0C0}" type="slidenum">
              <a:rPr lang="en-US" smtClean="0"/>
              <a:pPr/>
              <a:t>‹#›</a:t>
            </a:fld>
            <a:endParaRPr lang="en-US"/>
          </a:p>
        </p:txBody>
      </p:sp>
    </p:spTree>
    <p:extLst>
      <p:ext uri="{BB962C8B-B14F-4D97-AF65-F5344CB8AC3E}">
        <p14:creationId xmlns:p14="http://schemas.microsoft.com/office/powerpoint/2010/main" val="3334702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6"/>
            <a:ext cx="7886700" cy="150018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09228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8"/>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3900475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8" name="Footer Placeholder 7"/>
          <p:cNvSpPr>
            <a:spLocks noGrp="1"/>
          </p:cNvSpPr>
          <p:nvPr>
            <p:ph type="ftr" sz="quarter" idx="11"/>
          </p:nvPr>
        </p:nvSpPr>
        <p:spPr>
          <a:xfrm>
            <a:off x="3028950" y="6356353"/>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150914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8"/>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355216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3" name="Footer Placeholder 2"/>
          <p:cNvSpPr>
            <a:spLocks noGrp="1"/>
          </p:cNvSpPr>
          <p:nvPr>
            <p:ph type="ftr" sz="quarter" idx="11"/>
          </p:nvPr>
        </p:nvSpPr>
        <p:spPr>
          <a:xfrm>
            <a:off x="3028950" y="6356353"/>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702459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8"/>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175275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8"/>
            <a:ext cx="4629150" cy="4873625"/>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a:xfrm>
            <a:off x="3028950" y="6356353"/>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1963373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8"/>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317966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3474219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3FC8-B19E-7552-51CB-DB69080846A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BC9CAF7-A408-85FD-9D21-5C13C8785B3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E03AA51-A22B-9F8C-51C9-C53377BC15BA}"/>
              </a:ext>
            </a:extLst>
          </p:cNvPr>
          <p:cNvSpPr>
            <a:spLocks noGrp="1"/>
          </p:cNvSpPr>
          <p:nvPr>
            <p:ph type="dt" sz="half" idx="10"/>
          </p:nvPr>
        </p:nvSpPr>
        <p:spPr/>
        <p:txBody>
          <a:bodyPr/>
          <a:lstStyle/>
          <a:p>
            <a:fld id="{7AF9731E-3402-4DEE-88C5-5B6A1A29BB98}" type="datetimeFigureOut">
              <a:rPr lang="en-US" smtClean="0"/>
              <a:t>9/4/2025</a:t>
            </a:fld>
            <a:endParaRPr lang="en-US"/>
          </a:p>
        </p:txBody>
      </p:sp>
      <p:sp>
        <p:nvSpPr>
          <p:cNvPr id="5" name="Footer Placeholder 4">
            <a:extLst>
              <a:ext uri="{FF2B5EF4-FFF2-40B4-BE49-F238E27FC236}">
                <a16:creationId xmlns:a16="http://schemas.microsoft.com/office/drawing/2014/main" id="{5A013914-EF2B-6E5D-A78F-42FC46FC1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ED95B5-AFE0-7BBA-C21F-49A984DA4B65}"/>
              </a:ext>
            </a:extLst>
          </p:cNvPr>
          <p:cNvSpPr>
            <a:spLocks noGrp="1"/>
          </p:cNvSpPr>
          <p:nvPr>
            <p:ph type="sldNum" sz="quarter" idx="12"/>
          </p:nvPr>
        </p:nvSpPr>
        <p:spPr/>
        <p:txBody>
          <a:bodyPr/>
          <a:lstStyle/>
          <a:p>
            <a:fld id="{75EB3F6C-B2FC-4C51-BE7D-CE06C4E9662C}" type="slidenum">
              <a:rPr lang="en-US" smtClean="0"/>
              <a:t>‹#›</a:t>
            </a:fld>
            <a:endParaRPr lang="en-US"/>
          </a:p>
        </p:txBody>
      </p:sp>
    </p:spTree>
    <p:extLst>
      <p:ext uri="{BB962C8B-B14F-4D97-AF65-F5344CB8AC3E}">
        <p14:creationId xmlns:p14="http://schemas.microsoft.com/office/powerpoint/2010/main" val="1745450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7D1925-E4E4-5130-DF30-D1D8CBA28D4C}"/>
              </a:ext>
            </a:extLst>
          </p:cNvPr>
          <p:cNvSpPr/>
          <p:nvPr userDrawn="1"/>
        </p:nvSpPr>
        <p:spPr>
          <a:xfrm>
            <a:off x="0" y="6520546"/>
            <a:ext cx="9144000" cy="37010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8" name="Straight Connector 7">
            <a:extLst>
              <a:ext uri="{FF2B5EF4-FFF2-40B4-BE49-F238E27FC236}">
                <a16:creationId xmlns:a16="http://schemas.microsoft.com/office/drawing/2014/main" id="{B53261E0-7349-4E6E-BAAC-125C8AA3804D}"/>
              </a:ext>
            </a:extLst>
          </p:cNvPr>
          <p:cNvCxnSpPr/>
          <p:nvPr userDrawn="1"/>
        </p:nvCxnSpPr>
        <p:spPr>
          <a:xfrm>
            <a:off x="0" y="6509658"/>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423E1DF4-8221-4AB9-3A70-9F8C6BDBE8A6}"/>
              </a:ext>
            </a:extLst>
          </p:cNvPr>
          <p:cNvSpPr>
            <a:spLocks noGrp="1"/>
          </p:cNvSpPr>
          <p:nvPr>
            <p:ph type="sldNum" sz="quarter" idx="12"/>
          </p:nvPr>
        </p:nvSpPr>
        <p:spPr>
          <a:xfrm>
            <a:off x="7086600" y="6492877"/>
            <a:ext cx="2057400" cy="365125"/>
          </a:xfrm>
          <a:prstGeom prst="rect">
            <a:avLst/>
          </a:prstGeom>
        </p:spPr>
        <p:txBody>
          <a:bodyPr/>
          <a:lstStyle>
            <a:lvl1pPr algn="r">
              <a:defRPr sz="1350" b="1"/>
            </a:lvl1pPr>
          </a:lstStyle>
          <a:p>
            <a:fld id="{A8B6A6A5-8837-444D-81FE-D5B56551E0C0}" type="slidenum">
              <a:rPr lang="en-US" smtClean="0"/>
              <a:pPr/>
              <a:t>‹#›</a:t>
            </a:fld>
            <a:endParaRPr lang="en-US"/>
          </a:p>
        </p:txBody>
      </p:sp>
    </p:spTree>
    <p:extLst>
      <p:ext uri="{BB962C8B-B14F-4D97-AF65-F5344CB8AC3E}">
        <p14:creationId xmlns:p14="http://schemas.microsoft.com/office/powerpoint/2010/main" val="1638841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7D1925-E4E4-5130-DF30-D1D8CBA28D4C}"/>
              </a:ext>
            </a:extLst>
          </p:cNvPr>
          <p:cNvSpPr/>
          <p:nvPr userDrawn="1"/>
        </p:nvSpPr>
        <p:spPr>
          <a:xfrm>
            <a:off x="0" y="6520546"/>
            <a:ext cx="9144000" cy="37010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8" name="Straight Connector 7">
            <a:extLst>
              <a:ext uri="{FF2B5EF4-FFF2-40B4-BE49-F238E27FC236}">
                <a16:creationId xmlns:a16="http://schemas.microsoft.com/office/drawing/2014/main" id="{B53261E0-7349-4E6E-BAAC-125C8AA3804D}"/>
              </a:ext>
            </a:extLst>
          </p:cNvPr>
          <p:cNvCxnSpPr/>
          <p:nvPr userDrawn="1"/>
        </p:nvCxnSpPr>
        <p:spPr>
          <a:xfrm>
            <a:off x="0" y="6509658"/>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423E1DF4-8221-4AB9-3A70-9F8C6BDBE8A6}"/>
              </a:ext>
            </a:extLst>
          </p:cNvPr>
          <p:cNvSpPr>
            <a:spLocks noGrp="1"/>
          </p:cNvSpPr>
          <p:nvPr>
            <p:ph type="sldNum" sz="quarter" idx="12"/>
          </p:nvPr>
        </p:nvSpPr>
        <p:spPr>
          <a:xfrm>
            <a:off x="7086600" y="6492877"/>
            <a:ext cx="2057400" cy="365125"/>
          </a:xfrm>
          <a:prstGeom prst="rect">
            <a:avLst/>
          </a:prstGeom>
        </p:spPr>
        <p:txBody>
          <a:bodyPr/>
          <a:lstStyle>
            <a:lvl1pPr algn="r">
              <a:defRPr sz="1350" b="1"/>
            </a:lvl1pPr>
          </a:lstStyle>
          <a:p>
            <a:fld id="{A8B6A6A5-8837-444D-81FE-D5B56551E0C0}" type="slidenum">
              <a:rPr lang="en-US" smtClean="0"/>
              <a:pPr/>
              <a:t>‹#›</a:t>
            </a:fld>
            <a:endParaRPr lang="en-US"/>
          </a:p>
        </p:txBody>
      </p:sp>
    </p:spTree>
    <p:extLst>
      <p:ext uri="{BB962C8B-B14F-4D97-AF65-F5344CB8AC3E}">
        <p14:creationId xmlns:p14="http://schemas.microsoft.com/office/powerpoint/2010/main" val="257466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5502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56641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4143036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7689842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BF2845-3CB2-43F9-AD12-E288733140EA}" type="datetimeFigureOut">
              <a:rPr lang="en-US" smtClean="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41441063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BF2845-3CB2-43F9-AD12-E288733140EA}" type="datetimeFigureOut">
              <a:rPr lang="en-US" smtClean="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999247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BF2845-3CB2-43F9-AD12-E288733140EA}" type="datetimeFigureOut">
              <a:rPr lang="en-US" smtClean="0"/>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460339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11920606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F2845-3CB2-43F9-AD12-E288733140EA}"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9969708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704342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BF2845-3CB2-43F9-AD12-E288733140EA}"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B6A6A5-8837-444D-81FE-D5B56551E0C0}" type="slidenum">
              <a:rPr lang="en-US" smtClean="0"/>
              <a:t>‹#›</a:t>
            </a:fld>
            <a:endParaRPr lang="en-US"/>
          </a:p>
        </p:txBody>
      </p:sp>
    </p:spTree>
    <p:extLst>
      <p:ext uri="{BB962C8B-B14F-4D97-AF65-F5344CB8AC3E}">
        <p14:creationId xmlns:p14="http://schemas.microsoft.com/office/powerpoint/2010/main" val="2656388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7D1925-E4E4-5130-DF30-D1D8CBA28D4C}"/>
              </a:ext>
            </a:extLst>
          </p:cNvPr>
          <p:cNvSpPr/>
          <p:nvPr userDrawn="1"/>
        </p:nvSpPr>
        <p:spPr>
          <a:xfrm>
            <a:off x="0" y="6520544"/>
            <a:ext cx="9144000" cy="37010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53261E0-7349-4E6E-BAAC-125C8AA3804D}"/>
              </a:ext>
            </a:extLst>
          </p:cNvPr>
          <p:cNvCxnSpPr/>
          <p:nvPr userDrawn="1"/>
        </p:nvCxnSpPr>
        <p:spPr>
          <a:xfrm>
            <a:off x="0" y="6509658"/>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423E1DF4-8221-4AB9-3A70-9F8C6BDBE8A6}"/>
              </a:ext>
            </a:extLst>
          </p:cNvPr>
          <p:cNvSpPr>
            <a:spLocks noGrp="1"/>
          </p:cNvSpPr>
          <p:nvPr>
            <p:ph type="sldNum" sz="quarter" idx="12"/>
          </p:nvPr>
        </p:nvSpPr>
        <p:spPr>
          <a:xfrm>
            <a:off x="7086600" y="6492875"/>
            <a:ext cx="2057400" cy="365125"/>
          </a:xfrm>
          <a:prstGeom prst="rect">
            <a:avLst/>
          </a:prstGeom>
        </p:spPr>
        <p:txBody>
          <a:bodyPr/>
          <a:lstStyle>
            <a:lvl1pPr algn="r">
              <a:defRPr sz="1800" b="1"/>
            </a:lvl1pPr>
          </a:lstStyle>
          <a:p>
            <a:fld id="{A8B6A6A5-8837-444D-81FE-D5B56551E0C0}" type="slidenum">
              <a:rPr lang="en-US" smtClean="0"/>
              <a:pPr/>
              <a:t>‹#›</a:t>
            </a:fld>
            <a:endParaRPr lang="en-US"/>
          </a:p>
        </p:txBody>
      </p:sp>
    </p:spTree>
    <p:extLst>
      <p:ext uri="{BB962C8B-B14F-4D97-AF65-F5344CB8AC3E}">
        <p14:creationId xmlns:p14="http://schemas.microsoft.com/office/powerpoint/2010/main" val="244930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28C4CDF-23F6-ED1B-9975-9C053E211ABD}"/>
              </a:ext>
            </a:extLst>
          </p:cNvPr>
          <p:cNvSpPr/>
          <p:nvPr userDrawn="1"/>
        </p:nvSpPr>
        <p:spPr>
          <a:xfrm>
            <a:off x="0" y="-1"/>
            <a:ext cx="9144000" cy="87085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Connector 8">
            <a:extLst>
              <a:ext uri="{FF2B5EF4-FFF2-40B4-BE49-F238E27FC236}">
                <a16:creationId xmlns:a16="http://schemas.microsoft.com/office/drawing/2014/main" id="{63F2B043-E9FE-130D-3875-9542D1558AC4}"/>
              </a:ext>
            </a:extLst>
          </p:cNvPr>
          <p:cNvCxnSpPr/>
          <p:nvPr userDrawn="1"/>
        </p:nvCxnSpPr>
        <p:spPr>
          <a:xfrm>
            <a:off x="0" y="870863"/>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pic>
        <p:nvPicPr>
          <p:cNvPr id="12" name="Picture 11" descr="A black background with a letter m&#10;&#10;Description automatically generated">
            <a:extLst>
              <a:ext uri="{FF2B5EF4-FFF2-40B4-BE49-F238E27FC236}">
                <a16:creationId xmlns:a16="http://schemas.microsoft.com/office/drawing/2014/main" id="{F61A8CCD-C2CB-EB95-31A4-5788B2F0EE74}"/>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7087" y="244175"/>
            <a:ext cx="1812923" cy="393401"/>
          </a:xfrm>
          <a:prstGeom prst="rect">
            <a:avLst/>
          </a:prstGeom>
        </p:spPr>
      </p:pic>
    </p:spTree>
    <p:extLst>
      <p:ext uri="{BB962C8B-B14F-4D97-AF65-F5344CB8AC3E}">
        <p14:creationId xmlns:p14="http://schemas.microsoft.com/office/powerpoint/2010/main" val="29091215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 id="2147483660"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7" name="Rectangle 6">
            <a:extLst>
              <a:ext uri="{FF2B5EF4-FFF2-40B4-BE49-F238E27FC236}">
                <a16:creationId xmlns:a16="http://schemas.microsoft.com/office/drawing/2014/main" id="{660224ED-D644-79DD-A490-A7DD13081433}"/>
              </a:ext>
            </a:extLst>
          </p:cNvPr>
          <p:cNvSpPr/>
          <p:nvPr userDrawn="1"/>
        </p:nvSpPr>
        <p:spPr>
          <a:xfrm>
            <a:off x="0" y="-1"/>
            <a:ext cx="9144000" cy="870859"/>
          </a:xfrm>
          <a:prstGeom prst="rect">
            <a:avLst/>
          </a:prstGeom>
          <a:gradFill flip="none" rotWithShape="1">
            <a:gsLst>
              <a:gs pos="0">
                <a:schemeClr val="bg1"/>
              </a:gs>
              <a:gs pos="100000">
                <a:srgbClr val="48604A">
                  <a:alpha val="2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8" name="Straight Connector 7">
            <a:extLst>
              <a:ext uri="{FF2B5EF4-FFF2-40B4-BE49-F238E27FC236}">
                <a16:creationId xmlns:a16="http://schemas.microsoft.com/office/drawing/2014/main" id="{CE2445DA-5061-8F27-76C5-7A1B0605226E}"/>
              </a:ext>
            </a:extLst>
          </p:cNvPr>
          <p:cNvCxnSpPr/>
          <p:nvPr userDrawn="1"/>
        </p:nvCxnSpPr>
        <p:spPr>
          <a:xfrm>
            <a:off x="0" y="870863"/>
            <a:ext cx="9144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pic>
        <p:nvPicPr>
          <p:cNvPr id="9" name="Picture 8" descr="A black background with a letter m&#10;&#10;Description automatically generated">
            <a:extLst>
              <a:ext uri="{FF2B5EF4-FFF2-40B4-BE49-F238E27FC236}">
                <a16:creationId xmlns:a16="http://schemas.microsoft.com/office/drawing/2014/main" id="{A46F27AF-4357-0C97-C4E6-DC8538977EB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7087" y="244175"/>
            <a:ext cx="1812923" cy="393401"/>
          </a:xfrm>
          <a:prstGeom prst="rect">
            <a:avLst/>
          </a:prstGeom>
        </p:spPr>
      </p:pic>
    </p:spTree>
    <p:extLst>
      <p:ext uri="{BB962C8B-B14F-4D97-AF65-F5344CB8AC3E}">
        <p14:creationId xmlns:p14="http://schemas.microsoft.com/office/powerpoint/2010/main" val="210840932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6.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26.xml"/><Relationship Id="rId5" Type="http://schemas.openxmlformats.org/officeDocument/2006/relationships/image" Target="../media/image10.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jpe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6.xml"/><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1.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1.xml"/><Relationship Id="rId5" Type="http://schemas.openxmlformats.org/officeDocument/2006/relationships/image" Target="../media/image4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324B71-977C-80A3-6007-CE491CE6C78C}"/>
              </a:ext>
            </a:extLst>
          </p:cNvPr>
          <p:cNvSpPr txBox="1"/>
          <p:nvPr/>
        </p:nvSpPr>
        <p:spPr>
          <a:xfrm>
            <a:off x="165383" y="5273055"/>
            <a:ext cx="5794741" cy="1077218"/>
          </a:xfrm>
          <a:prstGeom prst="rect">
            <a:avLst/>
          </a:prstGeom>
          <a:noFill/>
        </p:spPr>
        <p:txBody>
          <a:bodyPr wrap="square" rtlCol="0" anchor="ctr">
            <a:spAutoFit/>
          </a:bodyPr>
          <a:lstStyle/>
          <a:p>
            <a:r>
              <a:rPr lang="en-US" sz="4000" b="1" i="1" cap="small" baseline="0" dirty="0">
                <a:latin typeface="+mn-lt"/>
              </a:rPr>
              <a:t>Intro</a:t>
            </a:r>
            <a:r>
              <a:rPr lang="en-US" sz="4000" b="1" i="1" cap="small" dirty="0"/>
              <a:t> Meeting</a:t>
            </a:r>
            <a:endParaRPr lang="en-US" sz="4000" b="1" i="1" cap="small" baseline="0" dirty="0">
              <a:latin typeface="+mn-lt"/>
            </a:endParaRPr>
          </a:p>
          <a:p>
            <a:r>
              <a:rPr lang="en-US" sz="2400" b="1" i="1" cap="small" dirty="0"/>
              <a:t>September 4</a:t>
            </a:r>
            <a:r>
              <a:rPr lang="en-US" sz="2400" b="1" i="1" cap="small" baseline="30000" dirty="0"/>
              <a:t>th</a:t>
            </a:r>
            <a:r>
              <a:rPr lang="en-US" sz="2400" b="1" i="1" cap="small" dirty="0"/>
              <a:t>, 2025</a:t>
            </a:r>
            <a:endParaRPr lang="en-US" sz="2000" b="1" i="1" cap="small" baseline="0" dirty="0">
              <a:latin typeface="+mn-lt"/>
            </a:endParaRPr>
          </a:p>
        </p:txBody>
      </p:sp>
      <p:pic>
        <p:nvPicPr>
          <p:cNvPr id="3" name="Picture 2" descr="A black background with a letter m&#10;&#10;Description automatically generated">
            <a:extLst>
              <a:ext uri="{FF2B5EF4-FFF2-40B4-BE49-F238E27FC236}">
                <a16:creationId xmlns:a16="http://schemas.microsoft.com/office/drawing/2014/main" id="{14EF3CCB-D5CE-5F68-B10F-6E6F27F01D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5298" y="5482376"/>
            <a:ext cx="2813318" cy="610485"/>
          </a:xfrm>
          <a:prstGeom prst="rect">
            <a:avLst/>
          </a:prstGeom>
        </p:spPr>
      </p:pic>
      <p:pic>
        <p:nvPicPr>
          <p:cNvPr id="6" name="Picture 5" descr="A qr code with circles and squares&#10;&#10;AI-generated content may be incorrect.">
            <a:extLst>
              <a:ext uri="{FF2B5EF4-FFF2-40B4-BE49-F238E27FC236}">
                <a16:creationId xmlns:a16="http://schemas.microsoft.com/office/drawing/2014/main" id="{464305D3-1D08-4A21-04C6-0B32646CC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023" y="326572"/>
            <a:ext cx="1816748" cy="1816748"/>
          </a:xfrm>
          <a:prstGeom prst="rect">
            <a:avLst/>
          </a:prstGeom>
        </p:spPr>
      </p:pic>
    </p:spTree>
    <p:extLst>
      <p:ext uri="{BB962C8B-B14F-4D97-AF65-F5344CB8AC3E}">
        <p14:creationId xmlns:p14="http://schemas.microsoft.com/office/powerpoint/2010/main" val="312803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2E260-CD83-031D-022A-791FBD0663E6}"/>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Agenda</a:t>
            </a:r>
          </a:p>
        </p:txBody>
      </p:sp>
      <p:sp>
        <p:nvSpPr>
          <p:cNvPr id="3" name="TextBox 2">
            <a:extLst>
              <a:ext uri="{FF2B5EF4-FFF2-40B4-BE49-F238E27FC236}">
                <a16:creationId xmlns:a16="http://schemas.microsoft.com/office/drawing/2014/main" id="{EE622B6C-CDA8-5EE7-D320-F27B87940DBD}"/>
              </a:ext>
            </a:extLst>
          </p:cNvPr>
          <p:cNvSpPr txBox="1"/>
          <p:nvPr/>
        </p:nvSpPr>
        <p:spPr>
          <a:xfrm>
            <a:off x="2152650" y="1582340"/>
            <a:ext cx="4838700" cy="3277820"/>
          </a:xfrm>
          <a:prstGeom prst="rect">
            <a:avLst/>
          </a:prstGeom>
          <a:noFill/>
        </p:spPr>
        <p:txBody>
          <a:bodyPr wrap="square" rtlCol="0">
            <a:spAutoFit/>
          </a:bodyPr>
          <a:lstStyle/>
          <a:p>
            <a:pPr marL="400050" indent="-400050">
              <a:lnSpc>
                <a:spcPct val="150000"/>
              </a:lnSpc>
              <a:buFont typeface="+mj-lt"/>
              <a:buAutoNum type="romanUcPeriod"/>
            </a:pPr>
            <a:r>
              <a:rPr lang="en-US" b="1" i="1" cap="small" dirty="0"/>
              <a:t>Executive Board Introductions</a:t>
            </a:r>
          </a:p>
          <a:p>
            <a:pPr marL="400050" indent="-400050">
              <a:lnSpc>
                <a:spcPct val="150000"/>
              </a:lnSpc>
              <a:buFont typeface="+mj-lt"/>
              <a:buAutoNum type="romanUcPeriod"/>
            </a:pPr>
            <a:r>
              <a:rPr lang="en-US" b="1" i="1" cap="small" dirty="0"/>
              <a:t>AIG Expectations </a:t>
            </a:r>
          </a:p>
          <a:p>
            <a:pPr marL="400050" indent="-400050">
              <a:lnSpc>
                <a:spcPct val="150000"/>
              </a:lnSpc>
              <a:buFont typeface="+mj-lt"/>
              <a:buAutoNum type="romanUcPeriod"/>
            </a:pPr>
            <a:r>
              <a:rPr lang="en-US" b="1" i="1" cap="small" dirty="0"/>
              <a:t>Overview of Asset Classes</a:t>
            </a:r>
          </a:p>
          <a:p>
            <a:pPr marL="400050" indent="-400050">
              <a:lnSpc>
                <a:spcPct val="150000"/>
              </a:lnSpc>
              <a:buFont typeface="+mj-lt"/>
              <a:buAutoNum type="romanUcPeriod"/>
            </a:pPr>
            <a:r>
              <a:rPr lang="en-US" b="1" i="1" cap="small" dirty="0"/>
              <a:t>Leadership and Engagement Opportunities</a:t>
            </a:r>
          </a:p>
          <a:p>
            <a:pPr marL="400050" indent="-400050">
              <a:lnSpc>
                <a:spcPct val="150000"/>
              </a:lnSpc>
              <a:buFont typeface="+mj-lt"/>
              <a:buAutoNum type="romanUcPeriod"/>
            </a:pPr>
            <a:r>
              <a:rPr lang="en-US" b="1" i="1" cap="small" dirty="0"/>
              <a:t>Events Timeline</a:t>
            </a:r>
          </a:p>
          <a:p>
            <a:pPr marL="400050" indent="-400050">
              <a:lnSpc>
                <a:spcPct val="150000"/>
              </a:lnSpc>
              <a:buFont typeface="+mj-lt"/>
              <a:buAutoNum type="romanUcPeriod"/>
            </a:pPr>
            <a:r>
              <a:rPr lang="en-US" b="1" i="1" cap="small" dirty="0"/>
              <a:t>Paid Membership</a:t>
            </a:r>
          </a:p>
          <a:p>
            <a:pPr marL="400050" indent="-400050">
              <a:lnSpc>
                <a:spcPct val="150000"/>
              </a:lnSpc>
              <a:buFont typeface="+mj-lt"/>
              <a:buAutoNum type="romanUcPeriod"/>
            </a:pPr>
            <a:r>
              <a:rPr lang="en-US" b="1" i="1" cap="small" dirty="0"/>
              <a:t>Q+A Period</a:t>
            </a:r>
          </a:p>
          <a:p>
            <a:endParaRPr lang="en-US" i="1" cap="small" dirty="0"/>
          </a:p>
        </p:txBody>
      </p:sp>
    </p:spTree>
    <p:extLst>
      <p:ext uri="{BB962C8B-B14F-4D97-AF65-F5344CB8AC3E}">
        <p14:creationId xmlns:p14="http://schemas.microsoft.com/office/powerpoint/2010/main" val="3360675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370BCC-FFA7-C508-84B9-8A47A11AB287}"/>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Executive Board Introductions</a:t>
            </a:r>
          </a:p>
        </p:txBody>
      </p:sp>
      <p:sp>
        <p:nvSpPr>
          <p:cNvPr id="7" name="Rectangle: Rounded Corners 6">
            <a:extLst>
              <a:ext uri="{FF2B5EF4-FFF2-40B4-BE49-F238E27FC236}">
                <a16:creationId xmlns:a16="http://schemas.microsoft.com/office/drawing/2014/main" id="{271A5C18-99A5-5419-C8B7-4B4E61ED0BEC}"/>
              </a:ext>
            </a:extLst>
          </p:cNvPr>
          <p:cNvSpPr/>
          <p:nvPr/>
        </p:nvSpPr>
        <p:spPr>
          <a:xfrm>
            <a:off x="2203373" y="1648859"/>
            <a:ext cx="6632155" cy="429657"/>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cap="small" dirty="0"/>
              <a:t>Matt Walper</a:t>
            </a:r>
          </a:p>
        </p:txBody>
      </p:sp>
      <p:sp>
        <p:nvSpPr>
          <p:cNvPr id="8" name="Rectangle: Rounded Corners 7">
            <a:extLst>
              <a:ext uri="{FF2B5EF4-FFF2-40B4-BE49-F238E27FC236}">
                <a16:creationId xmlns:a16="http://schemas.microsoft.com/office/drawing/2014/main" id="{4810CFE0-489F-B5FB-8704-A6291A3DEE82}"/>
              </a:ext>
            </a:extLst>
          </p:cNvPr>
          <p:cNvSpPr/>
          <p:nvPr/>
        </p:nvSpPr>
        <p:spPr>
          <a:xfrm>
            <a:off x="2203373" y="3933034"/>
            <a:ext cx="6632155" cy="42976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cap="small" dirty="0"/>
              <a:t>Lilia </a:t>
            </a:r>
            <a:r>
              <a:rPr lang="en-US" sz="2000" b="1" cap="small" dirty="0" err="1"/>
              <a:t>Laraki</a:t>
            </a:r>
            <a:endParaRPr lang="en-US" sz="2000" b="1" cap="small" dirty="0"/>
          </a:p>
        </p:txBody>
      </p:sp>
      <p:sp>
        <p:nvSpPr>
          <p:cNvPr id="10" name="TextBox 9">
            <a:extLst>
              <a:ext uri="{FF2B5EF4-FFF2-40B4-BE49-F238E27FC236}">
                <a16:creationId xmlns:a16="http://schemas.microsoft.com/office/drawing/2014/main" id="{65234D7A-D831-BE37-9149-20337B8BFDD9}"/>
              </a:ext>
            </a:extLst>
          </p:cNvPr>
          <p:cNvSpPr txBox="1"/>
          <p:nvPr/>
        </p:nvSpPr>
        <p:spPr>
          <a:xfrm>
            <a:off x="2203372" y="2116697"/>
            <a:ext cx="6632155" cy="1169551"/>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400" b="1" i="1" cap="small" dirty="0"/>
              <a:t>Matt is a Junior, majoring in Finance with a minor in Real Estate, who interned at Rockbridge Growth Equity this past summer </a:t>
            </a:r>
            <a:endParaRPr lang="en-US" sz="1400" b="1" i="1" cap="small" dirty="0">
              <a:ea typeface="Calibri"/>
              <a:cs typeface="Calibri"/>
            </a:endParaRPr>
          </a:p>
          <a:p>
            <a:pPr marL="285750" indent="-285750" algn="just">
              <a:buFont typeface="Arial" panose="020B0604020202020204" pitchFamily="34" charset="0"/>
              <a:buChar char="•"/>
            </a:pPr>
            <a:r>
              <a:rPr lang="en-US" sz="1400" b="1" i="1" cap="small" dirty="0">
                <a:ea typeface="Calibri"/>
                <a:cs typeface="Calibri"/>
              </a:rPr>
              <a:t>On campus, Matt is involved in FMI, FA, GWF, and IM football/basketball/volleyball </a:t>
            </a:r>
          </a:p>
          <a:p>
            <a:pPr marL="285750" indent="-285750" algn="just">
              <a:buFont typeface="Arial" panose="020B0604020202020204" pitchFamily="34" charset="0"/>
              <a:buChar char="•"/>
            </a:pPr>
            <a:r>
              <a:rPr lang="en-US" sz="1400" b="1" i="1" cap="small" dirty="0">
                <a:ea typeface="Calibri"/>
                <a:cs typeface="Calibri"/>
              </a:rPr>
              <a:t>Next summer, Matt will be at Stout as an Investment Banking Summer Analyst in their Chicago office</a:t>
            </a:r>
          </a:p>
        </p:txBody>
      </p:sp>
      <p:sp>
        <p:nvSpPr>
          <p:cNvPr id="11" name="TextBox 10">
            <a:extLst>
              <a:ext uri="{FF2B5EF4-FFF2-40B4-BE49-F238E27FC236}">
                <a16:creationId xmlns:a16="http://schemas.microsoft.com/office/drawing/2014/main" id="{CDA13FD3-88CE-CC84-1C3A-7AC75401EB81}"/>
              </a:ext>
            </a:extLst>
          </p:cNvPr>
          <p:cNvSpPr txBox="1"/>
          <p:nvPr/>
        </p:nvSpPr>
        <p:spPr>
          <a:xfrm>
            <a:off x="2203372" y="4400984"/>
            <a:ext cx="6632155" cy="138499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i="1" cap="small" dirty="0"/>
              <a:t>Lilia is a Junior, double majoring in Finance and Economics with a minor in data analytics, who previously interned at </a:t>
            </a:r>
            <a:r>
              <a:rPr lang="en-US" sz="1400" b="1" i="1" cap="small" dirty="0" err="1"/>
              <a:t>Attijariwafa</a:t>
            </a:r>
            <a:r>
              <a:rPr lang="en-US" sz="1400" b="1" i="1" cap="small" dirty="0"/>
              <a:t> Bank Europe </a:t>
            </a:r>
          </a:p>
          <a:p>
            <a:pPr marL="285750" indent="-285750">
              <a:buFont typeface="Arial" panose="020B0604020202020204" pitchFamily="34" charset="0"/>
              <a:buChar char="•"/>
            </a:pPr>
            <a:r>
              <a:rPr lang="en-US" sz="1400" b="1" i="1" cap="small" dirty="0"/>
              <a:t>On campus, Lilia is involved in STG, a TA for FI 491, and is one of the co-founder of WF</a:t>
            </a:r>
            <a:endParaRPr lang="en-US" sz="1400" b="1" i="1" cap="small" dirty="0">
              <a:ea typeface="Calibri"/>
              <a:cs typeface="Calibri"/>
            </a:endParaRPr>
          </a:p>
          <a:p>
            <a:pPr marL="285750" indent="-285750">
              <a:buFont typeface="Arial" panose="020B0604020202020204" pitchFamily="34" charset="0"/>
              <a:buChar char="•"/>
            </a:pPr>
            <a:r>
              <a:rPr lang="en-US" sz="1400" b="1" i="1" cap="small" dirty="0"/>
              <a:t>Next summer, Lilia will be at Goldman Sachs within their Sales and Trading Division in New York City</a:t>
            </a:r>
            <a:endParaRPr lang="en-US" sz="1400" b="1" i="1" cap="small" dirty="0">
              <a:ea typeface="Calibri"/>
              <a:cs typeface="Calibri"/>
            </a:endParaRPr>
          </a:p>
        </p:txBody>
      </p:sp>
      <p:sp>
        <p:nvSpPr>
          <p:cNvPr id="14" name="TextBox 13">
            <a:extLst>
              <a:ext uri="{FF2B5EF4-FFF2-40B4-BE49-F238E27FC236}">
                <a16:creationId xmlns:a16="http://schemas.microsoft.com/office/drawing/2014/main" id="{214A970D-99E3-0C4B-1FD7-A94B25C2FC58}"/>
              </a:ext>
            </a:extLst>
          </p:cNvPr>
          <p:cNvSpPr txBox="1"/>
          <p:nvPr/>
        </p:nvSpPr>
        <p:spPr>
          <a:xfrm>
            <a:off x="4968607" y="1674215"/>
            <a:ext cx="3866920" cy="404300"/>
          </a:xfrm>
          <a:prstGeom prst="rect">
            <a:avLst/>
          </a:prstGeom>
          <a:noFill/>
        </p:spPr>
        <p:txBody>
          <a:bodyPr wrap="square">
            <a:spAutoFit/>
          </a:bodyPr>
          <a:lstStyle/>
          <a:p>
            <a:pPr algn="r"/>
            <a:r>
              <a:rPr lang="en-US" sz="2000" b="1" i="1" cap="small" dirty="0">
                <a:solidFill>
                  <a:schemeClr val="bg1"/>
                </a:solidFill>
              </a:rPr>
              <a:t>E-Board</a:t>
            </a:r>
          </a:p>
        </p:txBody>
      </p:sp>
      <p:sp>
        <p:nvSpPr>
          <p:cNvPr id="15" name="TextBox 14">
            <a:extLst>
              <a:ext uri="{FF2B5EF4-FFF2-40B4-BE49-F238E27FC236}">
                <a16:creationId xmlns:a16="http://schemas.microsoft.com/office/drawing/2014/main" id="{7D26E763-91CE-B623-A586-5733C0742D58}"/>
              </a:ext>
            </a:extLst>
          </p:cNvPr>
          <p:cNvSpPr txBox="1"/>
          <p:nvPr/>
        </p:nvSpPr>
        <p:spPr>
          <a:xfrm>
            <a:off x="4968607" y="3945768"/>
            <a:ext cx="3866920" cy="404300"/>
          </a:xfrm>
          <a:prstGeom prst="rect">
            <a:avLst/>
          </a:prstGeom>
          <a:noFill/>
        </p:spPr>
        <p:txBody>
          <a:bodyPr wrap="square">
            <a:spAutoFit/>
          </a:bodyPr>
          <a:lstStyle/>
          <a:p>
            <a:pPr algn="r"/>
            <a:r>
              <a:rPr lang="en-US" sz="2000" b="1" i="1" cap="small" dirty="0">
                <a:solidFill>
                  <a:schemeClr val="bg1"/>
                </a:solidFill>
              </a:rPr>
              <a:t>E-Board</a:t>
            </a:r>
          </a:p>
        </p:txBody>
      </p:sp>
      <p:pic>
        <p:nvPicPr>
          <p:cNvPr id="1026" name="Picture 2" descr="Matthew Walper">
            <a:extLst>
              <a:ext uri="{FF2B5EF4-FFF2-40B4-BE49-F238E27FC236}">
                <a16:creationId xmlns:a16="http://schemas.microsoft.com/office/drawing/2014/main" id="{CB5F3F85-932D-7F62-EFE9-E077CABC1A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72" y="1674215"/>
            <a:ext cx="1673352" cy="1673352"/>
          </a:xfrm>
          <a:prstGeom prst="roundRect">
            <a:avLst/>
          </a:prstGeom>
          <a:noFill/>
          <a:effectLst/>
          <a:extLst>
            <a:ext uri="{909E8E84-426E-40DD-AFC4-6F175D3DCCD1}">
              <a14:hiddenFill xmlns:a14="http://schemas.microsoft.com/office/drawing/2010/main">
                <a:solidFill>
                  <a:srgbClr val="FFFFFF"/>
                </a:solidFill>
              </a14:hiddenFill>
            </a:ext>
          </a:extLst>
        </p:spPr>
      </p:pic>
      <p:pic>
        <p:nvPicPr>
          <p:cNvPr id="1028" name="Picture 4" descr="Lilia Laraki">
            <a:extLst>
              <a:ext uri="{FF2B5EF4-FFF2-40B4-BE49-F238E27FC236}">
                <a16:creationId xmlns:a16="http://schemas.microsoft.com/office/drawing/2014/main" id="{98447BE7-9E51-64B5-D419-BA24DB246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472" y="3933034"/>
            <a:ext cx="1673352" cy="1673352"/>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586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370BCC-FFA7-C508-84B9-8A47A11AB287}"/>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Executive Board Introductions</a:t>
            </a:r>
          </a:p>
        </p:txBody>
      </p:sp>
      <p:sp>
        <p:nvSpPr>
          <p:cNvPr id="8" name="Rectangle: Rounded Corners 7">
            <a:extLst>
              <a:ext uri="{FF2B5EF4-FFF2-40B4-BE49-F238E27FC236}">
                <a16:creationId xmlns:a16="http://schemas.microsoft.com/office/drawing/2014/main" id="{4810CFE0-489F-B5FB-8704-A6291A3DEE82}"/>
              </a:ext>
            </a:extLst>
          </p:cNvPr>
          <p:cNvSpPr/>
          <p:nvPr/>
        </p:nvSpPr>
        <p:spPr>
          <a:xfrm>
            <a:off x="2203373" y="3925494"/>
            <a:ext cx="6632155" cy="42976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cap="small" dirty="0">
                <a:ea typeface="Calibri"/>
                <a:cs typeface="Calibri"/>
              </a:rPr>
              <a:t>Sid </a:t>
            </a:r>
            <a:r>
              <a:rPr lang="en-US" sz="2000" b="1" cap="small" dirty="0" err="1">
                <a:ea typeface="Calibri"/>
                <a:cs typeface="Calibri"/>
              </a:rPr>
              <a:t>Akkala</a:t>
            </a:r>
            <a:endParaRPr lang="en-US" sz="2000" b="1" cap="small" dirty="0">
              <a:ea typeface="Calibri"/>
              <a:cs typeface="Calibri"/>
            </a:endParaRPr>
          </a:p>
        </p:txBody>
      </p:sp>
      <p:sp>
        <p:nvSpPr>
          <p:cNvPr id="11" name="TextBox 10">
            <a:extLst>
              <a:ext uri="{FF2B5EF4-FFF2-40B4-BE49-F238E27FC236}">
                <a16:creationId xmlns:a16="http://schemas.microsoft.com/office/drawing/2014/main" id="{CDA13FD3-88CE-CC84-1C3A-7AC75401EB81}"/>
              </a:ext>
            </a:extLst>
          </p:cNvPr>
          <p:cNvSpPr txBox="1"/>
          <p:nvPr/>
        </p:nvSpPr>
        <p:spPr>
          <a:xfrm>
            <a:off x="2203372" y="4393444"/>
            <a:ext cx="6632155" cy="116955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i="1" cap="small" dirty="0">
                <a:cs typeface="Calibri"/>
              </a:rPr>
              <a:t>Sid is a junior, double majoring in Finance and Economics with a minor in CMSE. He previously interned at the investment bank </a:t>
            </a:r>
            <a:r>
              <a:rPr lang="en-US" sz="1400" b="1" i="1" cap="small" dirty="0" err="1">
                <a:cs typeface="Calibri"/>
              </a:rPr>
              <a:t>SellSide</a:t>
            </a:r>
            <a:r>
              <a:rPr lang="en-US" sz="1400" b="1" i="1" cap="small" dirty="0">
                <a:cs typeface="Calibri"/>
              </a:rPr>
              <a:t> Group and has venture capital experience at Exit Quotient Ventures</a:t>
            </a:r>
          </a:p>
          <a:p>
            <a:pPr marL="285750" indent="-285750">
              <a:buFont typeface="Arial" panose="020B0604020202020204" pitchFamily="34" charset="0"/>
              <a:buChar char="•"/>
            </a:pPr>
            <a:r>
              <a:rPr lang="en-US" sz="1400" b="1" i="1" cap="small" dirty="0">
                <a:cs typeface="Calibri"/>
              </a:rPr>
              <a:t>On campus, Sid is involved with FMI, Broad Student Senate, and MRG</a:t>
            </a:r>
            <a:endParaRPr lang="en-US" sz="1400" b="1" i="1" cap="small" dirty="0">
              <a:ea typeface="Calibri"/>
              <a:cs typeface="Calibri"/>
            </a:endParaRPr>
          </a:p>
          <a:p>
            <a:pPr marL="285750" indent="-285750">
              <a:buFont typeface="Arial" panose="020B0604020202020204" pitchFamily="34" charset="0"/>
              <a:buChar char="•"/>
            </a:pPr>
            <a:r>
              <a:rPr lang="en-US" sz="1400" b="1" i="1" cap="small" dirty="0">
                <a:cs typeface="Calibri"/>
              </a:rPr>
              <a:t>Next summer, Sid hopes to work in private equity Secondaries</a:t>
            </a:r>
          </a:p>
        </p:txBody>
      </p:sp>
      <p:sp>
        <p:nvSpPr>
          <p:cNvPr id="15" name="TextBox 14">
            <a:extLst>
              <a:ext uri="{FF2B5EF4-FFF2-40B4-BE49-F238E27FC236}">
                <a16:creationId xmlns:a16="http://schemas.microsoft.com/office/drawing/2014/main" id="{7D26E763-91CE-B623-A586-5733C0742D58}"/>
              </a:ext>
            </a:extLst>
          </p:cNvPr>
          <p:cNvSpPr txBox="1"/>
          <p:nvPr/>
        </p:nvSpPr>
        <p:spPr>
          <a:xfrm>
            <a:off x="4968607" y="3938228"/>
            <a:ext cx="3866920" cy="400110"/>
          </a:xfrm>
          <a:prstGeom prst="rect">
            <a:avLst/>
          </a:prstGeom>
          <a:noFill/>
        </p:spPr>
        <p:txBody>
          <a:bodyPr wrap="square" lIns="91440" tIns="45720" rIns="91440" bIns="45720" anchor="t">
            <a:spAutoFit/>
          </a:bodyPr>
          <a:lstStyle/>
          <a:p>
            <a:pPr algn="r"/>
            <a:r>
              <a:rPr lang="en-US" sz="2000" b="1" i="1" cap="small" dirty="0">
                <a:solidFill>
                  <a:schemeClr val="bg1"/>
                </a:solidFill>
              </a:rPr>
              <a:t>E-Board</a:t>
            </a:r>
          </a:p>
        </p:txBody>
      </p:sp>
      <p:pic>
        <p:nvPicPr>
          <p:cNvPr id="17" name="Picture 16" descr="A person in a suit smiling&#10;&#10;Description automatically generated">
            <a:extLst>
              <a:ext uri="{FF2B5EF4-FFF2-40B4-BE49-F238E27FC236}">
                <a16:creationId xmlns:a16="http://schemas.microsoft.com/office/drawing/2014/main" id="{5B7A3745-19A8-64FC-A026-5846C658FCF7}"/>
              </a:ext>
            </a:extLst>
          </p:cNvPr>
          <p:cNvPicPr>
            <a:picLocks noChangeAspect="1"/>
          </p:cNvPicPr>
          <p:nvPr/>
        </p:nvPicPr>
        <p:blipFill>
          <a:blip r:embed="rId2"/>
          <a:srcRect/>
          <a:stretch>
            <a:fillRect/>
          </a:stretch>
        </p:blipFill>
        <p:spPr>
          <a:xfrm>
            <a:off x="274660" y="3938693"/>
            <a:ext cx="1668439" cy="1668439"/>
          </a:xfrm>
          <a:prstGeom prst="roundRect">
            <a:avLst/>
          </a:prstGeom>
        </p:spPr>
      </p:pic>
      <p:pic>
        <p:nvPicPr>
          <p:cNvPr id="2050" name="Picture 2" descr="Profile photo of Sid Akkala">
            <a:extLst>
              <a:ext uri="{FF2B5EF4-FFF2-40B4-BE49-F238E27FC236}">
                <a16:creationId xmlns:a16="http://schemas.microsoft.com/office/drawing/2014/main" id="{8FEF2B35-FE6A-7694-1A3E-8676A4554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064" y="3933780"/>
            <a:ext cx="1673352" cy="1673352"/>
          </a:xfrm>
          <a:prstGeom prst="round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AAA92962-A698-104D-A5C5-60D729112979}"/>
              </a:ext>
            </a:extLst>
          </p:cNvPr>
          <p:cNvSpPr/>
          <p:nvPr/>
        </p:nvSpPr>
        <p:spPr>
          <a:xfrm>
            <a:off x="2203373" y="1653822"/>
            <a:ext cx="6632155" cy="42976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cap="small" dirty="0">
                <a:cs typeface="Calibri"/>
              </a:rPr>
              <a:t>Adam Robinson</a:t>
            </a:r>
            <a:endParaRPr lang="en-US" dirty="0"/>
          </a:p>
        </p:txBody>
      </p:sp>
      <p:sp>
        <p:nvSpPr>
          <p:cNvPr id="4" name="TextBox 3">
            <a:extLst>
              <a:ext uri="{FF2B5EF4-FFF2-40B4-BE49-F238E27FC236}">
                <a16:creationId xmlns:a16="http://schemas.microsoft.com/office/drawing/2014/main" id="{AC31AF75-EFAB-F414-45CD-C95466221DB3}"/>
              </a:ext>
            </a:extLst>
          </p:cNvPr>
          <p:cNvSpPr txBox="1"/>
          <p:nvPr/>
        </p:nvSpPr>
        <p:spPr>
          <a:xfrm>
            <a:off x="4968607" y="1657036"/>
            <a:ext cx="3866920" cy="404300"/>
          </a:xfrm>
          <a:prstGeom prst="rect">
            <a:avLst/>
          </a:prstGeom>
          <a:noFill/>
        </p:spPr>
        <p:txBody>
          <a:bodyPr wrap="square">
            <a:spAutoFit/>
          </a:bodyPr>
          <a:lstStyle/>
          <a:p>
            <a:pPr algn="r"/>
            <a:r>
              <a:rPr lang="en-US" sz="2000" b="1" i="1" cap="small" dirty="0">
                <a:solidFill>
                  <a:schemeClr val="bg1"/>
                </a:solidFill>
              </a:rPr>
              <a:t>E-Board</a:t>
            </a:r>
          </a:p>
        </p:txBody>
      </p:sp>
      <p:sp>
        <p:nvSpPr>
          <p:cNvPr id="5" name="TextBox 4">
            <a:extLst>
              <a:ext uri="{FF2B5EF4-FFF2-40B4-BE49-F238E27FC236}">
                <a16:creationId xmlns:a16="http://schemas.microsoft.com/office/drawing/2014/main" id="{79FCE7DC-B656-CD4E-EBBF-586B0CA941EA}"/>
              </a:ext>
            </a:extLst>
          </p:cNvPr>
          <p:cNvSpPr txBox="1"/>
          <p:nvPr/>
        </p:nvSpPr>
        <p:spPr>
          <a:xfrm>
            <a:off x="2203373" y="2121771"/>
            <a:ext cx="6632155" cy="138499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i="1" cap="small" dirty="0">
                <a:ea typeface="Calibri"/>
                <a:cs typeface="Calibri"/>
              </a:rPr>
              <a:t>Adam</a:t>
            </a:r>
            <a:r>
              <a:rPr lang="en-US" sz="1400" b="1" i="1" cap="small" dirty="0">
                <a:ea typeface="+mn-lt"/>
                <a:cs typeface="+mn-lt"/>
              </a:rPr>
              <a:t> is a junior, double majoring in Finance and Biochemistry, who previously interned at </a:t>
            </a:r>
            <a:r>
              <a:rPr lang="en-US" sz="1400" b="1" i="1" cap="small" dirty="0" err="1">
                <a:ea typeface="+mn-lt"/>
                <a:cs typeface="+mn-lt"/>
              </a:rPr>
              <a:t>Resurgens</a:t>
            </a:r>
            <a:r>
              <a:rPr lang="en-US" sz="1400" b="1" i="1" cap="small" dirty="0">
                <a:ea typeface="+mn-lt"/>
                <a:cs typeface="+mn-lt"/>
              </a:rPr>
              <a:t> Technology Partners and Cascade Partners</a:t>
            </a:r>
            <a:endParaRPr lang="en-US" sz="1400" b="1" i="1" cap="small" dirty="0">
              <a:ea typeface="Cambria"/>
              <a:cs typeface="Arial"/>
            </a:endParaRPr>
          </a:p>
          <a:p>
            <a:pPr marL="285750" indent="-285750">
              <a:buFont typeface="Arial" panose="020B0604020202020204" pitchFamily="34" charset="0"/>
              <a:buChar char="•"/>
            </a:pPr>
            <a:r>
              <a:rPr lang="en-US" sz="1400" b="1" i="1" cap="small" dirty="0">
                <a:ea typeface="+mn-lt"/>
                <a:cs typeface="+mn-lt"/>
              </a:rPr>
              <a:t>On campus, Adam is involved in FMI, </a:t>
            </a:r>
            <a:r>
              <a:rPr lang="en-US" sz="1400" b="1" i="1" cap="small" dirty="0" err="1">
                <a:ea typeface="+mn-lt"/>
                <a:cs typeface="+mn-lt"/>
              </a:rPr>
              <a:t>PE@Broad</a:t>
            </a:r>
            <a:r>
              <a:rPr lang="en-US" sz="1400" b="1" i="1" cap="small" dirty="0">
                <a:ea typeface="+mn-lt"/>
                <a:cs typeface="+mn-lt"/>
              </a:rPr>
              <a:t>, MSU Burgess Institute for Entrepreneurship &amp; Innovation, Waterski Club, and IM Soccer</a:t>
            </a:r>
          </a:p>
          <a:p>
            <a:pPr marL="285750" indent="-285750">
              <a:buFont typeface="Arial" panose="020B0604020202020204" pitchFamily="34" charset="0"/>
              <a:buChar char="•"/>
            </a:pPr>
            <a:r>
              <a:rPr lang="en-US" sz="1400" b="1" i="1" cap="small" dirty="0">
                <a:ea typeface="Calibri"/>
                <a:cs typeface="Calibri"/>
              </a:rPr>
              <a:t>Next summer, Adam will be at Houlihan Lokey as a Healthcare Investment Banking Summer Analyst in their Chicago office</a:t>
            </a:r>
          </a:p>
        </p:txBody>
      </p:sp>
      <p:pic>
        <p:nvPicPr>
          <p:cNvPr id="6" name="Picture 6" descr="Profile photo of Adam Robinson">
            <a:extLst>
              <a:ext uri="{FF2B5EF4-FFF2-40B4-BE49-F238E27FC236}">
                <a16:creationId xmlns:a16="http://schemas.microsoft.com/office/drawing/2014/main" id="{DEB9CE21-F396-BC1A-36E6-E2030CD310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72" y="1653822"/>
            <a:ext cx="1673352" cy="1673352"/>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072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7E75C1-F1C0-4064-6C95-DA55D8D201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B0CB0A-3893-FCF8-6038-6E07D8BE9DB2}"/>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Executive Board Introductions</a:t>
            </a:r>
          </a:p>
        </p:txBody>
      </p:sp>
      <p:sp>
        <p:nvSpPr>
          <p:cNvPr id="7" name="Rectangle: Rounded Corners 6">
            <a:extLst>
              <a:ext uri="{FF2B5EF4-FFF2-40B4-BE49-F238E27FC236}">
                <a16:creationId xmlns:a16="http://schemas.microsoft.com/office/drawing/2014/main" id="{F3830D5B-2BD8-9824-C611-C086E666CC66}"/>
              </a:ext>
            </a:extLst>
          </p:cNvPr>
          <p:cNvSpPr/>
          <p:nvPr/>
        </p:nvSpPr>
        <p:spPr>
          <a:xfrm>
            <a:off x="2203373" y="1549423"/>
            <a:ext cx="6632155" cy="429657"/>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cap="small" dirty="0">
                <a:ea typeface="Calibri"/>
                <a:cs typeface="Calibri"/>
              </a:rPr>
              <a:t>Parth Tiwari</a:t>
            </a:r>
          </a:p>
        </p:txBody>
      </p:sp>
      <p:sp>
        <p:nvSpPr>
          <p:cNvPr id="8" name="Rectangle: Rounded Corners 7">
            <a:extLst>
              <a:ext uri="{FF2B5EF4-FFF2-40B4-BE49-F238E27FC236}">
                <a16:creationId xmlns:a16="http://schemas.microsoft.com/office/drawing/2014/main" id="{592E2A3C-E6CF-B3F7-2C6B-BBEDA400B167}"/>
              </a:ext>
            </a:extLst>
          </p:cNvPr>
          <p:cNvSpPr/>
          <p:nvPr/>
        </p:nvSpPr>
        <p:spPr>
          <a:xfrm>
            <a:off x="2203373" y="3925494"/>
            <a:ext cx="6632155" cy="42976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cap="small" dirty="0">
                <a:ea typeface="Calibri"/>
                <a:cs typeface="Calibri"/>
              </a:rPr>
              <a:t>Sid </a:t>
            </a:r>
            <a:r>
              <a:rPr lang="en-US" sz="2000" b="1" cap="small" dirty="0" err="1">
                <a:ea typeface="Calibri"/>
                <a:cs typeface="Calibri"/>
              </a:rPr>
              <a:t>Akkala</a:t>
            </a:r>
            <a:endParaRPr lang="en-US" sz="2000" b="1" cap="small" dirty="0">
              <a:ea typeface="Calibri"/>
              <a:cs typeface="Calibri"/>
            </a:endParaRPr>
          </a:p>
        </p:txBody>
      </p:sp>
      <p:sp>
        <p:nvSpPr>
          <p:cNvPr id="10" name="TextBox 9">
            <a:extLst>
              <a:ext uri="{FF2B5EF4-FFF2-40B4-BE49-F238E27FC236}">
                <a16:creationId xmlns:a16="http://schemas.microsoft.com/office/drawing/2014/main" id="{7F42D640-B160-4DBA-D9B7-601525A023A8}"/>
              </a:ext>
            </a:extLst>
          </p:cNvPr>
          <p:cNvSpPr txBox="1"/>
          <p:nvPr/>
        </p:nvSpPr>
        <p:spPr>
          <a:xfrm>
            <a:off x="2203372" y="2017261"/>
            <a:ext cx="6632155" cy="95410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i="1" cap="small" dirty="0">
                <a:cs typeface="Calibri"/>
              </a:rPr>
              <a:t>Parth is a Junior, double majoring in Finance and Economics, who previously interned with Michigan Rise, Ambit Private Limited, and Brightside Legacy</a:t>
            </a:r>
          </a:p>
          <a:p>
            <a:pPr marL="285750" indent="-285750">
              <a:buFont typeface="Arial" panose="020B0604020202020204" pitchFamily="34" charset="0"/>
              <a:buChar char="•"/>
            </a:pPr>
            <a:r>
              <a:rPr lang="en-US" sz="1400" b="1" i="1" cap="small" dirty="0">
                <a:cs typeface="Calibri"/>
              </a:rPr>
              <a:t>On campus, Parth is involved with FMI, GWF, and </a:t>
            </a:r>
            <a:r>
              <a:rPr lang="en-US" sz="1400" b="1" i="1" cap="small" dirty="0" err="1">
                <a:cs typeface="Calibri"/>
              </a:rPr>
              <a:t>PE@Broad</a:t>
            </a:r>
            <a:endParaRPr lang="en-US" sz="1600" b="1" i="1" cap="small" dirty="0">
              <a:cs typeface="Calibri"/>
            </a:endParaRPr>
          </a:p>
          <a:p>
            <a:pPr marL="285750" indent="-285750">
              <a:buFont typeface="Arial" panose="020B0604020202020204" pitchFamily="34" charset="0"/>
              <a:buChar char="•"/>
            </a:pPr>
            <a:r>
              <a:rPr lang="en-US" sz="1400" b="1" i="1" cap="small" dirty="0">
                <a:cs typeface="Calibri"/>
              </a:rPr>
              <a:t>Next summer, Parth hopes to work in investment banking</a:t>
            </a:r>
          </a:p>
        </p:txBody>
      </p:sp>
      <p:sp>
        <p:nvSpPr>
          <p:cNvPr id="11" name="TextBox 10">
            <a:extLst>
              <a:ext uri="{FF2B5EF4-FFF2-40B4-BE49-F238E27FC236}">
                <a16:creationId xmlns:a16="http://schemas.microsoft.com/office/drawing/2014/main" id="{4E5824DA-20DD-06B3-8784-81E1EEEBF241}"/>
              </a:ext>
            </a:extLst>
          </p:cNvPr>
          <p:cNvSpPr txBox="1"/>
          <p:nvPr/>
        </p:nvSpPr>
        <p:spPr>
          <a:xfrm>
            <a:off x="2203372" y="4393444"/>
            <a:ext cx="6632155" cy="116955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i="1" cap="small" dirty="0">
                <a:cs typeface="Calibri"/>
              </a:rPr>
              <a:t>Sid is a junior, double majoring in Finance and Economics with a minor in CMSE. He previously interned at the investment bank </a:t>
            </a:r>
            <a:r>
              <a:rPr lang="en-US" sz="1400" b="1" i="1" cap="small" dirty="0" err="1">
                <a:cs typeface="Calibri"/>
              </a:rPr>
              <a:t>SellSide</a:t>
            </a:r>
            <a:r>
              <a:rPr lang="en-US" sz="1400" b="1" i="1" cap="small" dirty="0">
                <a:cs typeface="Calibri"/>
              </a:rPr>
              <a:t> Group and has venture capital experience at Exit Quotient Ventures</a:t>
            </a:r>
          </a:p>
          <a:p>
            <a:pPr marL="285750" indent="-285750">
              <a:buFont typeface="Arial" panose="020B0604020202020204" pitchFamily="34" charset="0"/>
              <a:buChar char="•"/>
            </a:pPr>
            <a:r>
              <a:rPr lang="en-US" sz="1400" b="1" i="1" cap="small" dirty="0">
                <a:cs typeface="Calibri"/>
              </a:rPr>
              <a:t>On campus, Sid is involved with FMI, Broad Student Senate, and MRG</a:t>
            </a:r>
            <a:endParaRPr lang="en-US" sz="1400" b="1" i="1" cap="small" dirty="0">
              <a:ea typeface="Calibri"/>
              <a:cs typeface="Calibri"/>
            </a:endParaRPr>
          </a:p>
          <a:p>
            <a:pPr marL="285750" indent="-285750">
              <a:buFont typeface="Arial" panose="020B0604020202020204" pitchFamily="34" charset="0"/>
              <a:buChar char="•"/>
            </a:pPr>
            <a:r>
              <a:rPr lang="en-US" sz="1400" b="1" i="1" cap="small" dirty="0">
                <a:cs typeface="Calibri"/>
              </a:rPr>
              <a:t>Next summer, Sid hopes to work in private equity Secondaries</a:t>
            </a:r>
          </a:p>
        </p:txBody>
      </p:sp>
      <p:sp>
        <p:nvSpPr>
          <p:cNvPr id="14" name="TextBox 13">
            <a:extLst>
              <a:ext uri="{FF2B5EF4-FFF2-40B4-BE49-F238E27FC236}">
                <a16:creationId xmlns:a16="http://schemas.microsoft.com/office/drawing/2014/main" id="{99C95E0A-6050-68DE-8B67-352784C5AF5E}"/>
              </a:ext>
            </a:extLst>
          </p:cNvPr>
          <p:cNvSpPr txBox="1"/>
          <p:nvPr/>
        </p:nvSpPr>
        <p:spPr>
          <a:xfrm>
            <a:off x="4968607" y="1574779"/>
            <a:ext cx="3866920" cy="404300"/>
          </a:xfrm>
          <a:prstGeom prst="rect">
            <a:avLst/>
          </a:prstGeom>
          <a:noFill/>
        </p:spPr>
        <p:txBody>
          <a:bodyPr wrap="square">
            <a:spAutoFit/>
          </a:bodyPr>
          <a:lstStyle/>
          <a:p>
            <a:pPr algn="r"/>
            <a:r>
              <a:rPr lang="en-US" sz="2000" b="1" i="1" cap="small" dirty="0">
                <a:solidFill>
                  <a:schemeClr val="bg1"/>
                </a:solidFill>
              </a:rPr>
              <a:t>E-Board</a:t>
            </a:r>
          </a:p>
        </p:txBody>
      </p:sp>
      <p:sp>
        <p:nvSpPr>
          <p:cNvPr id="15" name="TextBox 14">
            <a:extLst>
              <a:ext uri="{FF2B5EF4-FFF2-40B4-BE49-F238E27FC236}">
                <a16:creationId xmlns:a16="http://schemas.microsoft.com/office/drawing/2014/main" id="{0CFBFFF6-0818-26B9-EAD1-D8088D4AA7E6}"/>
              </a:ext>
            </a:extLst>
          </p:cNvPr>
          <p:cNvSpPr txBox="1"/>
          <p:nvPr/>
        </p:nvSpPr>
        <p:spPr>
          <a:xfrm>
            <a:off x="4968607" y="3938228"/>
            <a:ext cx="3866920" cy="400110"/>
          </a:xfrm>
          <a:prstGeom prst="rect">
            <a:avLst/>
          </a:prstGeom>
          <a:noFill/>
        </p:spPr>
        <p:txBody>
          <a:bodyPr wrap="square" lIns="91440" tIns="45720" rIns="91440" bIns="45720" anchor="t">
            <a:spAutoFit/>
          </a:bodyPr>
          <a:lstStyle/>
          <a:p>
            <a:pPr algn="r"/>
            <a:r>
              <a:rPr lang="en-US" sz="2000" b="1" i="1" cap="small" dirty="0">
                <a:solidFill>
                  <a:schemeClr val="bg1"/>
                </a:solidFill>
              </a:rPr>
              <a:t>E-Board</a:t>
            </a:r>
          </a:p>
        </p:txBody>
      </p:sp>
      <p:pic>
        <p:nvPicPr>
          <p:cNvPr id="18" name="Picture 17" descr="A person in a suit smiling&#10;&#10;Description automatically generated">
            <a:extLst>
              <a:ext uri="{FF2B5EF4-FFF2-40B4-BE49-F238E27FC236}">
                <a16:creationId xmlns:a16="http://schemas.microsoft.com/office/drawing/2014/main" id="{A80402A5-A5F6-CAA3-D057-7D8F7B81744B}"/>
              </a:ext>
            </a:extLst>
          </p:cNvPr>
          <p:cNvPicPr>
            <a:picLocks noChangeAspect="1"/>
          </p:cNvPicPr>
          <p:nvPr/>
        </p:nvPicPr>
        <p:blipFill>
          <a:blip r:embed="rId2"/>
          <a:srcRect l="-329" t="3704" r="329" b="25926"/>
          <a:stretch/>
        </p:blipFill>
        <p:spPr>
          <a:xfrm>
            <a:off x="272064" y="1574376"/>
            <a:ext cx="1668441" cy="1670503"/>
          </a:xfrm>
          <a:prstGeom prst="roundRect">
            <a:avLst/>
          </a:prstGeom>
        </p:spPr>
      </p:pic>
      <p:pic>
        <p:nvPicPr>
          <p:cNvPr id="17" name="Picture 16" descr="A person in a suit smiling&#10;&#10;Description automatically generated">
            <a:extLst>
              <a:ext uri="{FF2B5EF4-FFF2-40B4-BE49-F238E27FC236}">
                <a16:creationId xmlns:a16="http://schemas.microsoft.com/office/drawing/2014/main" id="{AF347F1C-09FC-6FDF-867F-F8391BF9D8D3}"/>
              </a:ext>
            </a:extLst>
          </p:cNvPr>
          <p:cNvPicPr>
            <a:picLocks noChangeAspect="1"/>
          </p:cNvPicPr>
          <p:nvPr/>
        </p:nvPicPr>
        <p:blipFill>
          <a:blip r:embed="rId3"/>
          <a:srcRect/>
          <a:stretch>
            <a:fillRect/>
          </a:stretch>
        </p:blipFill>
        <p:spPr>
          <a:xfrm>
            <a:off x="274660" y="3938693"/>
            <a:ext cx="1668439" cy="1668439"/>
          </a:xfrm>
          <a:prstGeom prst="roundRect">
            <a:avLst/>
          </a:prstGeom>
        </p:spPr>
      </p:pic>
      <p:pic>
        <p:nvPicPr>
          <p:cNvPr id="2050" name="Picture 2" descr="Profile photo of Sid Akkala">
            <a:extLst>
              <a:ext uri="{FF2B5EF4-FFF2-40B4-BE49-F238E27FC236}">
                <a16:creationId xmlns:a16="http://schemas.microsoft.com/office/drawing/2014/main" id="{C1B50711-7ECF-4FF9-EEE6-4AF3C855EE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064" y="3933780"/>
            <a:ext cx="1673352" cy="1673352"/>
          </a:xfrm>
          <a:prstGeom prst="roundRect">
            <a:avLst/>
          </a:prstGeom>
          <a:noFill/>
          <a:extLst>
            <a:ext uri="{909E8E84-426E-40DD-AFC4-6F175D3DCCD1}">
              <a14:hiddenFill xmlns:a14="http://schemas.microsoft.com/office/drawing/2010/main">
                <a:solidFill>
                  <a:srgbClr val="FFFFFF"/>
                </a:solidFill>
              </a14:hiddenFill>
            </a:ext>
          </a:extLst>
        </p:spPr>
      </p:pic>
      <p:pic>
        <p:nvPicPr>
          <p:cNvPr id="2052" name="Picture 4" descr="Profile photo of Parth Tiwari">
            <a:extLst>
              <a:ext uri="{FF2B5EF4-FFF2-40B4-BE49-F238E27FC236}">
                <a16:creationId xmlns:a16="http://schemas.microsoft.com/office/drawing/2014/main" id="{11C1E854-37D3-D3BC-D57F-6E9EE2E6FD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64" y="1571527"/>
            <a:ext cx="1673352" cy="1673352"/>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824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a:t>AIG Expectations</a:t>
            </a:r>
            <a:endParaRPr lang="en-US" sz="3200" b="1" i="1" cap="small" baseline="0">
              <a:latin typeface="+mn-lt"/>
            </a:endParaRPr>
          </a:p>
        </p:txBody>
      </p:sp>
      <p:sp>
        <p:nvSpPr>
          <p:cNvPr id="4" name="Rectangle 3">
            <a:extLst>
              <a:ext uri="{FF2B5EF4-FFF2-40B4-BE49-F238E27FC236}">
                <a16:creationId xmlns:a16="http://schemas.microsoft.com/office/drawing/2014/main" id="{6159E819-1B19-EBD8-EB46-8856948B4120}"/>
              </a:ext>
            </a:extLst>
          </p:cNvPr>
          <p:cNvSpPr/>
          <p:nvPr/>
        </p:nvSpPr>
        <p:spPr>
          <a:xfrm>
            <a:off x="0" y="874608"/>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dirty="0">
                <a:solidFill>
                  <a:schemeClr val="tx1"/>
                </a:solidFill>
                <a:cs typeface="Calibri"/>
              </a:rPr>
              <a:t>Meetings: Thursdays 5-6 PM in Room M235 </a:t>
            </a:r>
          </a:p>
        </p:txBody>
      </p:sp>
      <p:sp>
        <p:nvSpPr>
          <p:cNvPr id="3" name="TextBox 2">
            <a:extLst>
              <a:ext uri="{FF2B5EF4-FFF2-40B4-BE49-F238E27FC236}">
                <a16:creationId xmlns:a16="http://schemas.microsoft.com/office/drawing/2014/main" id="{26AD2BCF-E4B9-C793-0A6F-05B3A4877682}"/>
              </a:ext>
            </a:extLst>
          </p:cNvPr>
          <p:cNvSpPr txBox="1"/>
          <p:nvPr/>
        </p:nvSpPr>
        <p:spPr>
          <a:xfrm>
            <a:off x="786011" y="1837062"/>
            <a:ext cx="777337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i="1" cap="small" dirty="0">
                <a:cs typeface="Calibri" panose="020F0502020204030204"/>
              </a:rPr>
              <a:t>Attendance: weekly attendance is required for all sector head and analyst positions – Must reach out 24 hours in advance of meeting if unable to attend.</a:t>
            </a:r>
          </a:p>
          <a:p>
            <a:endParaRPr lang="en-US" b="1" i="1" cap="small" dirty="0">
              <a:cs typeface="Calibri" panose="020F0502020204030204"/>
            </a:endParaRPr>
          </a:p>
          <a:p>
            <a:pPr marL="285750" indent="-285750">
              <a:buFont typeface="Arial"/>
              <a:buChar char="•"/>
            </a:pPr>
            <a:r>
              <a:rPr lang="en-US" b="1" i="1" cap="small" dirty="0">
                <a:cs typeface="Calibri" panose="020F0502020204030204"/>
              </a:rPr>
              <a:t>Dress Code: Business Casual. </a:t>
            </a:r>
          </a:p>
          <a:p>
            <a:pPr marL="285750" indent="-285750">
              <a:buFont typeface="Arial"/>
              <a:buChar char="•"/>
            </a:pPr>
            <a:endParaRPr lang="en-US" b="1" i="1" cap="small" dirty="0">
              <a:cs typeface="Calibri" panose="020F0502020204030204"/>
            </a:endParaRPr>
          </a:p>
          <a:p>
            <a:pPr marL="285750" indent="-285750">
              <a:buFont typeface="Arial"/>
              <a:buChar char="•"/>
            </a:pPr>
            <a:r>
              <a:rPr lang="en-US" b="1" i="1" cap="small" dirty="0">
                <a:cs typeface="Calibri" panose="020F0502020204030204"/>
              </a:rPr>
              <a:t>Educational Series: Sector head and analyst groups will lead a presentation session with an overview of their specific asset class.</a:t>
            </a:r>
          </a:p>
          <a:p>
            <a:pPr marL="285750" indent="-285750">
              <a:buFont typeface="Arial"/>
              <a:buChar char="•"/>
            </a:pPr>
            <a:endParaRPr lang="en-US" b="1" i="1" cap="small" dirty="0">
              <a:cs typeface="Calibri" panose="020F0502020204030204"/>
            </a:endParaRPr>
          </a:p>
          <a:p>
            <a:pPr marL="285750" indent="-285750">
              <a:buFont typeface="Arial"/>
              <a:buChar char="•"/>
            </a:pPr>
            <a:r>
              <a:rPr lang="en-US" b="1" i="1" cap="small" dirty="0">
                <a:cs typeface="Calibri" panose="020F0502020204030204"/>
              </a:rPr>
              <a:t>Guest Speakers: Industry professionals from various asset classes will share their insights as guest speakers.</a:t>
            </a:r>
          </a:p>
          <a:p>
            <a:pPr marL="285750" indent="-285750">
              <a:buFont typeface="Arial"/>
              <a:buChar char="•"/>
            </a:pPr>
            <a:endParaRPr lang="en-US" b="1" i="1" cap="small" dirty="0">
              <a:cs typeface="Calibri" panose="020F0502020204030204"/>
            </a:endParaRPr>
          </a:p>
          <a:p>
            <a:pPr marL="285750" indent="-285750">
              <a:buFont typeface="Arial"/>
              <a:buChar char="•"/>
            </a:pPr>
            <a:r>
              <a:rPr lang="en-US" b="1" i="1" cap="small" dirty="0">
                <a:cs typeface="Calibri" panose="020F0502020204030204"/>
              </a:rPr>
              <a:t>Professional Development: resume workshops, case studies, and technical study sessions.</a:t>
            </a:r>
          </a:p>
          <a:p>
            <a:endParaRPr lang="en-US" b="1" i="1" cap="small" dirty="0">
              <a:cs typeface="Calibri" panose="020F0502020204030204"/>
            </a:endParaRPr>
          </a:p>
          <a:p>
            <a:pPr marL="285750" indent="-285750">
              <a:buFont typeface="Arial"/>
              <a:buChar char="•"/>
            </a:pPr>
            <a:r>
              <a:rPr lang="en-US" b="1" i="1" cap="small" dirty="0">
                <a:cs typeface="Calibri" panose="020F0502020204030204"/>
              </a:rPr>
              <a:t>Social Events: host social events to strengthen our community. </a:t>
            </a:r>
          </a:p>
          <a:p>
            <a:pPr marL="285750" indent="-285750">
              <a:buFont typeface="Arial"/>
              <a:buChar char="•"/>
            </a:pPr>
            <a:endParaRPr lang="en-US" b="1" i="1" cap="small" dirty="0">
              <a:cs typeface="Calibri" panose="020F0502020204030204"/>
            </a:endParaRPr>
          </a:p>
        </p:txBody>
      </p:sp>
    </p:spTree>
    <p:extLst>
      <p:ext uri="{BB962C8B-B14F-4D97-AF65-F5344CB8AC3E}">
        <p14:creationId xmlns:p14="http://schemas.microsoft.com/office/powerpoint/2010/main" val="285579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2974554" y="143041"/>
            <a:ext cx="6169446" cy="584775"/>
          </a:xfrm>
          <a:prstGeom prst="rect">
            <a:avLst/>
          </a:prstGeom>
          <a:noFill/>
        </p:spPr>
        <p:txBody>
          <a:bodyPr wrap="square" rtlCol="0" anchor="ctr">
            <a:spAutoFit/>
          </a:bodyPr>
          <a:lstStyle/>
          <a:p>
            <a:pPr algn="r"/>
            <a:r>
              <a:rPr lang="en-US" sz="3200" b="1" i="1" cap="small" baseline="0">
                <a:latin typeface="+mn-lt"/>
              </a:rPr>
              <a:t>Asset Classes Covered</a:t>
            </a:r>
          </a:p>
        </p:txBody>
      </p:sp>
      <p:sp>
        <p:nvSpPr>
          <p:cNvPr id="4" name="Rectangle 3">
            <a:extLst>
              <a:ext uri="{FF2B5EF4-FFF2-40B4-BE49-F238E27FC236}">
                <a16:creationId xmlns:a16="http://schemas.microsoft.com/office/drawing/2014/main" id="{4DCAE2A5-147C-865D-7FB1-5FA3B22F7D00}"/>
              </a:ext>
            </a:extLst>
          </p:cNvPr>
          <p:cNvSpPr/>
          <p:nvPr/>
        </p:nvSpPr>
        <p:spPr>
          <a:xfrm>
            <a:off x="0" y="874608"/>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300" b="1" i="1" cap="small">
                <a:solidFill>
                  <a:schemeClr val="tx1"/>
                </a:solidFill>
              </a:rPr>
              <a:t>Alternative investments are competitive investment strategies that are not open to the public and require a large pool of private capital</a:t>
            </a:r>
          </a:p>
        </p:txBody>
      </p:sp>
      <p:sp>
        <p:nvSpPr>
          <p:cNvPr id="14" name="Rectangle: Rounded Corners 13">
            <a:extLst>
              <a:ext uri="{FF2B5EF4-FFF2-40B4-BE49-F238E27FC236}">
                <a16:creationId xmlns:a16="http://schemas.microsoft.com/office/drawing/2014/main" id="{D23FF0D4-4A14-C2BC-F65A-65EE35EA1F68}"/>
              </a:ext>
            </a:extLst>
          </p:cNvPr>
          <p:cNvSpPr/>
          <p:nvPr/>
        </p:nvSpPr>
        <p:spPr>
          <a:xfrm>
            <a:off x="1279849" y="1765662"/>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Private Equity</a:t>
            </a:r>
          </a:p>
        </p:txBody>
      </p:sp>
      <p:sp>
        <p:nvSpPr>
          <p:cNvPr id="15" name="Rectangle: Rounded Corners 14">
            <a:extLst>
              <a:ext uri="{FF2B5EF4-FFF2-40B4-BE49-F238E27FC236}">
                <a16:creationId xmlns:a16="http://schemas.microsoft.com/office/drawing/2014/main" id="{BBE9122D-2DEE-6BDF-1CA7-F8C755A8B2EB}"/>
              </a:ext>
            </a:extLst>
          </p:cNvPr>
          <p:cNvSpPr/>
          <p:nvPr/>
        </p:nvSpPr>
        <p:spPr>
          <a:xfrm>
            <a:off x="1279849" y="5093670"/>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Real Estate</a:t>
            </a:r>
          </a:p>
        </p:txBody>
      </p:sp>
      <p:sp>
        <p:nvSpPr>
          <p:cNvPr id="16" name="Rectangle: Rounded Corners 15">
            <a:extLst>
              <a:ext uri="{FF2B5EF4-FFF2-40B4-BE49-F238E27FC236}">
                <a16:creationId xmlns:a16="http://schemas.microsoft.com/office/drawing/2014/main" id="{DC332815-3DC9-D5DC-E181-EE00D9E8E0D7}"/>
              </a:ext>
            </a:extLst>
          </p:cNvPr>
          <p:cNvSpPr/>
          <p:nvPr/>
        </p:nvSpPr>
        <p:spPr>
          <a:xfrm>
            <a:off x="1279853" y="2591688"/>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Hedge Funds</a:t>
            </a:r>
          </a:p>
        </p:txBody>
      </p:sp>
      <p:sp>
        <p:nvSpPr>
          <p:cNvPr id="17" name="Rectangle: Rounded Corners 16">
            <a:extLst>
              <a:ext uri="{FF2B5EF4-FFF2-40B4-BE49-F238E27FC236}">
                <a16:creationId xmlns:a16="http://schemas.microsoft.com/office/drawing/2014/main" id="{58117F04-7E22-768C-70AC-AC2681A34F3F}"/>
              </a:ext>
            </a:extLst>
          </p:cNvPr>
          <p:cNvSpPr/>
          <p:nvPr/>
        </p:nvSpPr>
        <p:spPr>
          <a:xfrm>
            <a:off x="1279850" y="3429000"/>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Venture Capital</a:t>
            </a:r>
          </a:p>
        </p:txBody>
      </p:sp>
      <p:sp>
        <p:nvSpPr>
          <p:cNvPr id="18" name="Rectangle: Rounded Corners 17">
            <a:extLst>
              <a:ext uri="{FF2B5EF4-FFF2-40B4-BE49-F238E27FC236}">
                <a16:creationId xmlns:a16="http://schemas.microsoft.com/office/drawing/2014/main" id="{FC7CC4D9-D1A0-039B-AFA5-EC1A208DC5FB}"/>
              </a:ext>
            </a:extLst>
          </p:cNvPr>
          <p:cNvSpPr/>
          <p:nvPr/>
        </p:nvSpPr>
        <p:spPr>
          <a:xfrm>
            <a:off x="1279851" y="4261335"/>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Private Credit</a:t>
            </a:r>
          </a:p>
        </p:txBody>
      </p:sp>
      <p:sp>
        <p:nvSpPr>
          <p:cNvPr id="3" name="Rectangle: Rounded Corners 2">
            <a:extLst>
              <a:ext uri="{FF2B5EF4-FFF2-40B4-BE49-F238E27FC236}">
                <a16:creationId xmlns:a16="http://schemas.microsoft.com/office/drawing/2014/main" id="{FEC2101F-3305-457F-7058-BF5B7DC4F353}"/>
              </a:ext>
            </a:extLst>
          </p:cNvPr>
          <p:cNvSpPr/>
          <p:nvPr/>
        </p:nvSpPr>
        <p:spPr>
          <a:xfrm>
            <a:off x="1279849" y="5926005"/>
            <a:ext cx="216130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Secondaries</a:t>
            </a:r>
          </a:p>
        </p:txBody>
      </p:sp>
      <p:pic>
        <p:nvPicPr>
          <p:cNvPr id="6" name="Graphic 5" descr="Credit card with solid fill">
            <a:extLst>
              <a:ext uri="{FF2B5EF4-FFF2-40B4-BE49-F238E27FC236}">
                <a16:creationId xmlns:a16="http://schemas.microsoft.com/office/drawing/2014/main" id="{6B5FF9EB-DA0E-F539-ADC8-29A94E78DD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900" y="4226572"/>
            <a:ext cx="599795" cy="599795"/>
          </a:xfrm>
          <a:prstGeom prst="rect">
            <a:avLst/>
          </a:prstGeom>
        </p:spPr>
      </p:pic>
      <p:pic>
        <p:nvPicPr>
          <p:cNvPr id="7" name="Graphic 6" descr="Building with solid fill">
            <a:extLst>
              <a:ext uri="{FF2B5EF4-FFF2-40B4-BE49-F238E27FC236}">
                <a16:creationId xmlns:a16="http://schemas.microsoft.com/office/drawing/2014/main" id="{3278ED51-2561-BD1E-8921-5A24DE563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900" y="5103195"/>
            <a:ext cx="599794" cy="544316"/>
          </a:xfrm>
          <a:prstGeom prst="rect">
            <a:avLst/>
          </a:prstGeom>
        </p:spPr>
      </p:pic>
      <p:pic>
        <p:nvPicPr>
          <p:cNvPr id="8" name="Graphic 7" descr="Open hand with plant with solid fill">
            <a:extLst>
              <a:ext uri="{FF2B5EF4-FFF2-40B4-BE49-F238E27FC236}">
                <a16:creationId xmlns:a16="http://schemas.microsoft.com/office/drawing/2014/main" id="{5A5300AC-397A-B066-BA38-976952060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2900" y="3400547"/>
            <a:ext cx="599794" cy="599794"/>
          </a:xfrm>
          <a:prstGeom prst="rect">
            <a:avLst/>
          </a:prstGeom>
        </p:spPr>
      </p:pic>
      <p:pic>
        <p:nvPicPr>
          <p:cNvPr id="13" name="Graphic 12" descr="Flying Money with solid fill">
            <a:extLst>
              <a:ext uri="{FF2B5EF4-FFF2-40B4-BE49-F238E27FC236}">
                <a16:creationId xmlns:a16="http://schemas.microsoft.com/office/drawing/2014/main" id="{E4265310-7CC4-883E-A9BB-A2FFF7B84C4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2900" y="2557762"/>
            <a:ext cx="599795" cy="599795"/>
          </a:xfrm>
          <a:prstGeom prst="rect">
            <a:avLst/>
          </a:prstGeom>
        </p:spPr>
      </p:pic>
      <p:pic>
        <p:nvPicPr>
          <p:cNvPr id="19" name="Graphic 18" descr="Handshake with solid fill">
            <a:extLst>
              <a:ext uri="{FF2B5EF4-FFF2-40B4-BE49-F238E27FC236}">
                <a16:creationId xmlns:a16="http://schemas.microsoft.com/office/drawing/2014/main" id="{5A2CC12C-6CB8-8AAF-B739-14F3B4EF1E0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2900" y="1731736"/>
            <a:ext cx="599795" cy="599795"/>
          </a:xfrm>
          <a:prstGeom prst="rect">
            <a:avLst/>
          </a:prstGeom>
        </p:spPr>
      </p:pic>
      <p:pic>
        <p:nvPicPr>
          <p:cNvPr id="20" name="Graphic 19" descr="Workflow with solid fill">
            <a:extLst>
              <a:ext uri="{FF2B5EF4-FFF2-40B4-BE49-F238E27FC236}">
                <a16:creationId xmlns:a16="http://schemas.microsoft.com/office/drawing/2014/main" id="{D083F0D4-E316-DEEA-E726-E48DF3CBB38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42900" y="5877094"/>
            <a:ext cx="599793" cy="599793"/>
          </a:xfrm>
          <a:prstGeom prst="rect">
            <a:avLst/>
          </a:prstGeom>
        </p:spPr>
      </p:pic>
      <p:cxnSp>
        <p:nvCxnSpPr>
          <p:cNvPr id="21" name="Straight Connector 20">
            <a:extLst>
              <a:ext uri="{FF2B5EF4-FFF2-40B4-BE49-F238E27FC236}">
                <a16:creationId xmlns:a16="http://schemas.microsoft.com/office/drawing/2014/main" id="{06908ED5-5325-14C1-C10E-D64F4929C1E0}"/>
              </a:ext>
            </a:extLst>
          </p:cNvPr>
          <p:cNvCxnSpPr>
            <a:cxnSpLocks/>
          </p:cNvCxnSpPr>
          <p:nvPr/>
        </p:nvCxnSpPr>
        <p:spPr>
          <a:xfrm flipH="1">
            <a:off x="1279849" y="2422819"/>
            <a:ext cx="7498080"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36CDF43-E7A4-E969-EDEC-454C9517C41F}"/>
              </a:ext>
            </a:extLst>
          </p:cNvPr>
          <p:cNvCxnSpPr>
            <a:cxnSpLocks/>
          </p:cNvCxnSpPr>
          <p:nvPr/>
        </p:nvCxnSpPr>
        <p:spPr>
          <a:xfrm flipH="1">
            <a:off x="1279849" y="3261019"/>
            <a:ext cx="7498080"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689854D-777D-0D7A-1624-326328339AA5}"/>
              </a:ext>
            </a:extLst>
          </p:cNvPr>
          <p:cNvCxnSpPr>
            <a:cxnSpLocks/>
          </p:cNvCxnSpPr>
          <p:nvPr/>
        </p:nvCxnSpPr>
        <p:spPr>
          <a:xfrm flipH="1">
            <a:off x="1279849" y="4089694"/>
            <a:ext cx="7498080"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C70EEA3-13CF-49BE-A9CB-A77B01475B94}"/>
              </a:ext>
            </a:extLst>
          </p:cNvPr>
          <p:cNvCxnSpPr>
            <a:cxnSpLocks/>
          </p:cNvCxnSpPr>
          <p:nvPr/>
        </p:nvCxnSpPr>
        <p:spPr>
          <a:xfrm flipH="1">
            <a:off x="1279849" y="4927894"/>
            <a:ext cx="7498080"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ABF513-2FBF-EBEC-0BC2-4BB8CC056360}"/>
              </a:ext>
            </a:extLst>
          </p:cNvPr>
          <p:cNvCxnSpPr>
            <a:cxnSpLocks/>
          </p:cNvCxnSpPr>
          <p:nvPr/>
        </p:nvCxnSpPr>
        <p:spPr>
          <a:xfrm flipH="1">
            <a:off x="1279849" y="5766094"/>
            <a:ext cx="7498080"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78CC994-305F-6C4B-05EC-69E84F7C61C0}"/>
              </a:ext>
            </a:extLst>
          </p:cNvPr>
          <p:cNvSpPr/>
          <p:nvPr/>
        </p:nvSpPr>
        <p:spPr>
          <a:xfrm>
            <a:off x="3778312" y="1751411"/>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a:solidFill>
                  <a:schemeClr val="tx1"/>
                </a:solidFill>
              </a:rPr>
              <a:t>Investments in private companies, or buyouts of public companies, resulting in the delisting of the public company.</a:t>
            </a:r>
          </a:p>
        </p:txBody>
      </p:sp>
      <p:sp>
        <p:nvSpPr>
          <p:cNvPr id="40" name="Rectangle 39">
            <a:extLst>
              <a:ext uri="{FF2B5EF4-FFF2-40B4-BE49-F238E27FC236}">
                <a16:creationId xmlns:a16="http://schemas.microsoft.com/office/drawing/2014/main" id="{14E6A54C-DBAA-B000-246F-13BABF708A49}"/>
              </a:ext>
            </a:extLst>
          </p:cNvPr>
          <p:cNvSpPr/>
          <p:nvPr/>
        </p:nvSpPr>
        <p:spPr>
          <a:xfrm>
            <a:off x="3778311" y="3399608"/>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a:solidFill>
                  <a:schemeClr val="tx1"/>
                </a:solidFill>
              </a:rPr>
              <a:t>Investments in generally high-risk/high-reward startup companies and small businesses.</a:t>
            </a:r>
          </a:p>
        </p:txBody>
      </p:sp>
      <p:sp>
        <p:nvSpPr>
          <p:cNvPr id="41" name="Rectangle 40">
            <a:extLst>
              <a:ext uri="{FF2B5EF4-FFF2-40B4-BE49-F238E27FC236}">
                <a16:creationId xmlns:a16="http://schemas.microsoft.com/office/drawing/2014/main" id="{A873FF95-5748-92E3-AB3D-9F772DEB5025}"/>
              </a:ext>
            </a:extLst>
          </p:cNvPr>
          <p:cNvSpPr/>
          <p:nvPr/>
        </p:nvSpPr>
        <p:spPr>
          <a:xfrm>
            <a:off x="3778312" y="4218408"/>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dirty="0">
                <a:solidFill>
                  <a:schemeClr val="tx1"/>
                </a:solidFill>
              </a:rPr>
              <a:t>Non-bank corporate loans that are high-yielding illiquid investments, offered to businesses that are unable to secure financing from traditional bank lenders.</a:t>
            </a:r>
          </a:p>
        </p:txBody>
      </p:sp>
      <p:sp>
        <p:nvSpPr>
          <p:cNvPr id="42" name="Rectangle 41">
            <a:extLst>
              <a:ext uri="{FF2B5EF4-FFF2-40B4-BE49-F238E27FC236}">
                <a16:creationId xmlns:a16="http://schemas.microsoft.com/office/drawing/2014/main" id="{E29CA6E8-56A3-17A5-CBE4-9E215CDFC403}"/>
              </a:ext>
            </a:extLst>
          </p:cNvPr>
          <p:cNvSpPr/>
          <p:nvPr/>
        </p:nvSpPr>
        <p:spPr>
          <a:xfrm>
            <a:off x="3778312" y="5056935"/>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a:solidFill>
                  <a:schemeClr val="tx1"/>
                </a:solidFill>
              </a:rPr>
              <a:t>Investments in real estate properties that generate income for investment purposes rather than a primary residence.</a:t>
            </a:r>
          </a:p>
        </p:txBody>
      </p:sp>
      <p:sp>
        <p:nvSpPr>
          <p:cNvPr id="43" name="Rectangle 42">
            <a:extLst>
              <a:ext uri="{FF2B5EF4-FFF2-40B4-BE49-F238E27FC236}">
                <a16:creationId xmlns:a16="http://schemas.microsoft.com/office/drawing/2014/main" id="{7AD5384F-D1FD-B662-8826-AEE138999FD7}"/>
              </a:ext>
            </a:extLst>
          </p:cNvPr>
          <p:cNvSpPr/>
          <p:nvPr/>
        </p:nvSpPr>
        <p:spPr>
          <a:xfrm>
            <a:off x="3778312" y="5875735"/>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a:solidFill>
                  <a:schemeClr val="tx1"/>
                </a:solidFill>
              </a:rPr>
              <a:t>Institutional investors who buy existing private equity stakes from current investors for access to mature assets, allowing current limited partners access to liquidity.</a:t>
            </a:r>
          </a:p>
        </p:txBody>
      </p:sp>
      <p:sp>
        <p:nvSpPr>
          <p:cNvPr id="44" name="Rectangle 43">
            <a:extLst>
              <a:ext uri="{FF2B5EF4-FFF2-40B4-BE49-F238E27FC236}">
                <a16:creationId xmlns:a16="http://schemas.microsoft.com/office/drawing/2014/main" id="{D0D72810-0E15-E919-0A7B-C7A7EE13F75A}"/>
              </a:ext>
            </a:extLst>
          </p:cNvPr>
          <p:cNvSpPr/>
          <p:nvPr/>
        </p:nvSpPr>
        <p:spPr>
          <a:xfrm>
            <a:off x="3778311" y="2551533"/>
            <a:ext cx="4999618" cy="5801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i="1" cap="small">
                <a:solidFill>
                  <a:schemeClr val="tx1"/>
                </a:solidFill>
              </a:rPr>
              <a:t>Investment partnership between a hedge fund manager and investors that pool their money together into a fund to maximize returns and mitigate risk.</a:t>
            </a:r>
          </a:p>
        </p:txBody>
      </p:sp>
    </p:spTree>
    <p:extLst>
      <p:ext uri="{BB962C8B-B14F-4D97-AF65-F5344CB8AC3E}">
        <p14:creationId xmlns:p14="http://schemas.microsoft.com/office/powerpoint/2010/main" val="115287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Private Equity Overview</a:t>
            </a:r>
          </a:p>
        </p:txBody>
      </p:sp>
      <p:sp>
        <p:nvSpPr>
          <p:cNvPr id="4" name="Rectangle 3">
            <a:extLst>
              <a:ext uri="{FF2B5EF4-FFF2-40B4-BE49-F238E27FC236}">
                <a16:creationId xmlns:a16="http://schemas.microsoft.com/office/drawing/2014/main" id="{6159E819-1B19-EBD8-EB46-8856948B4120}"/>
              </a:ext>
            </a:extLst>
          </p:cNvPr>
          <p:cNvSpPr/>
          <p:nvPr/>
        </p:nvSpPr>
        <p:spPr>
          <a:xfrm>
            <a:off x="0" y="874608"/>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a:solidFill>
                  <a:schemeClr val="tx1"/>
                </a:solidFill>
                <a:cs typeface="Calibri"/>
              </a:rPr>
              <a:t>investing in companies to grow and improve them</a:t>
            </a:r>
          </a:p>
        </p:txBody>
      </p:sp>
      <p:sp>
        <p:nvSpPr>
          <p:cNvPr id="6" name="Rectangle: Rounded Corners 5">
            <a:extLst>
              <a:ext uri="{FF2B5EF4-FFF2-40B4-BE49-F238E27FC236}">
                <a16:creationId xmlns:a16="http://schemas.microsoft.com/office/drawing/2014/main" id="{AFA027F3-4CB9-1587-8966-BB4CC0E2DC99}"/>
              </a:ext>
            </a:extLst>
          </p:cNvPr>
          <p:cNvSpPr/>
          <p:nvPr/>
        </p:nvSpPr>
        <p:spPr>
          <a:xfrm>
            <a:off x="116033" y="1823257"/>
            <a:ext cx="5279771"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t>Private Equity Funds</a:t>
            </a:r>
          </a:p>
        </p:txBody>
      </p:sp>
      <p:sp>
        <p:nvSpPr>
          <p:cNvPr id="3" name="TextBox 2">
            <a:extLst>
              <a:ext uri="{FF2B5EF4-FFF2-40B4-BE49-F238E27FC236}">
                <a16:creationId xmlns:a16="http://schemas.microsoft.com/office/drawing/2014/main" id="{26AD2BCF-E4B9-C793-0A6F-05B3A4877682}"/>
              </a:ext>
            </a:extLst>
          </p:cNvPr>
          <p:cNvSpPr txBox="1"/>
          <p:nvPr/>
        </p:nvSpPr>
        <p:spPr>
          <a:xfrm>
            <a:off x="119598" y="2333685"/>
            <a:ext cx="527858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i="1" cap="small" dirty="0">
                <a:cs typeface="Calibri" panose="020F0502020204030204"/>
              </a:rPr>
              <a:t>Private Equity is an alternative investment class that raises capital from limited and general partners to deploy investments in companies.</a:t>
            </a:r>
          </a:p>
          <a:p>
            <a:pPr marL="285750" indent="-285750">
              <a:buFont typeface="Arial"/>
              <a:buChar char="•"/>
            </a:pPr>
            <a:endParaRPr lang="en-US" b="1" i="1" cap="small" dirty="0">
              <a:cs typeface="Calibri" panose="020F0502020204030204"/>
            </a:endParaRPr>
          </a:p>
          <a:p>
            <a:endParaRPr lang="en-US" b="1" i="1" cap="small" dirty="0">
              <a:cs typeface="Calibri" panose="020F0502020204030204"/>
            </a:endParaRPr>
          </a:p>
          <a:p>
            <a:endParaRPr lang="en-US" b="1" i="1" cap="small" dirty="0">
              <a:cs typeface="Calibri" panose="020F0502020204030204"/>
            </a:endParaRPr>
          </a:p>
          <a:p>
            <a:pPr marL="285750" indent="-285750">
              <a:buFont typeface="Arial"/>
              <a:buChar char="•"/>
            </a:pPr>
            <a:r>
              <a:rPr lang="en-US" b="1" i="1" cap="small" dirty="0">
                <a:cs typeface="Calibri" panose="020F0502020204030204"/>
              </a:rPr>
              <a:t>Funds will manage companies and work to improve profits margins and pay down debt to increase their equity in the portfolio company.</a:t>
            </a:r>
          </a:p>
          <a:p>
            <a:pPr marL="285750" indent="-285750">
              <a:buFont typeface="Arial"/>
              <a:buChar char="•"/>
            </a:pPr>
            <a:endParaRPr lang="en-US" b="1" i="1" cap="small" dirty="0">
              <a:cs typeface="Calibri" panose="020F0502020204030204"/>
            </a:endParaRPr>
          </a:p>
          <a:p>
            <a:pPr marL="285750" indent="-285750">
              <a:buFont typeface="Arial"/>
              <a:buChar char="•"/>
            </a:pPr>
            <a:r>
              <a:rPr lang="en-US" b="1" i="1" cap="small" dirty="0">
                <a:cs typeface="Calibri" panose="020F0502020204030204"/>
              </a:rPr>
              <a:t>In the buyout of companies, the PE group will often utilize leverage (debt) to amply their returns and return a larger profit to their partners.</a:t>
            </a:r>
          </a:p>
          <a:p>
            <a:pPr marL="285750" indent="-285750">
              <a:buFont typeface="Arial"/>
              <a:buChar char="•"/>
            </a:pPr>
            <a:endParaRPr lang="en-US" b="1" i="1" cap="small" dirty="0">
              <a:cs typeface="Calibri" panose="020F0502020204030204"/>
            </a:endParaRPr>
          </a:p>
          <a:p>
            <a:pPr marL="285750" indent="-285750">
              <a:buFont typeface="Arial"/>
              <a:buChar char="•"/>
            </a:pPr>
            <a:endParaRPr lang="en-US" b="1" i="1" cap="small" dirty="0">
              <a:cs typeface="Calibri" panose="020F0502020204030204"/>
            </a:endParaRPr>
          </a:p>
          <a:p>
            <a:pPr marL="285750" indent="-285750">
              <a:buFont typeface="Arial"/>
              <a:buChar char="•"/>
            </a:pPr>
            <a:endParaRPr lang="en-US" b="1" i="1" cap="small" dirty="0">
              <a:cs typeface="Calibri" panose="020F0502020204030204"/>
            </a:endParaRPr>
          </a:p>
        </p:txBody>
      </p:sp>
      <p:pic>
        <p:nvPicPr>
          <p:cNvPr id="7" name="Picture 6" descr="A diagram of a company&#10;&#10;Description automatically generated">
            <a:extLst>
              <a:ext uri="{FF2B5EF4-FFF2-40B4-BE49-F238E27FC236}">
                <a16:creationId xmlns:a16="http://schemas.microsoft.com/office/drawing/2014/main" id="{EB993D37-1B3C-2DB3-3AC9-CC4B2F030231}"/>
              </a:ext>
            </a:extLst>
          </p:cNvPr>
          <p:cNvPicPr>
            <a:picLocks noChangeAspect="1"/>
          </p:cNvPicPr>
          <p:nvPr/>
        </p:nvPicPr>
        <p:blipFill>
          <a:blip r:embed="rId3"/>
          <a:srcRect b="8041"/>
          <a:stretch/>
        </p:blipFill>
        <p:spPr>
          <a:xfrm>
            <a:off x="5811809" y="1837062"/>
            <a:ext cx="3217025" cy="2191160"/>
          </a:xfrm>
          <a:prstGeom prst="rect">
            <a:avLst/>
          </a:prstGeom>
        </p:spPr>
      </p:pic>
      <p:sp>
        <p:nvSpPr>
          <p:cNvPr id="8" name="Rectangle: Rounded Corners 7">
            <a:extLst>
              <a:ext uri="{FF2B5EF4-FFF2-40B4-BE49-F238E27FC236}">
                <a16:creationId xmlns:a16="http://schemas.microsoft.com/office/drawing/2014/main" id="{1575A784-AF90-8DE5-7EFA-00F4A567649B}"/>
              </a:ext>
            </a:extLst>
          </p:cNvPr>
          <p:cNvSpPr/>
          <p:nvPr/>
        </p:nvSpPr>
        <p:spPr>
          <a:xfrm>
            <a:off x="116032" y="3507840"/>
            <a:ext cx="5279771"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Leveraged Buyouts (LBO)</a:t>
            </a:r>
            <a:endParaRPr lang="en-US" sz="2000" b="1" i="1" cap="small"/>
          </a:p>
        </p:txBody>
      </p:sp>
      <p:pic>
        <p:nvPicPr>
          <p:cNvPr id="5" name="Picture 4">
            <a:extLst>
              <a:ext uri="{FF2B5EF4-FFF2-40B4-BE49-F238E27FC236}">
                <a16:creationId xmlns:a16="http://schemas.microsoft.com/office/drawing/2014/main" id="{34EEDFE8-C992-692B-6AA7-DDB8D848C12E}"/>
              </a:ext>
            </a:extLst>
          </p:cNvPr>
          <p:cNvPicPr>
            <a:picLocks noChangeAspect="1"/>
          </p:cNvPicPr>
          <p:nvPr/>
        </p:nvPicPr>
        <p:blipFill>
          <a:blip r:embed="rId4"/>
          <a:stretch>
            <a:fillRect/>
          </a:stretch>
        </p:blipFill>
        <p:spPr>
          <a:xfrm>
            <a:off x="5697186" y="5730107"/>
            <a:ext cx="1512916" cy="501712"/>
          </a:xfrm>
          <a:prstGeom prst="rect">
            <a:avLst/>
          </a:prstGeom>
        </p:spPr>
      </p:pic>
      <p:pic>
        <p:nvPicPr>
          <p:cNvPr id="1026" name="Picture 2" descr="Home | Shore Capital Partners">
            <a:extLst>
              <a:ext uri="{FF2B5EF4-FFF2-40B4-BE49-F238E27FC236}">
                <a16:creationId xmlns:a16="http://schemas.microsoft.com/office/drawing/2014/main" id="{7D827D70-1644-871F-59F9-5270CE3150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0402" y="4401915"/>
            <a:ext cx="1428750" cy="3878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KR Closes $1.3 Billion Global Impact ...">
            <a:extLst>
              <a:ext uri="{FF2B5EF4-FFF2-40B4-BE49-F238E27FC236}">
                <a16:creationId xmlns:a16="http://schemas.microsoft.com/office/drawing/2014/main" id="{6EC70ACD-3DFC-D53E-31BB-E36D21BE6F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8654" y="4302947"/>
            <a:ext cx="1171575" cy="5857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arburg Pincus - Management Leadership ...">
            <a:extLst>
              <a:ext uri="{FF2B5EF4-FFF2-40B4-BE49-F238E27FC236}">
                <a16:creationId xmlns:a16="http://schemas.microsoft.com/office/drawing/2014/main" id="{393F6EC3-C183-6CFD-7F0E-178C6BC952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2759" y="4950005"/>
            <a:ext cx="1283671" cy="7212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PG | World Economic Forum">
            <a:extLst>
              <a:ext uri="{FF2B5EF4-FFF2-40B4-BE49-F238E27FC236}">
                <a16:creationId xmlns:a16="http://schemas.microsoft.com/office/drawing/2014/main" id="{591DBE35-A186-70AC-BEED-95DC94A67E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9651" y="5671265"/>
            <a:ext cx="1497126" cy="625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E93593F3-6C10-8E4B-C97A-F7CC9CD2B1F0}"/>
              </a:ext>
            </a:extLst>
          </p:cNvPr>
          <p:cNvPicPr>
            <a:picLocks noChangeAspect="1"/>
          </p:cNvPicPr>
          <p:nvPr/>
        </p:nvPicPr>
        <p:blipFill>
          <a:blip r:embed="rId9"/>
          <a:srcRect l="8542" t="28144" r="6458" b="23930"/>
          <a:stretch/>
        </p:blipFill>
        <p:spPr>
          <a:xfrm>
            <a:off x="7399681" y="5086988"/>
            <a:ext cx="1586621" cy="447293"/>
          </a:xfrm>
          <a:prstGeom prst="rect">
            <a:avLst/>
          </a:prstGeom>
        </p:spPr>
      </p:pic>
    </p:spTree>
    <p:extLst>
      <p:ext uri="{BB962C8B-B14F-4D97-AF65-F5344CB8AC3E}">
        <p14:creationId xmlns:p14="http://schemas.microsoft.com/office/powerpoint/2010/main" val="2588225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4F687DD-C441-5744-502A-3B522CD93081}"/>
              </a:ext>
            </a:extLst>
          </p:cNvPr>
          <p:cNvSpPr/>
          <p:nvPr/>
        </p:nvSpPr>
        <p:spPr>
          <a:xfrm>
            <a:off x="0" y="881772"/>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1" cap="small">
                <a:solidFill>
                  <a:schemeClr val="tx1"/>
                </a:solidFill>
              </a:rPr>
              <a:t>High risk-adjusted returns in the public markets</a:t>
            </a:r>
          </a:p>
        </p:txBody>
      </p:sp>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a:t>Hedge Fund Overview</a:t>
            </a:r>
            <a:endParaRPr lang="en-US" sz="3200" b="1" i="1" cap="small" baseline="0">
              <a:latin typeface="+mn-lt"/>
            </a:endParaRPr>
          </a:p>
        </p:txBody>
      </p:sp>
      <p:sp>
        <p:nvSpPr>
          <p:cNvPr id="7" name="Rectangle: Rounded Corners 6">
            <a:extLst>
              <a:ext uri="{FF2B5EF4-FFF2-40B4-BE49-F238E27FC236}">
                <a16:creationId xmlns:a16="http://schemas.microsoft.com/office/drawing/2014/main" id="{2C02D791-1A01-44BD-2918-772F00688963}"/>
              </a:ext>
            </a:extLst>
          </p:cNvPr>
          <p:cNvSpPr/>
          <p:nvPr/>
        </p:nvSpPr>
        <p:spPr>
          <a:xfrm>
            <a:off x="114301" y="1851390"/>
            <a:ext cx="8915399"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t>Hedge Funds</a:t>
            </a:r>
          </a:p>
        </p:txBody>
      </p:sp>
      <p:sp>
        <p:nvSpPr>
          <p:cNvPr id="8" name="TextBox 7">
            <a:extLst>
              <a:ext uri="{FF2B5EF4-FFF2-40B4-BE49-F238E27FC236}">
                <a16:creationId xmlns:a16="http://schemas.microsoft.com/office/drawing/2014/main" id="{268DA681-9CA9-7554-A204-4A60BC3C7129}"/>
              </a:ext>
            </a:extLst>
          </p:cNvPr>
          <p:cNvSpPr txBox="1"/>
          <p:nvPr/>
        </p:nvSpPr>
        <p:spPr>
          <a:xfrm>
            <a:off x="144360" y="2291275"/>
            <a:ext cx="8787628" cy="923330"/>
          </a:xfrm>
          <a:prstGeom prst="rect">
            <a:avLst/>
          </a:prstGeom>
          <a:noFill/>
        </p:spPr>
        <p:txBody>
          <a:bodyPr wrap="square">
            <a:spAutoFit/>
          </a:bodyPr>
          <a:lstStyle/>
          <a:p>
            <a:pPr marL="285750" indent="-285750" algn="just">
              <a:buFont typeface="Arial"/>
              <a:buChar char="•"/>
            </a:pPr>
            <a:r>
              <a:rPr lang="en-US" b="1" i="1" cap="small">
                <a:cs typeface="Calibri"/>
              </a:rPr>
              <a:t>Alternative investment funds that raise capital from institutional investors to deploy in securities or other assets across a vast range of markets.</a:t>
            </a:r>
            <a:endParaRPr lang="en-US" b="1" i="1" cap="small"/>
          </a:p>
          <a:p>
            <a:pPr marL="285750" indent="-285750" algn="just">
              <a:buFont typeface="Arial"/>
              <a:buChar char="•"/>
            </a:pPr>
            <a:r>
              <a:rPr lang="en-US" b="1" i="1" cap="small">
                <a:cs typeface="Calibri"/>
              </a:rPr>
              <a:t>The objective is to produce positive, satisfactory returns for both investors and managers.</a:t>
            </a:r>
          </a:p>
        </p:txBody>
      </p:sp>
      <p:sp>
        <p:nvSpPr>
          <p:cNvPr id="12" name="Rectangle: Rounded Corners 11">
            <a:extLst>
              <a:ext uri="{FF2B5EF4-FFF2-40B4-BE49-F238E27FC236}">
                <a16:creationId xmlns:a16="http://schemas.microsoft.com/office/drawing/2014/main" id="{00B5CEAE-2D42-B239-B1C4-5DE1364B3D62}"/>
              </a:ext>
            </a:extLst>
          </p:cNvPr>
          <p:cNvSpPr/>
          <p:nvPr/>
        </p:nvSpPr>
        <p:spPr>
          <a:xfrm>
            <a:off x="114300" y="3423940"/>
            <a:ext cx="5362550" cy="438912"/>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t>How do they achieve their goals?</a:t>
            </a:r>
          </a:p>
        </p:txBody>
      </p:sp>
      <p:sp>
        <p:nvSpPr>
          <p:cNvPr id="14" name="TextBox 13">
            <a:extLst>
              <a:ext uri="{FF2B5EF4-FFF2-40B4-BE49-F238E27FC236}">
                <a16:creationId xmlns:a16="http://schemas.microsoft.com/office/drawing/2014/main" id="{CDF75182-7A56-8206-2964-D5FF6DF7EA16}"/>
              </a:ext>
            </a:extLst>
          </p:cNvPr>
          <p:cNvSpPr txBox="1"/>
          <p:nvPr/>
        </p:nvSpPr>
        <p:spPr>
          <a:xfrm>
            <a:off x="-251677" y="3963595"/>
            <a:ext cx="5671402" cy="1754326"/>
          </a:xfrm>
          <a:prstGeom prst="rect">
            <a:avLst/>
          </a:prstGeom>
          <a:noFill/>
        </p:spPr>
        <p:txBody>
          <a:bodyPr wrap="square">
            <a:spAutoFit/>
          </a:bodyPr>
          <a:lstStyle/>
          <a:p>
            <a:pPr marL="742950" lvl="1" indent="-285750" algn="just">
              <a:buFont typeface="Arial"/>
              <a:buChar char="•"/>
            </a:pPr>
            <a:r>
              <a:rPr lang="en-US" b="1" i="1" cap="small">
                <a:cs typeface="Calibri"/>
              </a:rPr>
              <a:t>Utilize a handful of trading techniques and instruments (e.g.: options, shorts, etc.).</a:t>
            </a:r>
          </a:p>
          <a:p>
            <a:pPr marL="742950" lvl="1" indent="-285750" algn="just">
              <a:buFont typeface="Arial"/>
              <a:buChar char="•"/>
            </a:pPr>
            <a:r>
              <a:rPr lang="en-US" b="1" i="1" cap="small">
                <a:cs typeface="Calibri"/>
              </a:rPr>
              <a:t>Heavy technical security analysis and heavy emphasis on timed moves.</a:t>
            </a:r>
          </a:p>
          <a:p>
            <a:pPr marL="742950" lvl="1" indent="-285750" algn="just">
              <a:buFont typeface="Arial"/>
              <a:buChar char="•"/>
            </a:pPr>
            <a:r>
              <a:rPr lang="en-US" b="1" i="1" cap="small">
                <a:cs typeface="Calibri"/>
              </a:rPr>
              <a:t>Common strategies include global macro trends, long / short, event driven, and others.</a:t>
            </a:r>
          </a:p>
        </p:txBody>
      </p:sp>
      <p:pic>
        <p:nvPicPr>
          <p:cNvPr id="4" name="Picture 3">
            <a:extLst>
              <a:ext uri="{FF2B5EF4-FFF2-40B4-BE49-F238E27FC236}">
                <a16:creationId xmlns:a16="http://schemas.microsoft.com/office/drawing/2014/main" id="{BEDE7B6A-56D8-4BBB-4133-42AB8BBB77B8}"/>
              </a:ext>
            </a:extLst>
          </p:cNvPr>
          <p:cNvPicPr>
            <a:picLocks noChangeAspect="1"/>
          </p:cNvPicPr>
          <p:nvPr/>
        </p:nvPicPr>
        <p:blipFill>
          <a:blip r:embed="rId3"/>
          <a:srcRect t="38885" b="39781"/>
          <a:stretch/>
        </p:blipFill>
        <p:spPr>
          <a:xfrm>
            <a:off x="6215062" y="3627781"/>
            <a:ext cx="2143125" cy="457199"/>
          </a:xfrm>
          <a:prstGeom prst="rect">
            <a:avLst/>
          </a:prstGeom>
        </p:spPr>
      </p:pic>
      <p:pic>
        <p:nvPicPr>
          <p:cNvPr id="5" name="Picture 4">
            <a:extLst>
              <a:ext uri="{FF2B5EF4-FFF2-40B4-BE49-F238E27FC236}">
                <a16:creationId xmlns:a16="http://schemas.microsoft.com/office/drawing/2014/main" id="{6BB85E3B-A580-1E4F-2957-5F9EDE22D037}"/>
              </a:ext>
            </a:extLst>
          </p:cNvPr>
          <p:cNvPicPr>
            <a:picLocks noChangeAspect="1"/>
          </p:cNvPicPr>
          <p:nvPr/>
        </p:nvPicPr>
        <p:blipFill>
          <a:blip r:embed="rId4"/>
          <a:srcRect t="26743" b="27064"/>
          <a:stretch/>
        </p:blipFill>
        <p:spPr>
          <a:xfrm>
            <a:off x="5626216" y="4364480"/>
            <a:ext cx="1660408" cy="766997"/>
          </a:xfrm>
          <a:prstGeom prst="rect">
            <a:avLst/>
          </a:prstGeom>
        </p:spPr>
      </p:pic>
      <p:pic>
        <p:nvPicPr>
          <p:cNvPr id="6" name="Picture 5">
            <a:extLst>
              <a:ext uri="{FF2B5EF4-FFF2-40B4-BE49-F238E27FC236}">
                <a16:creationId xmlns:a16="http://schemas.microsoft.com/office/drawing/2014/main" id="{5A211806-9875-4042-4BB9-ADF2C0DAC7FE}"/>
              </a:ext>
            </a:extLst>
          </p:cNvPr>
          <p:cNvPicPr>
            <a:picLocks noChangeAspect="1"/>
          </p:cNvPicPr>
          <p:nvPr/>
        </p:nvPicPr>
        <p:blipFill>
          <a:blip r:embed="rId5"/>
          <a:srcRect l="13023" t="15167" r="11415" b="14887"/>
          <a:stretch/>
        </p:blipFill>
        <p:spPr>
          <a:xfrm>
            <a:off x="5496967" y="5414973"/>
            <a:ext cx="1796780" cy="866379"/>
          </a:xfrm>
          <a:prstGeom prst="rect">
            <a:avLst/>
          </a:prstGeom>
        </p:spPr>
      </p:pic>
      <p:pic>
        <p:nvPicPr>
          <p:cNvPr id="9" name="Picture 8">
            <a:extLst>
              <a:ext uri="{FF2B5EF4-FFF2-40B4-BE49-F238E27FC236}">
                <a16:creationId xmlns:a16="http://schemas.microsoft.com/office/drawing/2014/main" id="{B87D1EA7-5643-5786-7D21-84CDCAD86FCD}"/>
              </a:ext>
            </a:extLst>
          </p:cNvPr>
          <p:cNvPicPr>
            <a:picLocks noChangeAspect="1"/>
          </p:cNvPicPr>
          <p:nvPr/>
        </p:nvPicPr>
        <p:blipFill>
          <a:blip r:embed="rId6"/>
          <a:stretch>
            <a:fillRect/>
          </a:stretch>
        </p:blipFill>
        <p:spPr>
          <a:xfrm>
            <a:off x="7408225" y="4498156"/>
            <a:ext cx="1592900" cy="398225"/>
          </a:xfrm>
          <a:prstGeom prst="rect">
            <a:avLst/>
          </a:prstGeom>
        </p:spPr>
      </p:pic>
      <p:pic>
        <p:nvPicPr>
          <p:cNvPr id="13" name="Picture 12">
            <a:extLst>
              <a:ext uri="{FF2B5EF4-FFF2-40B4-BE49-F238E27FC236}">
                <a16:creationId xmlns:a16="http://schemas.microsoft.com/office/drawing/2014/main" id="{D874C483-ADAD-ABF6-FF92-74D5A1D390AD}"/>
              </a:ext>
            </a:extLst>
          </p:cNvPr>
          <p:cNvPicPr>
            <a:picLocks noChangeAspect="1"/>
          </p:cNvPicPr>
          <p:nvPr/>
        </p:nvPicPr>
        <p:blipFill>
          <a:blip r:embed="rId7"/>
          <a:srcRect t="27201" b="32251"/>
          <a:stretch/>
        </p:blipFill>
        <p:spPr>
          <a:xfrm>
            <a:off x="7486887" y="5677306"/>
            <a:ext cx="1514238" cy="320862"/>
          </a:xfrm>
          <a:prstGeom prst="rect">
            <a:avLst/>
          </a:prstGeom>
        </p:spPr>
      </p:pic>
    </p:spTree>
    <p:extLst>
      <p:ext uri="{BB962C8B-B14F-4D97-AF65-F5344CB8AC3E}">
        <p14:creationId xmlns:p14="http://schemas.microsoft.com/office/powerpoint/2010/main" val="283065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Venture Capital Overview</a:t>
            </a:r>
          </a:p>
        </p:txBody>
      </p:sp>
      <p:sp>
        <p:nvSpPr>
          <p:cNvPr id="4" name="Rectangle 3">
            <a:extLst>
              <a:ext uri="{FF2B5EF4-FFF2-40B4-BE49-F238E27FC236}">
                <a16:creationId xmlns:a16="http://schemas.microsoft.com/office/drawing/2014/main" id="{CD4F268C-3BC9-D862-2479-EF78E11F32CB}"/>
              </a:ext>
            </a:extLst>
          </p:cNvPr>
          <p:cNvSpPr/>
          <p:nvPr/>
        </p:nvSpPr>
        <p:spPr>
          <a:xfrm>
            <a:off x="0" y="878775"/>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a:solidFill>
                  <a:schemeClr val="tx1"/>
                </a:solidFill>
              </a:rPr>
              <a:t>funding for businesses poised for strong future growth</a:t>
            </a:r>
          </a:p>
        </p:txBody>
      </p:sp>
      <p:sp>
        <p:nvSpPr>
          <p:cNvPr id="6" name="Rectangle: Rounded Corners 6">
            <a:extLst>
              <a:ext uri="{FF2B5EF4-FFF2-40B4-BE49-F238E27FC236}">
                <a16:creationId xmlns:a16="http://schemas.microsoft.com/office/drawing/2014/main" id="{5C48FDA4-56A4-52CC-5F10-F24ED12AB2D5}"/>
              </a:ext>
            </a:extLst>
          </p:cNvPr>
          <p:cNvSpPr/>
          <p:nvPr/>
        </p:nvSpPr>
        <p:spPr>
          <a:xfrm>
            <a:off x="320631" y="1842074"/>
            <a:ext cx="4068892"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Venture capital</a:t>
            </a:r>
          </a:p>
        </p:txBody>
      </p:sp>
      <p:sp>
        <p:nvSpPr>
          <p:cNvPr id="8" name="Rectangle: Rounded Corners 6">
            <a:extLst>
              <a:ext uri="{FF2B5EF4-FFF2-40B4-BE49-F238E27FC236}">
                <a16:creationId xmlns:a16="http://schemas.microsoft.com/office/drawing/2014/main" id="{82123868-85F0-F61E-3D9E-43F5492B341B}"/>
              </a:ext>
            </a:extLst>
          </p:cNvPr>
          <p:cNvSpPr/>
          <p:nvPr/>
        </p:nvSpPr>
        <p:spPr>
          <a:xfrm>
            <a:off x="4725030" y="1842074"/>
            <a:ext cx="4098339"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How do they achieve their goals?</a:t>
            </a:r>
            <a:endParaRPr lang="en-US" sz="2000" b="1" i="1" cap="small"/>
          </a:p>
        </p:txBody>
      </p:sp>
      <p:sp>
        <p:nvSpPr>
          <p:cNvPr id="9" name="TextBox 8">
            <a:extLst>
              <a:ext uri="{FF2B5EF4-FFF2-40B4-BE49-F238E27FC236}">
                <a16:creationId xmlns:a16="http://schemas.microsoft.com/office/drawing/2014/main" id="{4F140530-963C-B841-DB3B-C0CF20193D0A}"/>
              </a:ext>
            </a:extLst>
          </p:cNvPr>
          <p:cNvSpPr txBox="1"/>
          <p:nvPr/>
        </p:nvSpPr>
        <p:spPr>
          <a:xfrm>
            <a:off x="362682" y="2329961"/>
            <a:ext cx="398368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i="1" cap="small">
                <a:cs typeface="Calibri" panose="020F0502020204030204"/>
              </a:rPr>
              <a:t>A form of private equity that funds startups and early-stage companies with long-term growth potential.</a:t>
            </a:r>
          </a:p>
          <a:p>
            <a:pPr marL="285750" indent="-285750">
              <a:buFont typeface="Arial"/>
              <a:buChar char="•"/>
            </a:pPr>
            <a:endParaRPr lang="en-US" b="1" i="1" cap="small">
              <a:cs typeface="Calibri" panose="020F0502020204030204"/>
            </a:endParaRPr>
          </a:p>
          <a:p>
            <a:pPr marL="285750" indent="-285750">
              <a:buFont typeface="Arial"/>
              <a:buChar char="•"/>
            </a:pPr>
            <a:r>
              <a:rPr lang="en-US" b="1" i="1" cap="small">
                <a:cs typeface="Calibri" panose="020F0502020204030204"/>
              </a:rPr>
              <a:t>Types of Venture Capital include pre-seed, seed funding, and early-stage funding.</a:t>
            </a:r>
          </a:p>
        </p:txBody>
      </p:sp>
      <p:sp>
        <p:nvSpPr>
          <p:cNvPr id="11" name="TextBox 10">
            <a:extLst>
              <a:ext uri="{FF2B5EF4-FFF2-40B4-BE49-F238E27FC236}">
                <a16:creationId xmlns:a16="http://schemas.microsoft.com/office/drawing/2014/main" id="{60A17849-A8A2-E654-0DF3-A4EF025EAE53}"/>
              </a:ext>
            </a:extLst>
          </p:cNvPr>
          <p:cNvSpPr txBox="1"/>
          <p:nvPr/>
        </p:nvSpPr>
        <p:spPr>
          <a:xfrm>
            <a:off x="4768547" y="2353407"/>
            <a:ext cx="424482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i="1" cap="small">
                <a:cs typeface="Calibri" panose="020F0502020204030204"/>
              </a:rPr>
              <a:t>Take an ownership stake or an active interest in the companies in return for funding.</a:t>
            </a:r>
          </a:p>
          <a:p>
            <a:pPr marL="285750" indent="-285750">
              <a:buFont typeface="Arial"/>
              <a:buChar char="•"/>
            </a:pPr>
            <a:endParaRPr lang="en-US" b="1" i="1" cap="small">
              <a:cs typeface="Calibri" panose="020F0502020204030204"/>
            </a:endParaRPr>
          </a:p>
          <a:p>
            <a:pPr marL="285750" indent="-285750">
              <a:buFont typeface="Arial"/>
              <a:buChar char="•"/>
            </a:pPr>
            <a:r>
              <a:rPr lang="en-US" b="1" i="1" cap="small">
                <a:cs typeface="Calibri" panose="020F0502020204030204"/>
              </a:rPr>
              <a:t>Their goal is to increase the value of the company, then exit investment by either selling the fund's stake or via an IPO.</a:t>
            </a:r>
          </a:p>
        </p:txBody>
      </p:sp>
      <p:sp>
        <p:nvSpPr>
          <p:cNvPr id="3" name="Rectangle: Rounded Corners 2">
            <a:extLst>
              <a:ext uri="{FF2B5EF4-FFF2-40B4-BE49-F238E27FC236}">
                <a16:creationId xmlns:a16="http://schemas.microsoft.com/office/drawing/2014/main" id="{6028D7B5-1235-A44E-0AE2-3F064DCD10F8}"/>
              </a:ext>
            </a:extLst>
          </p:cNvPr>
          <p:cNvSpPr/>
          <p:nvPr/>
        </p:nvSpPr>
        <p:spPr>
          <a:xfrm>
            <a:off x="362682" y="4655127"/>
            <a:ext cx="1537370" cy="34438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Investors</a:t>
            </a:r>
          </a:p>
        </p:txBody>
      </p:sp>
      <p:sp>
        <p:nvSpPr>
          <p:cNvPr id="5" name="Arrow: Right 4">
            <a:extLst>
              <a:ext uri="{FF2B5EF4-FFF2-40B4-BE49-F238E27FC236}">
                <a16:creationId xmlns:a16="http://schemas.microsoft.com/office/drawing/2014/main" id="{482B5606-BD23-19E7-44D9-EA219F8F9AF1}"/>
              </a:ext>
            </a:extLst>
          </p:cNvPr>
          <p:cNvSpPr/>
          <p:nvPr/>
        </p:nvSpPr>
        <p:spPr>
          <a:xfrm>
            <a:off x="2389941" y="5427023"/>
            <a:ext cx="1009402" cy="771896"/>
          </a:xfrm>
          <a:prstGeom prst="rightArrow">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Capital</a:t>
            </a:r>
          </a:p>
        </p:txBody>
      </p:sp>
      <p:sp>
        <p:nvSpPr>
          <p:cNvPr id="7" name="Rectangle: Rounded Corners 6">
            <a:extLst>
              <a:ext uri="{FF2B5EF4-FFF2-40B4-BE49-F238E27FC236}">
                <a16:creationId xmlns:a16="http://schemas.microsoft.com/office/drawing/2014/main" id="{0B96EE51-DCCD-7248-0FB0-E10897335DCB}"/>
              </a:ext>
            </a:extLst>
          </p:cNvPr>
          <p:cNvSpPr/>
          <p:nvPr/>
        </p:nvSpPr>
        <p:spPr>
          <a:xfrm>
            <a:off x="3803315" y="4655127"/>
            <a:ext cx="1537370" cy="34438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VC Fund</a:t>
            </a:r>
          </a:p>
        </p:txBody>
      </p:sp>
      <p:sp>
        <p:nvSpPr>
          <p:cNvPr id="12" name="Arrow: Right 11">
            <a:extLst>
              <a:ext uri="{FF2B5EF4-FFF2-40B4-BE49-F238E27FC236}">
                <a16:creationId xmlns:a16="http://schemas.microsoft.com/office/drawing/2014/main" id="{FFDDDF55-87BD-2BB9-3724-480672607D2C}"/>
              </a:ext>
            </a:extLst>
          </p:cNvPr>
          <p:cNvSpPr/>
          <p:nvPr/>
        </p:nvSpPr>
        <p:spPr>
          <a:xfrm>
            <a:off x="5788547" y="5423712"/>
            <a:ext cx="1009402" cy="771896"/>
          </a:xfrm>
          <a:prstGeom prst="rightArrow">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Invest</a:t>
            </a:r>
          </a:p>
        </p:txBody>
      </p:sp>
      <p:sp>
        <p:nvSpPr>
          <p:cNvPr id="14" name="TextBox 13">
            <a:extLst>
              <a:ext uri="{FF2B5EF4-FFF2-40B4-BE49-F238E27FC236}">
                <a16:creationId xmlns:a16="http://schemas.microsoft.com/office/drawing/2014/main" id="{7C37F1DE-7D11-337F-83F2-9725EB16B827}"/>
              </a:ext>
            </a:extLst>
          </p:cNvPr>
          <p:cNvSpPr txBox="1"/>
          <p:nvPr/>
        </p:nvSpPr>
        <p:spPr>
          <a:xfrm>
            <a:off x="2228229" y="4595750"/>
            <a:ext cx="1246909" cy="923330"/>
          </a:xfrm>
          <a:prstGeom prst="rect">
            <a:avLst/>
          </a:prstGeom>
          <a:noFill/>
        </p:spPr>
        <p:txBody>
          <a:bodyPr wrap="square" rtlCol="0">
            <a:spAutoFit/>
          </a:bodyPr>
          <a:lstStyle/>
          <a:p>
            <a:r>
              <a:rPr lang="en-US" sz="5400" b="1">
                <a:solidFill>
                  <a:srgbClr val="48604A"/>
                </a:solidFill>
              </a:rPr>
              <a:t>$$$</a:t>
            </a:r>
          </a:p>
        </p:txBody>
      </p:sp>
      <p:sp>
        <p:nvSpPr>
          <p:cNvPr id="15" name="TextBox 14">
            <a:extLst>
              <a:ext uri="{FF2B5EF4-FFF2-40B4-BE49-F238E27FC236}">
                <a16:creationId xmlns:a16="http://schemas.microsoft.com/office/drawing/2014/main" id="{64F4ECAA-B94F-D319-5604-F38FF39BBC93}"/>
              </a:ext>
            </a:extLst>
          </p:cNvPr>
          <p:cNvSpPr txBox="1"/>
          <p:nvPr/>
        </p:nvSpPr>
        <p:spPr>
          <a:xfrm>
            <a:off x="5635395" y="4595750"/>
            <a:ext cx="1246909" cy="923330"/>
          </a:xfrm>
          <a:prstGeom prst="rect">
            <a:avLst/>
          </a:prstGeom>
          <a:noFill/>
        </p:spPr>
        <p:txBody>
          <a:bodyPr wrap="square" rtlCol="0">
            <a:spAutoFit/>
          </a:bodyPr>
          <a:lstStyle/>
          <a:p>
            <a:r>
              <a:rPr lang="en-US" sz="5400" b="1">
                <a:solidFill>
                  <a:srgbClr val="48604A"/>
                </a:solidFill>
              </a:rPr>
              <a:t>$$$</a:t>
            </a:r>
          </a:p>
        </p:txBody>
      </p:sp>
      <p:sp>
        <p:nvSpPr>
          <p:cNvPr id="16" name="Rectangle: Rounded Corners 15">
            <a:extLst>
              <a:ext uri="{FF2B5EF4-FFF2-40B4-BE49-F238E27FC236}">
                <a16:creationId xmlns:a16="http://schemas.microsoft.com/office/drawing/2014/main" id="{A8491FE9-C99D-6289-5A08-2FC444269432}"/>
              </a:ext>
            </a:extLst>
          </p:cNvPr>
          <p:cNvSpPr/>
          <p:nvPr/>
        </p:nvSpPr>
        <p:spPr>
          <a:xfrm>
            <a:off x="7243948" y="4655126"/>
            <a:ext cx="1537370" cy="34438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Portfolio</a:t>
            </a:r>
          </a:p>
        </p:txBody>
      </p:sp>
      <p:pic>
        <p:nvPicPr>
          <p:cNvPr id="18" name="Picture 17" descr="A blue text with a black background&#10;&#10;Description automatically generated">
            <a:extLst>
              <a:ext uri="{FF2B5EF4-FFF2-40B4-BE49-F238E27FC236}">
                <a16:creationId xmlns:a16="http://schemas.microsoft.com/office/drawing/2014/main" id="{9D9306DE-21CE-1488-FC6F-099F4258D7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7328" y="5570721"/>
            <a:ext cx="582724" cy="466179"/>
          </a:xfrm>
          <a:prstGeom prst="rect">
            <a:avLst/>
          </a:prstGeom>
        </p:spPr>
      </p:pic>
      <p:pic>
        <p:nvPicPr>
          <p:cNvPr id="20" name="Picture 19" descr="A red logo with a triangle and a letter&#10;&#10;Description automatically generated">
            <a:extLst>
              <a:ext uri="{FF2B5EF4-FFF2-40B4-BE49-F238E27FC236}">
                <a16:creationId xmlns:a16="http://schemas.microsoft.com/office/drawing/2014/main" id="{AF498CCC-E270-6B7F-E3F3-B3765AE2C8DC}"/>
              </a:ext>
            </a:extLst>
          </p:cNvPr>
          <p:cNvPicPr>
            <a:picLocks noChangeAspect="1"/>
          </p:cNvPicPr>
          <p:nvPr/>
        </p:nvPicPr>
        <p:blipFill rotWithShape="1">
          <a:blip r:embed="rId4">
            <a:extLst>
              <a:ext uri="{28A0092B-C50C-407E-A947-70E740481C1C}">
                <a14:useLocalDpi xmlns:a14="http://schemas.microsoft.com/office/drawing/2010/main" val="0"/>
              </a:ext>
            </a:extLst>
          </a:blip>
          <a:srcRect t="33772" b="34899"/>
          <a:stretch/>
        </p:blipFill>
        <p:spPr>
          <a:xfrm>
            <a:off x="7408924" y="5899439"/>
            <a:ext cx="1211842" cy="379654"/>
          </a:xfrm>
          <a:prstGeom prst="rect">
            <a:avLst/>
          </a:prstGeom>
        </p:spPr>
      </p:pic>
      <p:pic>
        <p:nvPicPr>
          <p:cNvPr id="22" name="Picture 21" descr="A blue and white logo&#10;&#10;Description automatically generated">
            <a:extLst>
              <a:ext uri="{FF2B5EF4-FFF2-40B4-BE49-F238E27FC236}">
                <a16:creationId xmlns:a16="http://schemas.microsoft.com/office/drawing/2014/main" id="{1CC0FD9F-4364-D514-ADD9-79ED1F3C29C3}"/>
              </a:ext>
            </a:extLst>
          </p:cNvPr>
          <p:cNvPicPr>
            <a:picLocks noChangeAspect="1"/>
          </p:cNvPicPr>
          <p:nvPr/>
        </p:nvPicPr>
        <p:blipFill rotWithShape="1">
          <a:blip r:embed="rId5">
            <a:extLst>
              <a:ext uri="{28A0092B-C50C-407E-A947-70E740481C1C}">
                <a14:useLocalDpi xmlns:a14="http://schemas.microsoft.com/office/drawing/2010/main" val="0"/>
              </a:ext>
            </a:extLst>
          </a:blip>
          <a:srcRect t="14082" b="12211"/>
          <a:stretch/>
        </p:blipFill>
        <p:spPr>
          <a:xfrm>
            <a:off x="7339117" y="5086135"/>
            <a:ext cx="905374" cy="500884"/>
          </a:xfrm>
          <a:prstGeom prst="rect">
            <a:avLst/>
          </a:prstGeom>
        </p:spPr>
      </p:pic>
      <p:pic>
        <p:nvPicPr>
          <p:cNvPr id="24" name="Picture 23" descr="A blue and black logo&#10;&#10;Description automatically generated">
            <a:extLst>
              <a:ext uri="{FF2B5EF4-FFF2-40B4-BE49-F238E27FC236}">
                <a16:creationId xmlns:a16="http://schemas.microsoft.com/office/drawing/2014/main" id="{93CF251C-8A81-10C8-D7F9-ED10157035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55487" y="5539039"/>
            <a:ext cx="725675" cy="408381"/>
          </a:xfrm>
          <a:prstGeom prst="rect">
            <a:avLst/>
          </a:prstGeom>
        </p:spPr>
      </p:pic>
      <p:pic>
        <p:nvPicPr>
          <p:cNvPr id="26" name="Picture 25" descr="A close-up of a logo&#10;&#10;Description automatically generated">
            <a:extLst>
              <a:ext uri="{FF2B5EF4-FFF2-40B4-BE49-F238E27FC236}">
                <a16:creationId xmlns:a16="http://schemas.microsoft.com/office/drawing/2014/main" id="{2B72AA6A-BB5E-CCAC-01D7-9ABC3900D8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8845" y="4996564"/>
            <a:ext cx="1584038" cy="528013"/>
          </a:xfrm>
          <a:prstGeom prst="rect">
            <a:avLst/>
          </a:prstGeom>
        </p:spPr>
      </p:pic>
      <p:cxnSp>
        <p:nvCxnSpPr>
          <p:cNvPr id="28" name="Straight Connector 27">
            <a:extLst>
              <a:ext uri="{FF2B5EF4-FFF2-40B4-BE49-F238E27FC236}">
                <a16:creationId xmlns:a16="http://schemas.microsoft.com/office/drawing/2014/main" id="{056C793A-6D63-AC66-F445-5208A9574216}"/>
              </a:ext>
            </a:extLst>
          </p:cNvPr>
          <p:cNvCxnSpPr>
            <a:cxnSpLocks/>
          </p:cNvCxnSpPr>
          <p:nvPr/>
        </p:nvCxnSpPr>
        <p:spPr>
          <a:xfrm>
            <a:off x="320631" y="4512623"/>
            <a:ext cx="8502738"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30" name="Picture 29" descr="A close up of a logo&#10;&#10;Description automatically generated">
            <a:extLst>
              <a:ext uri="{FF2B5EF4-FFF2-40B4-BE49-F238E27FC236}">
                <a16:creationId xmlns:a16="http://schemas.microsoft.com/office/drawing/2014/main" id="{15796306-3502-42EF-259F-A8328858F5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52696" y="5152417"/>
            <a:ext cx="868245" cy="297307"/>
          </a:xfrm>
          <a:prstGeom prst="rect">
            <a:avLst/>
          </a:prstGeom>
        </p:spPr>
      </p:pic>
      <p:pic>
        <p:nvPicPr>
          <p:cNvPr id="32" name="Picture 31" descr="A black and grey logo&#10;&#10;Description automatically generated">
            <a:extLst>
              <a:ext uri="{FF2B5EF4-FFF2-40B4-BE49-F238E27FC236}">
                <a16:creationId xmlns:a16="http://schemas.microsoft.com/office/drawing/2014/main" id="{9BEA5B84-2A8E-C7CA-8365-8F3B8BBE842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15713" y="5549368"/>
            <a:ext cx="954330" cy="316261"/>
          </a:xfrm>
          <a:prstGeom prst="rect">
            <a:avLst/>
          </a:prstGeom>
        </p:spPr>
      </p:pic>
      <p:pic>
        <p:nvPicPr>
          <p:cNvPr id="34" name="Picture 33" descr="A black text on a white background&#10;&#10;Description automatically generated">
            <a:extLst>
              <a:ext uri="{FF2B5EF4-FFF2-40B4-BE49-F238E27FC236}">
                <a16:creationId xmlns:a16="http://schemas.microsoft.com/office/drawing/2014/main" id="{38CB26A4-3570-97A5-3E45-45262267A989}"/>
              </a:ext>
            </a:extLst>
          </p:cNvPr>
          <p:cNvPicPr>
            <a:picLocks noChangeAspect="1"/>
          </p:cNvPicPr>
          <p:nvPr/>
        </p:nvPicPr>
        <p:blipFill rotWithShape="1">
          <a:blip r:embed="rId10">
            <a:extLst>
              <a:ext uri="{28A0092B-C50C-407E-A947-70E740481C1C}">
                <a14:useLocalDpi xmlns:a14="http://schemas.microsoft.com/office/drawing/2010/main" val="0"/>
              </a:ext>
            </a:extLst>
          </a:blip>
          <a:srcRect t="28725" b="30476"/>
          <a:stretch/>
        </p:blipFill>
        <p:spPr>
          <a:xfrm>
            <a:off x="3975599" y="5999580"/>
            <a:ext cx="1442547" cy="326972"/>
          </a:xfrm>
          <a:prstGeom prst="rect">
            <a:avLst/>
          </a:prstGeom>
        </p:spPr>
      </p:pic>
      <p:pic>
        <p:nvPicPr>
          <p:cNvPr id="36" name="Picture 35" descr="A black and grey logo&#10;&#10;Description automatically generated">
            <a:extLst>
              <a:ext uri="{FF2B5EF4-FFF2-40B4-BE49-F238E27FC236}">
                <a16:creationId xmlns:a16="http://schemas.microsoft.com/office/drawing/2014/main" id="{1AA7E881-7D27-C38E-345D-A64FAB4427A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39136" y="5062480"/>
            <a:ext cx="690885" cy="387244"/>
          </a:xfrm>
          <a:prstGeom prst="rect">
            <a:avLst/>
          </a:prstGeom>
        </p:spPr>
      </p:pic>
      <p:sp>
        <p:nvSpPr>
          <p:cNvPr id="38" name="TextBox 37">
            <a:extLst>
              <a:ext uri="{FF2B5EF4-FFF2-40B4-BE49-F238E27FC236}">
                <a16:creationId xmlns:a16="http://schemas.microsoft.com/office/drawing/2014/main" id="{D32760C3-9D32-FA4F-A7D0-21D053FD7DFF}"/>
              </a:ext>
            </a:extLst>
          </p:cNvPr>
          <p:cNvSpPr txBox="1"/>
          <p:nvPr/>
        </p:nvSpPr>
        <p:spPr>
          <a:xfrm>
            <a:off x="360604" y="5503414"/>
            <a:ext cx="952322" cy="646331"/>
          </a:xfrm>
          <a:prstGeom prst="rect">
            <a:avLst/>
          </a:prstGeom>
          <a:noFill/>
        </p:spPr>
        <p:txBody>
          <a:bodyPr wrap="square">
            <a:spAutoFit/>
          </a:bodyPr>
          <a:lstStyle/>
          <a:p>
            <a:pPr algn="ctr"/>
            <a:r>
              <a:rPr lang="en-US" sz="1800" b="1" i="1" cap="small" baseline="0">
                <a:latin typeface="+mn-lt"/>
              </a:rPr>
              <a:t>Pension Funds</a:t>
            </a:r>
            <a:endParaRPr lang="en-US"/>
          </a:p>
        </p:txBody>
      </p:sp>
    </p:spTree>
    <p:extLst>
      <p:ext uri="{BB962C8B-B14F-4D97-AF65-F5344CB8AC3E}">
        <p14:creationId xmlns:p14="http://schemas.microsoft.com/office/powerpoint/2010/main" val="43957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Private Credit Overview</a:t>
            </a:r>
          </a:p>
        </p:txBody>
      </p:sp>
      <p:sp>
        <p:nvSpPr>
          <p:cNvPr id="4" name="Rectangle 3">
            <a:extLst>
              <a:ext uri="{FF2B5EF4-FFF2-40B4-BE49-F238E27FC236}">
                <a16:creationId xmlns:a16="http://schemas.microsoft.com/office/drawing/2014/main" id="{C077483F-8BAB-D52D-1072-2B0E13FD4F35}"/>
              </a:ext>
            </a:extLst>
          </p:cNvPr>
          <p:cNvSpPr/>
          <p:nvPr/>
        </p:nvSpPr>
        <p:spPr>
          <a:xfrm>
            <a:off x="0" y="878775"/>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i="1" cap="small">
                <a:solidFill>
                  <a:schemeClr val="tx1"/>
                </a:solidFill>
              </a:rPr>
              <a:t>Non-Bank Lending</a:t>
            </a:r>
          </a:p>
        </p:txBody>
      </p:sp>
      <p:sp>
        <p:nvSpPr>
          <p:cNvPr id="5" name="Rectangle: Rounded Corners 6">
            <a:extLst>
              <a:ext uri="{FF2B5EF4-FFF2-40B4-BE49-F238E27FC236}">
                <a16:creationId xmlns:a16="http://schemas.microsoft.com/office/drawing/2014/main" id="{616E17CE-D04F-078E-E776-5FBC75EC757F}"/>
              </a:ext>
            </a:extLst>
          </p:cNvPr>
          <p:cNvSpPr/>
          <p:nvPr/>
        </p:nvSpPr>
        <p:spPr>
          <a:xfrm>
            <a:off x="320630" y="1842074"/>
            <a:ext cx="6293923"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t>Private Credit Funds</a:t>
            </a:r>
          </a:p>
        </p:txBody>
      </p:sp>
      <p:sp>
        <p:nvSpPr>
          <p:cNvPr id="7" name="TextBox 6">
            <a:extLst>
              <a:ext uri="{FF2B5EF4-FFF2-40B4-BE49-F238E27FC236}">
                <a16:creationId xmlns:a16="http://schemas.microsoft.com/office/drawing/2014/main" id="{57CA7893-11F1-D9D3-C1BE-9AF37FD6BF81}"/>
              </a:ext>
            </a:extLst>
          </p:cNvPr>
          <p:cNvSpPr txBox="1"/>
          <p:nvPr/>
        </p:nvSpPr>
        <p:spPr>
          <a:xfrm>
            <a:off x="320630" y="2351739"/>
            <a:ext cx="7991856" cy="1477328"/>
          </a:xfrm>
          <a:prstGeom prst="rect">
            <a:avLst/>
          </a:prstGeom>
          <a:noFill/>
        </p:spPr>
        <p:txBody>
          <a:bodyPr wrap="square">
            <a:spAutoFit/>
          </a:bodyPr>
          <a:lstStyle/>
          <a:p>
            <a:pPr marL="285750" indent="-285750">
              <a:buFont typeface="Arial"/>
              <a:buChar char="•"/>
            </a:pPr>
            <a:r>
              <a:rPr lang="en-US" b="1" i="1" cap="small" dirty="0">
                <a:cs typeface="Calibri" panose="020F0502020204030204"/>
              </a:rPr>
              <a:t>Private Credit refers to non-bank lending to a privately held company.</a:t>
            </a:r>
          </a:p>
          <a:p>
            <a:pPr marL="285750" indent="-285750">
              <a:buFont typeface="Arial"/>
              <a:buChar char="•"/>
            </a:pPr>
            <a:r>
              <a:rPr lang="en-US" b="1" i="1" cap="small" dirty="0">
                <a:cs typeface="Calibri" panose="020F0502020204030204"/>
              </a:rPr>
              <a:t>These corporate loans are high yielding illiquid investments.</a:t>
            </a:r>
          </a:p>
          <a:p>
            <a:pPr marL="285750" indent="-285750">
              <a:buFont typeface="Arial"/>
              <a:buChar char="•"/>
            </a:pPr>
            <a:r>
              <a:rPr lang="en-US" b="1" i="1" cap="small" dirty="0">
                <a:cs typeface="Calibri" panose="020F0502020204030204"/>
              </a:rPr>
              <a:t>Investor lends money to the company in exchange for interest payments.</a:t>
            </a:r>
          </a:p>
          <a:p>
            <a:pPr marL="285750" indent="-285750">
              <a:buFont typeface="Arial"/>
              <a:buChar char="•"/>
            </a:pPr>
            <a:r>
              <a:rPr lang="en-US" b="1" i="1" cap="small" dirty="0">
                <a:cs typeface="Calibri" panose="020F0502020204030204"/>
              </a:rPr>
              <a:t>Also known as “Direct Lending” or “Private Lending”.</a:t>
            </a:r>
          </a:p>
          <a:p>
            <a:pPr marL="285750" indent="-285750">
              <a:buFont typeface="Arial"/>
              <a:buChar char="•"/>
            </a:pPr>
            <a:endParaRPr lang="en-US" b="1" i="1" cap="small" dirty="0">
              <a:cs typeface="Calibri" panose="020F0502020204030204"/>
            </a:endParaRPr>
          </a:p>
        </p:txBody>
      </p:sp>
      <p:sp>
        <p:nvSpPr>
          <p:cNvPr id="10" name="Rectangle: Rounded Corners 6">
            <a:extLst>
              <a:ext uri="{FF2B5EF4-FFF2-40B4-BE49-F238E27FC236}">
                <a16:creationId xmlns:a16="http://schemas.microsoft.com/office/drawing/2014/main" id="{D9991F42-0C13-360C-BB7C-BDFFAB07AB21}"/>
              </a:ext>
            </a:extLst>
          </p:cNvPr>
          <p:cNvSpPr/>
          <p:nvPr/>
        </p:nvSpPr>
        <p:spPr>
          <a:xfrm>
            <a:off x="320630" y="4000375"/>
            <a:ext cx="5333087" cy="359155"/>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t>Who do they lend to?</a:t>
            </a:r>
          </a:p>
        </p:txBody>
      </p:sp>
      <p:sp>
        <p:nvSpPr>
          <p:cNvPr id="15" name="TextBox 14">
            <a:extLst>
              <a:ext uri="{FF2B5EF4-FFF2-40B4-BE49-F238E27FC236}">
                <a16:creationId xmlns:a16="http://schemas.microsoft.com/office/drawing/2014/main" id="{6FCA3312-91BF-A2EA-084C-14A53E1B67F8}"/>
              </a:ext>
            </a:extLst>
          </p:cNvPr>
          <p:cNvSpPr txBox="1"/>
          <p:nvPr/>
        </p:nvSpPr>
        <p:spPr>
          <a:xfrm>
            <a:off x="320630" y="4460712"/>
            <a:ext cx="5264094" cy="2031325"/>
          </a:xfrm>
          <a:prstGeom prst="rect">
            <a:avLst/>
          </a:prstGeom>
          <a:noFill/>
        </p:spPr>
        <p:txBody>
          <a:bodyPr wrap="square">
            <a:spAutoFit/>
          </a:bodyPr>
          <a:lstStyle/>
          <a:p>
            <a:pPr marL="285750" indent="-285750">
              <a:buFont typeface="Arial" panose="020B0604020202020204" pitchFamily="34" charset="0"/>
              <a:buChar char="•"/>
            </a:pPr>
            <a:r>
              <a:rPr lang="en-US" b="1" i="1" cap="small">
                <a:cs typeface="Calibri" panose="020F0502020204030204"/>
              </a:rPr>
              <a:t>Lending money to companies that are too small to raise money through corporate bonds and unable to get loans from banks.</a:t>
            </a:r>
          </a:p>
          <a:p>
            <a:pPr marL="285750" indent="-285750">
              <a:buFont typeface="Arial" panose="020B0604020202020204" pitchFamily="34" charset="0"/>
              <a:buChar char="•"/>
            </a:pPr>
            <a:r>
              <a:rPr lang="en-US" b="1" i="1" cap="small">
                <a:cs typeface="Calibri" panose="020F0502020204030204"/>
              </a:rPr>
              <a:t>Companies willing to pay higher interest rate to get money faster and have more flexibility.</a:t>
            </a:r>
          </a:p>
          <a:p>
            <a:pPr marL="285750" indent="-285750">
              <a:buFont typeface="Arial" panose="020B0604020202020204" pitchFamily="34" charset="0"/>
              <a:buChar char="•"/>
            </a:pPr>
            <a:r>
              <a:rPr lang="en-US" b="1" i="1" cap="small">
                <a:cs typeface="Calibri" panose="020F0502020204030204"/>
              </a:rPr>
              <a:t>Loans to companies that do not have typical needs or good credit ratings.</a:t>
            </a:r>
            <a:endParaRPr lang="en-US" b="1" i="1" cap="small"/>
          </a:p>
        </p:txBody>
      </p:sp>
      <p:pic>
        <p:nvPicPr>
          <p:cNvPr id="3074" name="Picture 2" descr="Private Credit's Rising Tide: Wealthy Investors Drive a New Wave of Alternative  Lending">
            <a:extLst>
              <a:ext uri="{FF2B5EF4-FFF2-40B4-BE49-F238E27FC236}">
                <a16:creationId xmlns:a16="http://schemas.microsoft.com/office/drawing/2014/main" id="{41746BE0-AF2E-AC8E-C38A-28AD928782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394" y="4451394"/>
            <a:ext cx="3204916" cy="1799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209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F82F11-C86E-1A5C-3A2C-19265502244A}"/>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Real Estate Overview</a:t>
            </a:r>
          </a:p>
        </p:txBody>
      </p:sp>
      <p:sp>
        <p:nvSpPr>
          <p:cNvPr id="4" name="Rectangle 3">
            <a:extLst>
              <a:ext uri="{FF2B5EF4-FFF2-40B4-BE49-F238E27FC236}">
                <a16:creationId xmlns:a16="http://schemas.microsoft.com/office/drawing/2014/main" id="{5686EEE9-E0F1-1D8D-1678-7920A2170C02}"/>
              </a:ext>
            </a:extLst>
          </p:cNvPr>
          <p:cNvSpPr/>
          <p:nvPr/>
        </p:nvSpPr>
        <p:spPr>
          <a:xfrm>
            <a:off x="0" y="878775"/>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a:solidFill>
                  <a:schemeClr val="tx1"/>
                </a:solidFill>
              </a:rPr>
              <a:t> buying, managing, or developing properties to generate income</a:t>
            </a:r>
          </a:p>
        </p:txBody>
      </p:sp>
      <p:sp>
        <p:nvSpPr>
          <p:cNvPr id="5" name="TextBox 4">
            <a:extLst>
              <a:ext uri="{FF2B5EF4-FFF2-40B4-BE49-F238E27FC236}">
                <a16:creationId xmlns:a16="http://schemas.microsoft.com/office/drawing/2014/main" id="{3DACD492-2556-5B58-8048-6736AD1264A1}"/>
              </a:ext>
            </a:extLst>
          </p:cNvPr>
          <p:cNvSpPr txBox="1"/>
          <p:nvPr/>
        </p:nvSpPr>
        <p:spPr>
          <a:xfrm>
            <a:off x="85001" y="2247116"/>
            <a:ext cx="634695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b="1" i="1" cap="small">
                <a:cs typeface="Arial"/>
              </a:rPr>
              <a:t>Investments in real estate properties that generate income for investment purposes rather than as a primary residence.</a:t>
            </a:r>
            <a:endParaRPr lang="en-US" b="1" i="1" cap="small">
              <a:cs typeface="Calibri" panose="020F0502020204030204"/>
            </a:endParaRPr>
          </a:p>
          <a:p>
            <a:pPr algn="just"/>
            <a:endParaRPr lang="en-US" b="1" i="1" cap="small">
              <a:cs typeface="Arial"/>
            </a:endParaRPr>
          </a:p>
          <a:p>
            <a:pPr marL="342900" indent="-342900" algn="just">
              <a:buFont typeface="Arial"/>
              <a:buChar char="•"/>
            </a:pPr>
            <a:r>
              <a:rPr lang="en-US" b="1" i="1" cap="small">
                <a:cs typeface="Arial"/>
              </a:rPr>
              <a:t>Investment groups includes institutional REITs and Private Equity Real Estate firms.</a:t>
            </a:r>
            <a:endParaRPr lang="en-US" b="1" i="1" cap="small">
              <a:cs typeface="Calibri" panose="020F0502020204030204"/>
            </a:endParaRPr>
          </a:p>
          <a:p>
            <a:pPr algn="just">
              <a:buFont typeface="Arial"/>
              <a:buChar char="•"/>
            </a:pPr>
            <a:endParaRPr lang="en-US" sz="2200" b="1" i="1" cap="small">
              <a:cs typeface="Arial"/>
            </a:endParaRPr>
          </a:p>
        </p:txBody>
      </p:sp>
      <p:sp>
        <p:nvSpPr>
          <p:cNvPr id="6" name="TextBox 5">
            <a:extLst>
              <a:ext uri="{FF2B5EF4-FFF2-40B4-BE49-F238E27FC236}">
                <a16:creationId xmlns:a16="http://schemas.microsoft.com/office/drawing/2014/main" id="{C66C4860-BBF0-D9D4-368F-30D5126A72F4}"/>
              </a:ext>
            </a:extLst>
          </p:cNvPr>
          <p:cNvSpPr txBox="1"/>
          <p:nvPr/>
        </p:nvSpPr>
        <p:spPr>
          <a:xfrm>
            <a:off x="2631778" y="4498245"/>
            <a:ext cx="629392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b="1" i="1" cap="small">
                <a:ea typeface="+mn-lt"/>
                <a:cs typeface="+mn-lt"/>
              </a:rPr>
              <a:t>Real estate firms often employ a combination of strategies to maximize their returns while managing risk in the dynamic real estate market.</a:t>
            </a:r>
            <a:endParaRPr lang="en-US" b="1" i="1" cap="small">
              <a:cs typeface="Arial"/>
            </a:endParaRPr>
          </a:p>
          <a:p>
            <a:pPr algn="just"/>
            <a:endParaRPr lang="en-US" b="1" i="1" cap="small">
              <a:cs typeface="Calibri"/>
            </a:endParaRPr>
          </a:p>
          <a:p>
            <a:pPr marL="342900" indent="-342900" algn="just">
              <a:buFont typeface="Arial"/>
              <a:buChar char="•"/>
            </a:pPr>
            <a:r>
              <a:rPr lang="en-US" b="1" i="1" cap="small">
                <a:cs typeface="Arial"/>
              </a:rPr>
              <a:t>Returns are generated by rental income asset appreciation, and building equity.</a:t>
            </a:r>
            <a:endParaRPr lang="en-US" b="1" i="1" cap="small">
              <a:cs typeface="Calibri" panose="020F0502020204030204"/>
            </a:endParaRPr>
          </a:p>
        </p:txBody>
      </p:sp>
      <p:sp>
        <p:nvSpPr>
          <p:cNvPr id="10" name="Rectangle: Rounded Corners 6">
            <a:extLst>
              <a:ext uri="{FF2B5EF4-FFF2-40B4-BE49-F238E27FC236}">
                <a16:creationId xmlns:a16="http://schemas.microsoft.com/office/drawing/2014/main" id="{2F4DDBE1-F1F2-885F-D40E-5A9C409D5396}"/>
              </a:ext>
            </a:extLst>
          </p:cNvPr>
          <p:cNvSpPr/>
          <p:nvPr/>
        </p:nvSpPr>
        <p:spPr>
          <a:xfrm>
            <a:off x="138033" y="1792912"/>
            <a:ext cx="6293923"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t>Real Easte</a:t>
            </a:r>
          </a:p>
        </p:txBody>
      </p:sp>
      <p:sp>
        <p:nvSpPr>
          <p:cNvPr id="11" name="Rectangle: Rounded Corners 6">
            <a:extLst>
              <a:ext uri="{FF2B5EF4-FFF2-40B4-BE49-F238E27FC236}">
                <a16:creationId xmlns:a16="http://schemas.microsoft.com/office/drawing/2014/main" id="{55072573-11B8-0FB0-A2BD-7025EEC901B2}"/>
              </a:ext>
            </a:extLst>
          </p:cNvPr>
          <p:cNvSpPr/>
          <p:nvPr/>
        </p:nvSpPr>
        <p:spPr>
          <a:xfrm>
            <a:off x="2549145" y="4062998"/>
            <a:ext cx="6293923"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t>How do they Achieve a return?</a:t>
            </a:r>
          </a:p>
        </p:txBody>
      </p:sp>
      <p:pic>
        <p:nvPicPr>
          <p:cNvPr id="8" name="Picture 7" descr="A hands shaking with a couple of houses&#10;&#10;Description automatically generated">
            <a:extLst>
              <a:ext uri="{FF2B5EF4-FFF2-40B4-BE49-F238E27FC236}">
                <a16:creationId xmlns:a16="http://schemas.microsoft.com/office/drawing/2014/main" id="{BC5CF7E0-2440-B7D5-C0EE-F46CEEC97720}"/>
              </a:ext>
            </a:extLst>
          </p:cNvPr>
          <p:cNvPicPr>
            <a:picLocks noChangeAspect="1"/>
          </p:cNvPicPr>
          <p:nvPr/>
        </p:nvPicPr>
        <p:blipFill rotWithShape="1">
          <a:blip r:embed="rId3">
            <a:extLst>
              <a:ext uri="{28A0092B-C50C-407E-A947-70E740481C1C}">
                <a14:useLocalDpi xmlns:a14="http://schemas.microsoft.com/office/drawing/2010/main" val="0"/>
              </a:ext>
            </a:extLst>
          </a:blip>
          <a:srcRect l="9325" r="10619"/>
          <a:stretch/>
        </p:blipFill>
        <p:spPr>
          <a:xfrm>
            <a:off x="138033" y="4062998"/>
            <a:ext cx="2328480" cy="2146300"/>
          </a:xfrm>
          <a:prstGeom prst="roundRect">
            <a:avLst/>
          </a:prstGeom>
          <a:ln>
            <a:noFill/>
          </a:ln>
        </p:spPr>
      </p:pic>
      <p:pic>
        <p:nvPicPr>
          <p:cNvPr id="13" name="Picture 12" descr="A stack of coins with small houses on top&#10;&#10;Description automatically generated">
            <a:extLst>
              <a:ext uri="{FF2B5EF4-FFF2-40B4-BE49-F238E27FC236}">
                <a16:creationId xmlns:a16="http://schemas.microsoft.com/office/drawing/2014/main" id="{3B7D488A-5D6F-F68F-62A7-347F4465E3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7200" y="1815049"/>
            <a:ext cx="2338501" cy="2071648"/>
          </a:xfrm>
          <a:prstGeom prst="roundRect">
            <a:avLst/>
          </a:prstGeom>
          <a:ln>
            <a:noFill/>
          </a:ln>
        </p:spPr>
      </p:pic>
    </p:spTree>
    <p:extLst>
      <p:ext uri="{BB962C8B-B14F-4D97-AF65-F5344CB8AC3E}">
        <p14:creationId xmlns:p14="http://schemas.microsoft.com/office/powerpoint/2010/main" val="163341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6BA1EE-EEC4-5B20-B30A-1BEF5701D9AD}"/>
              </a:ext>
            </a:extLst>
          </p:cNvPr>
          <p:cNvSpPr/>
          <p:nvPr/>
        </p:nvSpPr>
        <p:spPr>
          <a:xfrm>
            <a:off x="0" y="878775"/>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a:solidFill>
                  <a:schemeClr val="tx1"/>
                </a:solidFill>
              </a:rPr>
              <a:t>Providing liquidity to current investors, gaining access to mature assets</a:t>
            </a:r>
          </a:p>
        </p:txBody>
      </p:sp>
      <p:sp>
        <p:nvSpPr>
          <p:cNvPr id="6" name="TextBox 5">
            <a:extLst>
              <a:ext uri="{FF2B5EF4-FFF2-40B4-BE49-F238E27FC236}">
                <a16:creationId xmlns:a16="http://schemas.microsoft.com/office/drawing/2014/main" id="{9C358700-A116-FC5C-C2F3-73C837487845}"/>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baseline="0">
                <a:latin typeface="+mn-lt"/>
              </a:rPr>
              <a:t>Secondaries Overview</a:t>
            </a:r>
          </a:p>
        </p:txBody>
      </p:sp>
      <p:sp>
        <p:nvSpPr>
          <p:cNvPr id="7" name="Rectangle: Rounded Corners 6">
            <a:extLst>
              <a:ext uri="{FF2B5EF4-FFF2-40B4-BE49-F238E27FC236}">
                <a16:creationId xmlns:a16="http://schemas.microsoft.com/office/drawing/2014/main" id="{396A7F15-04E3-77C0-69F7-8FEAC21E9EAA}"/>
              </a:ext>
            </a:extLst>
          </p:cNvPr>
          <p:cNvSpPr/>
          <p:nvPr/>
        </p:nvSpPr>
        <p:spPr>
          <a:xfrm>
            <a:off x="114300" y="1842074"/>
            <a:ext cx="4275223"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solidFill>
                  <a:schemeClr val="bg1"/>
                </a:solidFill>
              </a:rPr>
              <a:t>LP-Led Secondaries</a:t>
            </a:r>
            <a:endParaRPr lang="en-US" sz="2000" b="1" i="1" cap="small">
              <a:solidFill>
                <a:schemeClr val="bg1"/>
              </a:solidFill>
              <a:cs typeface="Calibri"/>
            </a:endParaRPr>
          </a:p>
        </p:txBody>
      </p:sp>
      <p:sp>
        <p:nvSpPr>
          <p:cNvPr id="8" name="Rectangle: Rounded Corners 6">
            <a:extLst>
              <a:ext uri="{FF2B5EF4-FFF2-40B4-BE49-F238E27FC236}">
                <a16:creationId xmlns:a16="http://schemas.microsoft.com/office/drawing/2014/main" id="{C41414D4-83EC-A8DA-DB7D-0CB0BC35BA01}"/>
              </a:ext>
            </a:extLst>
          </p:cNvPr>
          <p:cNvSpPr/>
          <p:nvPr/>
        </p:nvSpPr>
        <p:spPr>
          <a:xfrm>
            <a:off x="4725030" y="1842074"/>
            <a:ext cx="4304670"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solidFill>
                  <a:schemeClr val="bg1"/>
                </a:solidFill>
              </a:rPr>
              <a:t>GP</a:t>
            </a:r>
            <a:r>
              <a:rPr lang="en-US" sz="2000" b="1" i="1" cap="small">
                <a:solidFill>
                  <a:schemeClr val="bg1"/>
                </a:solidFill>
                <a:cs typeface="Calibri"/>
              </a:rPr>
              <a:t>-</a:t>
            </a:r>
            <a:r>
              <a:rPr lang="en-US" sz="2000" b="1" i="1" cap="small">
                <a:cs typeface="Calibri"/>
              </a:rPr>
              <a:t>Led Secondaries</a:t>
            </a:r>
            <a:endParaRPr lang="en-US" sz="2000" b="1" i="1" cap="small"/>
          </a:p>
        </p:txBody>
      </p:sp>
      <p:sp>
        <p:nvSpPr>
          <p:cNvPr id="9" name="TextBox 8">
            <a:extLst>
              <a:ext uri="{FF2B5EF4-FFF2-40B4-BE49-F238E27FC236}">
                <a16:creationId xmlns:a16="http://schemas.microsoft.com/office/drawing/2014/main" id="{6479C7CF-B3AE-ACA5-C536-4FF3E10F0499}"/>
              </a:ext>
            </a:extLst>
          </p:cNvPr>
          <p:cNvSpPr txBox="1"/>
          <p:nvPr/>
        </p:nvSpPr>
        <p:spPr>
          <a:xfrm>
            <a:off x="160672" y="2345377"/>
            <a:ext cx="421478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i="1" cap="small">
                <a:cs typeface="Calibri" panose="020F0502020204030204"/>
              </a:rPr>
              <a:t>In a LP-led transaction, a limited partner sells its commitment in a fund to a secondary buyer, who then takes on the rights and obligations of that LP in the existing fund.</a:t>
            </a:r>
          </a:p>
        </p:txBody>
      </p:sp>
      <p:cxnSp>
        <p:nvCxnSpPr>
          <p:cNvPr id="23" name="Straight Connector 22">
            <a:extLst>
              <a:ext uri="{FF2B5EF4-FFF2-40B4-BE49-F238E27FC236}">
                <a16:creationId xmlns:a16="http://schemas.microsoft.com/office/drawing/2014/main" id="{D32DEC3E-6306-ABA0-759A-6D8B50CBFC8A}"/>
              </a:ext>
            </a:extLst>
          </p:cNvPr>
          <p:cNvCxnSpPr>
            <a:cxnSpLocks/>
          </p:cNvCxnSpPr>
          <p:nvPr/>
        </p:nvCxnSpPr>
        <p:spPr>
          <a:xfrm>
            <a:off x="114301" y="4838700"/>
            <a:ext cx="891539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AB7CC217-3D5C-8E77-868D-799D6FF4A846}"/>
              </a:ext>
            </a:extLst>
          </p:cNvPr>
          <p:cNvSpPr/>
          <p:nvPr/>
        </p:nvSpPr>
        <p:spPr>
          <a:xfrm>
            <a:off x="305531" y="5065859"/>
            <a:ext cx="1537370" cy="61219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New Investors</a:t>
            </a:r>
          </a:p>
        </p:txBody>
      </p:sp>
      <p:sp>
        <p:nvSpPr>
          <p:cNvPr id="31" name="Arrow: Right 30">
            <a:extLst>
              <a:ext uri="{FF2B5EF4-FFF2-40B4-BE49-F238E27FC236}">
                <a16:creationId xmlns:a16="http://schemas.microsoft.com/office/drawing/2014/main" id="{98CB925D-1641-966D-3DEF-69B2751F93E4}"/>
              </a:ext>
            </a:extLst>
          </p:cNvPr>
          <p:cNvSpPr/>
          <p:nvPr/>
        </p:nvSpPr>
        <p:spPr>
          <a:xfrm>
            <a:off x="2022078" y="5593277"/>
            <a:ext cx="1009402" cy="771896"/>
          </a:xfrm>
          <a:prstGeom prst="rightArrow">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Capital</a:t>
            </a:r>
          </a:p>
        </p:txBody>
      </p:sp>
      <p:sp>
        <p:nvSpPr>
          <p:cNvPr id="33" name="Rectangle: Rounded Corners 32">
            <a:extLst>
              <a:ext uri="{FF2B5EF4-FFF2-40B4-BE49-F238E27FC236}">
                <a16:creationId xmlns:a16="http://schemas.microsoft.com/office/drawing/2014/main" id="{F677DDC9-E3A6-1D15-00B9-3E9DE8B97941}"/>
              </a:ext>
            </a:extLst>
          </p:cNvPr>
          <p:cNvSpPr/>
          <p:nvPr/>
        </p:nvSpPr>
        <p:spPr>
          <a:xfrm>
            <a:off x="3210656" y="5065859"/>
            <a:ext cx="1885218" cy="612198"/>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Current  Investors</a:t>
            </a:r>
          </a:p>
        </p:txBody>
      </p:sp>
      <p:sp>
        <p:nvSpPr>
          <p:cNvPr id="35" name="Equals 34">
            <a:extLst>
              <a:ext uri="{FF2B5EF4-FFF2-40B4-BE49-F238E27FC236}">
                <a16:creationId xmlns:a16="http://schemas.microsoft.com/office/drawing/2014/main" id="{D9DC75B4-8B1D-7740-C815-89A8E58D68F8}"/>
              </a:ext>
            </a:extLst>
          </p:cNvPr>
          <p:cNvSpPr/>
          <p:nvPr/>
        </p:nvSpPr>
        <p:spPr>
          <a:xfrm>
            <a:off x="5280303" y="5357679"/>
            <a:ext cx="1009402" cy="771893"/>
          </a:xfrm>
          <a:prstGeom prst="mathEqual">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Rectangle: Rounded Corners 35">
            <a:extLst>
              <a:ext uri="{FF2B5EF4-FFF2-40B4-BE49-F238E27FC236}">
                <a16:creationId xmlns:a16="http://schemas.microsoft.com/office/drawing/2014/main" id="{F3539408-0FF0-A2A0-1605-B8E4E9BC758F}"/>
              </a:ext>
            </a:extLst>
          </p:cNvPr>
          <p:cNvSpPr/>
          <p:nvPr/>
        </p:nvSpPr>
        <p:spPr>
          <a:xfrm>
            <a:off x="6463629" y="5085537"/>
            <a:ext cx="2385963" cy="1137330"/>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b="1" i="1"/>
              <a:t>New Investors have ownership in current portfolio companies</a:t>
            </a:r>
          </a:p>
        </p:txBody>
      </p:sp>
      <p:sp>
        <p:nvSpPr>
          <p:cNvPr id="40" name="TextBox 39">
            <a:extLst>
              <a:ext uri="{FF2B5EF4-FFF2-40B4-BE49-F238E27FC236}">
                <a16:creationId xmlns:a16="http://schemas.microsoft.com/office/drawing/2014/main" id="{CB195EDE-DE07-6D00-C19A-0DAC5C5B26B6}"/>
              </a:ext>
            </a:extLst>
          </p:cNvPr>
          <p:cNvSpPr txBox="1"/>
          <p:nvPr/>
        </p:nvSpPr>
        <p:spPr>
          <a:xfrm>
            <a:off x="305530" y="5743626"/>
            <a:ext cx="1537370" cy="646331"/>
          </a:xfrm>
          <a:prstGeom prst="rect">
            <a:avLst/>
          </a:prstGeom>
          <a:noFill/>
        </p:spPr>
        <p:txBody>
          <a:bodyPr wrap="square">
            <a:spAutoFit/>
          </a:bodyPr>
          <a:lstStyle/>
          <a:p>
            <a:pPr algn="ctr"/>
            <a:r>
              <a:rPr lang="en-US" b="1" i="1" cap="small"/>
              <a:t>institutional</a:t>
            </a:r>
            <a:r>
              <a:rPr lang="en-US" sz="1800" b="1" i="1" cap="small" baseline="0">
                <a:latin typeface="+mn-lt"/>
              </a:rPr>
              <a:t> Funds</a:t>
            </a:r>
            <a:endParaRPr lang="en-US"/>
          </a:p>
        </p:txBody>
      </p:sp>
      <p:sp>
        <p:nvSpPr>
          <p:cNvPr id="41" name="TextBox 40">
            <a:extLst>
              <a:ext uri="{FF2B5EF4-FFF2-40B4-BE49-F238E27FC236}">
                <a16:creationId xmlns:a16="http://schemas.microsoft.com/office/drawing/2014/main" id="{46B5E503-70E1-2508-0F9B-E4B610AAB142}"/>
              </a:ext>
            </a:extLst>
          </p:cNvPr>
          <p:cNvSpPr txBox="1"/>
          <p:nvPr/>
        </p:nvSpPr>
        <p:spPr>
          <a:xfrm>
            <a:off x="3384580" y="5743626"/>
            <a:ext cx="1537370" cy="646331"/>
          </a:xfrm>
          <a:prstGeom prst="rect">
            <a:avLst/>
          </a:prstGeom>
          <a:noFill/>
        </p:spPr>
        <p:txBody>
          <a:bodyPr wrap="square">
            <a:spAutoFit/>
          </a:bodyPr>
          <a:lstStyle/>
          <a:p>
            <a:pPr algn="ctr"/>
            <a:r>
              <a:rPr lang="en-US" b="1" i="1" cap="small"/>
              <a:t>institutional</a:t>
            </a:r>
            <a:r>
              <a:rPr lang="en-US" sz="1800" b="1" i="1" cap="small" baseline="0">
                <a:latin typeface="+mn-lt"/>
              </a:rPr>
              <a:t> Funds</a:t>
            </a:r>
            <a:endParaRPr lang="en-US"/>
          </a:p>
        </p:txBody>
      </p:sp>
      <p:sp>
        <p:nvSpPr>
          <p:cNvPr id="42" name="TextBox 41">
            <a:extLst>
              <a:ext uri="{FF2B5EF4-FFF2-40B4-BE49-F238E27FC236}">
                <a16:creationId xmlns:a16="http://schemas.microsoft.com/office/drawing/2014/main" id="{67C8B8F2-F520-B857-764C-93FE90E5DDF2}"/>
              </a:ext>
            </a:extLst>
          </p:cNvPr>
          <p:cNvSpPr txBox="1"/>
          <p:nvPr/>
        </p:nvSpPr>
        <p:spPr>
          <a:xfrm>
            <a:off x="2132880" y="5015424"/>
            <a:ext cx="787798" cy="553998"/>
          </a:xfrm>
          <a:prstGeom prst="rect">
            <a:avLst/>
          </a:prstGeom>
          <a:noFill/>
        </p:spPr>
        <p:txBody>
          <a:bodyPr wrap="square" rtlCol="0">
            <a:spAutoFit/>
          </a:bodyPr>
          <a:lstStyle/>
          <a:p>
            <a:r>
              <a:rPr lang="en-US" sz="3000" b="1">
                <a:solidFill>
                  <a:srgbClr val="48604A"/>
                </a:solidFill>
              </a:rPr>
              <a:t>$$$</a:t>
            </a:r>
          </a:p>
        </p:txBody>
      </p:sp>
      <p:sp>
        <p:nvSpPr>
          <p:cNvPr id="2" name="TextBox 1">
            <a:extLst>
              <a:ext uri="{FF2B5EF4-FFF2-40B4-BE49-F238E27FC236}">
                <a16:creationId xmlns:a16="http://schemas.microsoft.com/office/drawing/2014/main" id="{F615204C-0C65-62EC-75AF-ECD0D861E036}"/>
              </a:ext>
            </a:extLst>
          </p:cNvPr>
          <p:cNvSpPr txBox="1"/>
          <p:nvPr/>
        </p:nvSpPr>
        <p:spPr>
          <a:xfrm>
            <a:off x="4725030" y="2329923"/>
            <a:ext cx="421478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i="1" cap="small">
                <a:cs typeface="Calibri" panose="020F0502020204030204"/>
              </a:rPr>
              <a:t> In a GP-led transaction, specifically a GP-led single-asset continuation transaction, an asset or portfolio company is transferred from one vehicle to another vehicle, which can offer access to both additional capital and additional time to execute a value-creation plan.</a:t>
            </a:r>
          </a:p>
        </p:txBody>
      </p:sp>
    </p:spTree>
    <p:extLst>
      <p:ext uri="{BB962C8B-B14F-4D97-AF65-F5344CB8AC3E}">
        <p14:creationId xmlns:p14="http://schemas.microsoft.com/office/powerpoint/2010/main" val="4029152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946F48-93F6-BBBE-0D66-67C9B54E0F4B}"/>
              </a:ext>
            </a:extLst>
          </p:cNvPr>
          <p:cNvSpPr/>
          <p:nvPr/>
        </p:nvSpPr>
        <p:spPr>
          <a:xfrm>
            <a:off x="0" y="878775"/>
            <a:ext cx="9144000" cy="8156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i="1" cap="small">
                <a:solidFill>
                  <a:schemeClr val="tx1"/>
                </a:solidFill>
                <a:ea typeface="Calibri"/>
                <a:cs typeface="Calibri"/>
              </a:rPr>
              <a:t>Leadership and Engagement Opportunities</a:t>
            </a:r>
          </a:p>
        </p:txBody>
      </p:sp>
      <p:sp>
        <p:nvSpPr>
          <p:cNvPr id="4" name="Rectangle: Rounded Corners 6">
            <a:extLst>
              <a:ext uri="{FF2B5EF4-FFF2-40B4-BE49-F238E27FC236}">
                <a16:creationId xmlns:a16="http://schemas.microsoft.com/office/drawing/2014/main" id="{E179EC6C-91D0-A753-337B-74A87089A224}"/>
              </a:ext>
            </a:extLst>
          </p:cNvPr>
          <p:cNvSpPr/>
          <p:nvPr/>
        </p:nvSpPr>
        <p:spPr>
          <a:xfrm>
            <a:off x="126545" y="1769799"/>
            <a:ext cx="4205727" cy="422994"/>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Sector Head Overview</a:t>
            </a:r>
          </a:p>
        </p:txBody>
      </p:sp>
      <p:sp>
        <p:nvSpPr>
          <p:cNvPr id="5" name="Rectangle: Rounded Corners 6">
            <a:extLst>
              <a:ext uri="{FF2B5EF4-FFF2-40B4-BE49-F238E27FC236}">
                <a16:creationId xmlns:a16="http://schemas.microsoft.com/office/drawing/2014/main" id="{26A2703F-62BB-DBED-DF5C-9C391506679D}"/>
              </a:ext>
            </a:extLst>
          </p:cNvPr>
          <p:cNvSpPr/>
          <p:nvPr/>
        </p:nvSpPr>
        <p:spPr>
          <a:xfrm>
            <a:off x="4718225" y="1769799"/>
            <a:ext cx="4234695" cy="422994"/>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dirty="0">
                <a:cs typeface="Calibri"/>
              </a:rPr>
              <a:t>Sector Analyst Overview</a:t>
            </a:r>
            <a:endParaRPr lang="en-US" sz="2000" b="1" i="1" cap="small" dirty="0"/>
          </a:p>
        </p:txBody>
      </p:sp>
      <p:sp>
        <p:nvSpPr>
          <p:cNvPr id="6" name="TextBox 5">
            <a:extLst>
              <a:ext uri="{FF2B5EF4-FFF2-40B4-BE49-F238E27FC236}">
                <a16:creationId xmlns:a16="http://schemas.microsoft.com/office/drawing/2014/main" id="{286E5AEA-E006-DFEE-8E92-161389788A23}"/>
              </a:ext>
            </a:extLst>
          </p:cNvPr>
          <p:cNvSpPr txBox="1"/>
          <p:nvPr/>
        </p:nvSpPr>
        <p:spPr>
          <a:xfrm>
            <a:off x="114300" y="2171025"/>
            <a:ext cx="424139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i="1" cap="small" dirty="0">
                <a:cs typeface="Calibri" panose="020F0502020204030204"/>
              </a:rPr>
              <a:t>Lead a team of 3-4 analysts to build and present educational materials.</a:t>
            </a:r>
          </a:p>
          <a:p>
            <a:pPr marL="285750" indent="-285750">
              <a:buFont typeface="Arial"/>
              <a:buChar char="•"/>
            </a:pPr>
            <a:endParaRPr lang="en-US" sz="1600" b="1" i="1" cap="small" dirty="0">
              <a:cs typeface="Calibri" panose="020F0502020204030204"/>
            </a:endParaRPr>
          </a:p>
          <a:p>
            <a:pPr marL="285750" indent="-285750">
              <a:buFont typeface="Arial"/>
              <a:buChar char="•"/>
            </a:pPr>
            <a:r>
              <a:rPr lang="en-US" sz="1600" b="1" i="1" cap="small" dirty="0">
                <a:cs typeface="Calibri" panose="020F0502020204030204"/>
              </a:rPr>
              <a:t>Interact with E-Board to shell out decks and produce new ideas.</a:t>
            </a:r>
          </a:p>
          <a:p>
            <a:pPr marL="285750" indent="-285750">
              <a:buFont typeface="Arial"/>
              <a:buChar char="•"/>
            </a:pPr>
            <a:endParaRPr lang="en-US" sz="1600" b="1" i="1" cap="small" dirty="0">
              <a:cs typeface="Calibri" panose="020F0502020204030204"/>
            </a:endParaRPr>
          </a:p>
          <a:p>
            <a:pPr marL="285750" indent="-285750">
              <a:buFont typeface="Arial"/>
              <a:buChar char="•"/>
            </a:pPr>
            <a:r>
              <a:rPr lang="en-US" sz="1600" b="1" i="1" cap="small" dirty="0">
                <a:cs typeface="Calibri" panose="020F0502020204030204"/>
              </a:rPr>
              <a:t>Act as point of contact for other AIG members looking to learn more about careers and opportunities in your sector.</a:t>
            </a:r>
          </a:p>
          <a:p>
            <a:pPr marL="285750" indent="-285750">
              <a:buFont typeface="Arial"/>
              <a:buChar char="•"/>
            </a:pPr>
            <a:endParaRPr lang="en-US" sz="1600" b="1" i="1" cap="small" dirty="0">
              <a:cs typeface="Calibri" panose="020F0502020204030204"/>
            </a:endParaRPr>
          </a:p>
          <a:p>
            <a:pPr marL="285750" indent="-285750">
              <a:buFont typeface="Arial"/>
              <a:buChar char="•"/>
            </a:pPr>
            <a:r>
              <a:rPr lang="en-US" sz="1600" b="1" i="1" cap="small" dirty="0">
                <a:cs typeface="Calibri" panose="020F0502020204030204"/>
              </a:rPr>
              <a:t>Maintains relationships with industry professionals and guest speakers.</a:t>
            </a:r>
          </a:p>
          <a:p>
            <a:pPr marL="285750" indent="-285750">
              <a:buFont typeface="Arial"/>
              <a:buChar char="•"/>
            </a:pPr>
            <a:endParaRPr lang="en-US" sz="1600" b="1" i="1" cap="small" dirty="0">
              <a:cs typeface="Calibri" panose="020F0502020204030204"/>
            </a:endParaRPr>
          </a:p>
          <a:p>
            <a:pPr marL="285750" indent="-285750">
              <a:buFont typeface="Arial"/>
              <a:buChar char="•"/>
            </a:pPr>
            <a:r>
              <a:rPr lang="en-US" sz="1600" b="1" i="1" cap="small" dirty="0">
                <a:cs typeface="Calibri" panose="020F0502020204030204"/>
              </a:rPr>
              <a:t>Reviews and approves sector reports and presentations.</a:t>
            </a:r>
          </a:p>
        </p:txBody>
      </p:sp>
      <p:sp>
        <p:nvSpPr>
          <p:cNvPr id="7" name="TextBox 6">
            <a:extLst>
              <a:ext uri="{FF2B5EF4-FFF2-40B4-BE49-F238E27FC236}">
                <a16:creationId xmlns:a16="http://schemas.microsoft.com/office/drawing/2014/main" id="{BF3B0AC4-C4BD-BBFB-6786-48F330EE52DA}"/>
              </a:ext>
            </a:extLst>
          </p:cNvPr>
          <p:cNvSpPr txBox="1"/>
          <p:nvPr/>
        </p:nvSpPr>
        <p:spPr>
          <a:xfrm>
            <a:off x="4718224" y="2192793"/>
            <a:ext cx="4205725"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i="1" cap="small" dirty="0">
                <a:cs typeface="Calibri" panose="020F0502020204030204"/>
              </a:rPr>
              <a:t>Work alongside a sector head to build PowerPoint presentations and other educational materials.</a:t>
            </a:r>
          </a:p>
          <a:p>
            <a:endParaRPr lang="en-US" b="1" i="1" cap="small" dirty="0">
              <a:cs typeface="Calibri" panose="020F0502020204030204"/>
            </a:endParaRPr>
          </a:p>
          <a:p>
            <a:pPr marL="285750" indent="-285750">
              <a:buFont typeface="Arial"/>
              <a:buChar char="•"/>
            </a:pPr>
            <a:r>
              <a:rPr lang="en-US" sz="1600" b="1" i="1" cap="small" dirty="0"/>
              <a:t>Conducts detailed company and market research within sector.</a:t>
            </a:r>
          </a:p>
          <a:p>
            <a:pPr marL="285750" indent="-285750">
              <a:buFont typeface="Arial"/>
              <a:buChar char="•"/>
            </a:pPr>
            <a:endParaRPr lang="en-US" sz="1600" b="1" i="1" cap="small" dirty="0"/>
          </a:p>
          <a:p>
            <a:pPr marL="285750" indent="-285750">
              <a:buFont typeface="Arial"/>
              <a:buChar char="•"/>
            </a:pPr>
            <a:r>
              <a:rPr lang="en-US" sz="1600" b="1" i="1" cap="small" dirty="0"/>
              <a:t>Monitors industry trends and news for actionable insights.</a:t>
            </a:r>
          </a:p>
          <a:p>
            <a:endParaRPr lang="en-US" sz="1600" b="1" i="1" cap="small" dirty="0"/>
          </a:p>
          <a:p>
            <a:pPr marL="285750" indent="-285750">
              <a:buFont typeface="Arial"/>
              <a:buChar char="•"/>
            </a:pPr>
            <a:r>
              <a:rPr lang="en-US" sz="1600" b="1" i="1" cap="small" dirty="0"/>
              <a:t>Collaborates with fellow analysts to produce comprehensive sector coverage.</a:t>
            </a:r>
          </a:p>
          <a:p>
            <a:pPr marL="285750" indent="-285750">
              <a:buFont typeface="Arial"/>
              <a:buChar char="•"/>
            </a:pPr>
            <a:endParaRPr lang="en-US" sz="1600" b="1" i="1" cap="small" dirty="0"/>
          </a:p>
          <a:p>
            <a:pPr marL="285750" indent="-285750">
              <a:buFont typeface="Arial"/>
              <a:buChar char="•"/>
            </a:pPr>
            <a:r>
              <a:rPr lang="en-US" sz="1600" b="1" i="1" cap="small" dirty="0"/>
              <a:t>Engages with guest speakers and incorporates insights into analysis.</a:t>
            </a:r>
          </a:p>
        </p:txBody>
      </p:sp>
      <p:sp>
        <p:nvSpPr>
          <p:cNvPr id="12" name="TextBox 11">
            <a:extLst>
              <a:ext uri="{FF2B5EF4-FFF2-40B4-BE49-F238E27FC236}">
                <a16:creationId xmlns:a16="http://schemas.microsoft.com/office/drawing/2014/main" id="{0EDFE17E-76F8-8584-C3E9-0883DEA80DEB}"/>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a:t>AIG Roles</a:t>
            </a:r>
            <a:endParaRPr lang="en-US" sz="3200" b="1" i="1" cap="small" baseline="0">
              <a:latin typeface="+mn-lt"/>
            </a:endParaRPr>
          </a:p>
        </p:txBody>
      </p:sp>
    </p:spTree>
    <p:extLst>
      <p:ext uri="{BB962C8B-B14F-4D97-AF65-F5344CB8AC3E}">
        <p14:creationId xmlns:p14="http://schemas.microsoft.com/office/powerpoint/2010/main" val="1187396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0404-9936-B444-E334-1C5E2B9C567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9DE7D83-21BF-8329-B41F-6FF1F49BCFDE}"/>
              </a:ext>
            </a:extLst>
          </p:cNvPr>
          <p:cNvGraphicFramePr>
            <a:graphicFrameLocks noGrp="1"/>
          </p:cNvGraphicFramePr>
          <p:nvPr/>
        </p:nvGraphicFramePr>
        <p:xfrm>
          <a:off x="462827" y="3063403"/>
          <a:ext cx="179915" cy="1148403"/>
        </p:xfrm>
        <a:graphic>
          <a:graphicData uri="http://schemas.openxmlformats.org/drawingml/2006/table">
            <a:tbl>
              <a:tblPr firstRow="1" bandRow="1">
                <a:tableStyleId>{5C22544A-7EE6-4342-B048-85BDC9FD1C3A}</a:tableStyleId>
              </a:tblPr>
              <a:tblGrid>
                <a:gridCol w="179915">
                  <a:extLst>
                    <a:ext uri="{9D8B030D-6E8A-4147-A177-3AD203B41FA5}">
                      <a16:colId xmlns:a16="http://schemas.microsoft.com/office/drawing/2014/main" val="1197984918"/>
                    </a:ext>
                  </a:extLst>
                </a:gridCol>
              </a:tblGrid>
              <a:tr h="1148403">
                <a:tc>
                  <a:txBody>
                    <a:bodyPr/>
                    <a:lstStyle/>
                    <a:p>
                      <a:pPr algn="ctr"/>
                      <a:r>
                        <a:rPr lang="en-US" sz="700" dirty="0">
                          <a:solidFill>
                            <a:schemeClr val="tx1"/>
                          </a:solidFill>
                        </a:rPr>
                        <a:t>Weekly Breakdown</a:t>
                      </a:r>
                    </a:p>
                  </a:txBody>
                  <a:tcPr marL="68580" marR="68580" marT="34290" marB="0" vert="vert270">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bl>
          </a:graphicData>
        </a:graphic>
      </p:graphicFrame>
      <p:graphicFrame>
        <p:nvGraphicFramePr>
          <p:cNvPr id="297" name="Table 296">
            <a:extLst>
              <a:ext uri="{FF2B5EF4-FFF2-40B4-BE49-F238E27FC236}">
                <a16:creationId xmlns:a16="http://schemas.microsoft.com/office/drawing/2014/main" id="{E2FCAB95-D61A-23BA-1B68-ED87244C97BD}"/>
              </a:ext>
            </a:extLst>
          </p:cNvPr>
          <p:cNvGraphicFramePr>
            <a:graphicFrameLocks noGrp="1"/>
          </p:cNvGraphicFramePr>
          <p:nvPr/>
        </p:nvGraphicFramePr>
        <p:xfrm>
          <a:off x="2301993" y="2789991"/>
          <a:ext cx="1084003" cy="137734"/>
        </p:xfrm>
        <a:graphic>
          <a:graphicData uri="http://schemas.openxmlformats.org/drawingml/2006/table">
            <a:tbl>
              <a:tblPr firstRow="1" bandRow="1">
                <a:tableStyleId>{5C22544A-7EE6-4342-B048-85BDC9FD1C3A}</a:tableStyleId>
              </a:tblPr>
              <a:tblGrid>
                <a:gridCol w="1084003">
                  <a:extLst>
                    <a:ext uri="{9D8B030D-6E8A-4147-A177-3AD203B41FA5}">
                      <a16:colId xmlns:a16="http://schemas.microsoft.com/office/drawing/2014/main" val="1197984918"/>
                    </a:ext>
                  </a:extLst>
                </a:gridCol>
              </a:tblGrid>
              <a:tr h="137734">
                <a:tc>
                  <a:txBody>
                    <a:bodyPr/>
                    <a:lstStyle/>
                    <a:p>
                      <a:pPr algn="ctr"/>
                      <a:r>
                        <a:rPr lang="en-US" sz="500" dirty="0">
                          <a:solidFill>
                            <a:schemeClr val="accent2"/>
                          </a:solidFill>
                        </a:rPr>
                        <a:t>Analysts</a:t>
                      </a: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bl>
          </a:graphicData>
        </a:graphic>
      </p:graphicFrame>
      <p:sp>
        <p:nvSpPr>
          <p:cNvPr id="2" name="Title 1">
            <a:extLst>
              <a:ext uri="{FF2B5EF4-FFF2-40B4-BE49-F238E27FC236}">
                <a16:creationId xmlns:a16="http://schemas.microsoft.com/office/drawing/2014/main" id="{CB59297B-EA00-34B3-B745-00089BD3936E}"/>
              </a:ext>
            </a:extLst>
          </p:cNvPr>
          <p:cNvSpPr>
            <a:spLocks noGrp="1"/>
          </p:cNvSpPr>
          <p:nvPr>
            <p:ph type="title"/>
          </p:nvPr>
        </p:nvSpPr>
        <p:spPr>
          <a:xfrm>
            <a:off x="462827" y="1342352"/>
            <a:ext cx="5566853" cy="438912"/>
          </a:xfrm>
        </p:spPr>
        <p:txBody>
          <a:bodyPr>
            <a:normAutofit fontScale="90000"/>
          </a:bodyPr>
          <a:lstStyle/>
          <a:p>
            <a:r>
              <a:rPr lang="en-US">
                <a:latin typeface="Garamond"/>
              </a:rPr>
              <a:t>Timeline - Fall</a:t>
            </a:r>
          </a:p>
        </p:txBody>
      </p:sp>
      <p:sp>
        <p:nvSpPr>
          <p:cNvPr id="209" name="Rectangle 208">
            <a:extLst>
              <a:ext uri="{FF2B5EF4-FFF2-40B4-BE49-F238E27FC236}">
                <a16:creationId xmlns:a16="http://schemas.microsoft.com/office/drawing/2014/main" id="{2454CF4C-96DA-39CF-2D0D-18DD37D5B631}"/>
              </a:ext>
            </a:extLst>
          </p:cNvPr>
          <p:cNvSpPr/>
          <p:nvPr/>
        </p:nvSpPr>
        <p:spPr>
          <a:xfrm>
            <a:off x="696152" y="3058178"/>
            <a:ext cx="108871" cy="1145832"/>
          </a:xfrm>
          <a:prstGeom prst="rect">
            <a:avLst/>
          </a:prstGeom>
          <a:solidFill>
            <a:schemeClr val="tx1"/>
          </a:solidFill>
          <a:ln w="12700">
            <a:noFill/>
            <a:bevel/>
          </a:ln>
        </p:spPr>
        <p:style>
          <a:lnRef idx="2">
            <a:schemeClr val="accent1">
              <a:shade val="50000"/>
            </a:schemeClr>
          </a:lnRef>
          <a:fillRef idx="1">
            <a:schemeClr val="accent1"/>
          </a:fillRef>
          <a:effectRef idx="0">
            <a:schemeClr val="accent1"/>
          </a:effectRef>
          <a:fontRef idx="minor">
            <a:schemeClr val="lt1"/>
          </a:fontRef>
        </p:style>
        <p:txBody>
          <a:bodyPr vert="vert270" lIns="34290" rIns="34290" rtlCol="0" anchor="ctr"/>
          <a:lstStyle/>
          <a:p>
            <a:pPr algn="ctr"/>
            <a:r>
              <a:rPr lang="en-US" sz="675" b="1" dirty="0">
                <a:solidFill>
                  <a:schemeClr val="bg1"/>
                </a:solidFill>
              </a:rPr>
              <a:t>Weekly Meetings</a:t>
            </a:r>
          </a:p>
        </p:txBody>
      </p:sp>
      <p:sp>
        <p:nvSpPr>
          <p:cNvPr id="190" name="TextBox 17">
            <a:extLst>
              <a:ext uri="{FF2B5EF4-FFF2-40B4-BE49-F238E27FC236}">
                <a16:creationId xmlns:a16="http://schemas.microsoft.com/office/drawing/2014/main" id="{DD355E6A-CC28-4C58-41C8-12536B6F33F0}"/>
              </a:ext>
            </a:extLst>
          </p:cNvPr>
          <p:cNvSpPr txBox="1"/>
          <p:nvPr/>
        </p:nvSpPr>
        <p:spPr>
          <a:xfrm>
            <a:off x="810509"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a:t>
            </a:r>
          </a:p>
          <a:p>
            <a:pPr algn="ctr"/>
            <a:r>
              <a:rPr lang="en-US" sz="525" dirty="0"/>
              <a:t>Sep-4</a:t>
            </a:r>
          </a:p>
        </p:txBody>
      </p:sp>
      <p:sp>
        <p:nvSpPr>
          <p:cNvPr id="253" name="TextBox 17">
            <a:extLst>
              <a:ext uri="{FF2B5EF4-FFF2-40B4-BE49-F238E27FC236}">
                <a16:creationId xmlns:a16="http://schemas.microsoft.com/office/drawing/2014/main" id="{10585AC1-757B-B619-27FA-768D26ED29C2}"/>
              </a:ext>
            </a:extLst>
          </p:cNvPr>
          <p:cNvSpPr txBox="1"/>
          <p:nvPr/>
        </p:nvSpPr>
        <p:spPr>
          <a:xfrm>
            <a:off x="1335524"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2</a:t>
            </a:r>
          </a:p>
          <a:p>
            <a:pPr algn="ctr"/>
            <a:r>
              <a:rPr lang="en-US" sz="525" dirty="0"/>
              <a:t>Sep-11</a:t>
            </a:r>
          </a:p>
        </p:txBody>
      </p:sp>
      <p:sp>
        <p:nvSpPr>
          <p:cNvPr id="254" name="TextBox 17">
            <a:extLst>
              <a:ext uri="{FF2B5EF4-FFF2-40B4-BE49-F238E27FC236}">
                <a16:creationId xmlns:a16="http://schemas.microsoft.com/office/drawing/2014/main" id="{CB68B604-0FC2-4B29-C959-E0AD1834F11F}"/>
              </a:ext>
            </a:extLst>
          </p:cNvPr>
          <p:cNvSpPr txBox="1"/>
          <p:nvPr/>
        </p:nvSpPr>
        <p:spPr>
          <a:xfrm>
            <a:off x="1837117"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3</a:t>
            </a:r>
          </a:p>
          <a:p>
            <a:pPr algn="ctr"/>
            <a:r>
              <a:rPr lang="en-US" sz="525" dirty="0"/>
              <a:t>Sep-18</a:t>
            </a:r>
          </a:p>
        </p:txBody>
      </p:sp>
      <p:sp>
        <p:nvSpPr>
          <p:cNvPr id="255" name="TextBox 17">
            <a:extLst>
              <a:ext uri="{FF2B5EF4-FFF2-40B4-BE49-F238E27FC236}">
                <a16:creationId xmlns:a16="http://schemas.microsoft.com/office/drawing/2014/main" id="{FBF43DF0-08A3-5262-DC49-6EBD2E48383C}"/>
              </a:ext>
            </a:extLst>
          </p:cNvPr>
          <p:cNvSpPr txBox="1"/>
          <p:nvPr/>
        </p:nvSpPr>
        <p:spPr>
          <a:xfrm>
            <a:off x="2367578"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4</a:t>
            </a:r>
          </a:p>
          <a:p>
            <a:pPr algn="ctr"/>
            <a:r>
              <a:rPr lang="en-US" sz="525" dirty="0"/>
              <a:t>Sep-25</a:t>
            </a:r>
          </a:p>
        </p:txBody>
      </p:sp>
      <p:sp>
        <p:nvSpPr>
          <p:cNvPr id="256" name="TextBox 17">
            <a:extLst>
              <a:ext uri="{FF2B5EF4-FFF2-40B4-BE49-F238E27FC236}">
                <a16:creationId xmlns:a16="http://schemas.microsoft.com/office/drawing/2014/main" id="{EAC8B852-2D62-5F3E-81F2-F3702DE66E3D}"/>
              </a:ext>
            </a:extLst>
          </p:cNvPr>
          <p:cNvSpPr txBox="1"/>
          <p:nvPr/>
        </p:nvSpPr>
        <p:spPr>
          <a:xfrm>
            <a:off x="2857930"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5</a:t>
            </a:r>
          </a:p>
          <a:p>
            <a:pPr algn="ctr"/>
            <a:r>
              <a:rPr lang="en-US" sz="525" dirty="0"/>
              <a:t>Oct-2</a:t>
            </a:r>
          </a:p>
        </p:txBody>
      </p:sp>
      <p:sp>
        <p:nvSpPr>
          <p:cNvPr id="257" name="TextBox 17">
            <a:extLst>
              <a:ext uri="{FF2B5EF4-FFF2-40B4-BE49-F238E27FC236}">
                <a16:creationId xmlns:a16="http://schemas.microsoft.com/office/drawing/2014/main" id="{5BCF5A0C-A667-11E5-724B-4264C8F6E37B}"/>
              </a:ext>
            </a:extLst>
          </p:cNvPr>
          <p:cNvSpPr txBox="1"/>
          <p:nvPr/>
        </p:nvSpPr>
        <p:spPr>
          <a:xfrm>
            <a:off x="336017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6</a:t>
            </a:r>
          </a:p>
          <a:p>
            <a:pPr algn="ctr"/>
            <a:r>
              <a:rPr lang="en-US" sz="525" dirty="0"/>
              <a:t>Oct-9</a:t>
            </a:r>
          </a:p>
        </p:txBody>
      </p:sp>
      <p:sp>
        <p:nvSpPr>
          <p:cNvPr id="258" name="TextBox 17">
            <a:extLst>
              <a:ext uri="{FF2B5EF4-FFF2-40B4-BE49-F238E27FC236}">
                <a16:creationId xmlns:a16="http://schemas.microsoft.com/office/drawing/2014/main" id="{08C74119-9E38-4245-7FF9-C4458B27486B}"/>
              </a:ext>
            </a:extLst>
          </p:cNvPr>
          <p:cNvSpPr txBox="1"/>
          <p:nvPr/>
        </p:nvSpPr>
        <p:spPr>
          <a:xfrm>
            <a:off x="386864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7</a:t>
            </a:r>
          </a:p>
          <a:p>
            <a:pPr algn="ctr"/>
            <a:r>
              <a:rPr lang="en-US" sz="525" dirty="0"/>
              <a:t>Oct-16</a:t>
            </a:r>
          </a:p>
        </p:txBody>
      </p:sp>
      <p:sp>
        <p:nvSpPr>
          <p:cNvPr id="259" name="TextBox 17">
            <a:extLst>
              <a:ext uri="{FF2B5EF4-FFF2-40B4-BE49-F238E27FC236}">
                <a16:creationId xmlns:a16="http://schemas.microsoft.com/office/drawing/2014/main" id="{FC2EE0D9-0DD4-81D8-95E8-9A7A40ECB8C3}"/>
              </a:ext>
            </a:extLst>
          </p:cNvPr>
          <p:cNvSpPr txBox="1"/>
          <p:nvPr/>
        </p:nvSpPr>
        <p:spPr>
          <a:xfrm>
            <a:off x="4377390"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8</a:t>
            </a:r>
          </a:p>
          <a:p>
            <a:pPr algn="ctr"/>
            <a:r>
              <a:rPr lang="en-US" sz="525" dirty="0"/>
              <a:t>Oct-23</a:t>
            </a:r>
          </a:p>
        </p:txBody>
      </p:sp>
      <p:sp>
        <p:nvSpPr>
          <p:cNvPr id="260" name="TextBox 17">
            <a:extLst>
              <a:ext uri="{FF2B5EF4-FFF2-40B4-BE49-F238E27FC236}">
                <a16:creationId xmlns:a16="http://schemas.microsoft.com/office/drawing/2014/main" id="{71F86C10-A635-BC2E-7242-738600FB61FC}"/>
              </a:ext>
            </a:extLst>
          </p:cNvPr>
          <p:cNvSpPr txBox="1"/>
          <p:nvPr/>
        </p:nvSpPr>
        <p:spPr>
          <a:xfrm>
            <a:off x="4886902"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9</a:t>
            </a:r>
          </a:p>
          <a:p>
            <a:pPr algn="ctr"/>
            <a:r>
              <a:rPr lang="en-US" sz="525" dirty="0"/>
              <a:t>Oct-30</a:t>
            </a:r>
          </a:p>
        </p:txBody>
      </p:sp>
      <p:sp>
        <p:nvSpPr>
          <p:cNvPr id="261" name="TextBox 17">
            <a:extLst>
              <a:ext uri="{FF2B5EF4-FFF2-40B4-BE49-F238E27FC236}">
                <a16:creationId xmlns:a16="http://schemas.microsoft.com/office/drawing/2014/main" id="{89A331EA-1FDD-FD3F-A59D-E7B4749FCE98}"/>
              </a:ext>
            </a:extLst>
          </p:cNvPr>
          <p:cNvSpPr txBox="1"/>
          <p:nvPr/>
        </p:nvSpPr>
        <p:spPr>
          <a:xfrm>
            <a:off x="540502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10</a:t>
            </a:r>
          </a:p>
          <a:p>
            <a:pPr algn="ctr"/>
            <a:r>
              <a:rPr lang="en-US" sz="525" dirty="0"/>
              <a:t>Nov-6</a:t>
            </a:r>
          </a:p>
        </p:txBody>
      </p:sp>
      <p:cxnSp>
        <p:nvCxnSpPr>
          <p:cNvPr id="376" name="Straight Arrow Connector 375">
            <a:extLst>
              <a:ext uri="{FF2B5EF4-FFF2-40B4-BE49-F238E27FC236}">
                <a16:creationId xmlns:a16="http://schemas.microsoft.com/office/drawing/2014/main" id="{5B075945-A8A1-2730-2F00-2DAFFD070FF1}"/>
              </a:ext>
            </a:extLst>
          </p:cNvPr>
          <p:cNvCxnSpPr>
            <a:cxnSpLocks/>
          </p:cNvCxnSpPr>
          <p:nvPr/>
        </p:nvCxnSpPr>
        <p:spPr>
          <a:xfrm>
            <a:off x="805023" y="2520417"/>
            <a:ext cx="7813642"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9FA54381-C53E-3DA9-3859-A6589DE83FB4}"/>
              </a:ext>
            </a:extLst>
          </p:cNvPr>
          <p:cNvCxnSpPr>
            <a:cxnSpLocks/>
          </p:cNvCxnSpPr>
          <p:nvPr/>
        </p:nvCxnSpPr>
        <p:spPr>
          <a:xfrm>
            <a:off x="834545" y="2446664"/>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1821D5CF-A707-DDFB-6ABF-3E1845A251AF}"/>
              </a:ext>
            </a:extLst>
          </p:cNvPr>
          <p:cNvCxnSpPr>
            <a:cxnSpLocks/>
          </p:cNvCxnSpPr>
          <p:nvPr/>
        </p:nvCxnSpPr>
        <p:spPr>
          <a:xfrm>
            <a:off x="7468137" y="2446664"/>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5" name="TextBox 17">
            <a:extLst>
              <a:ext uri="{FF2B5EF4-FFF2-40B4-BE49-F238E27FC236}">
                <a16:creationId xmlns:a16="http://schemas.microsoft.com/office/drawing/2014/main" id="{2CA13C4B-E9C7-0379-7773-297E9E1156CD}"/>
              </a:ext>
            </a:extLst>
          </p:cNvPr>
          <p:cNvSpPr txBox="1"/>
          <p:nvPr/>
        </p:nvSpPr>
        <p:spPr>
          <a:xfrm>
            <a:off x="1582675" y="240877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September</a:t>
            </a:r>
            <a:endParaRPr lang="en-US" sz="1350" dirty="0"/>
          </a:p>
        </p:txBody>
      </p:sp>
      <p:sp>
        <p:nvSpPr>
          <p:cNvPr id="405" name="Isosceles Triangle 404">
            <a:extLst>
              <a:ext uri="{FF2B5EF4-FFF2-40B4-BE49-F238E27FC236}">
                <a16:creationId xmlns:a16="http://schemas.microsoft.com/office/drawing/2014/main" id="{12B9D813-5DC4-60B2-783B-1ABEDA072FD2}"/>
              </a:ext>
            </a:extLst>
          </p:cNvPr>
          <p:cNvSpPr/>
          <p:nvPr/>
        </p:nvSpPr>
        <p:spPr bwMode="auto">
          <a:xfrm rot="10800000">
            <a:off x="2769176" y="2897299"/>
            <a:ext cx="148796" cy="115098"/>
          </a:xfrm>
          <a:prstGeom prst="triangle">
            <a:avLst/>
          </a:prstGeom>
          <a:solidFill>
            <a:schemeClr val="accent2"/>
          </a:solidFill>
          <a:ln>
            <a:solidFill>
              <a:schemeClr val="accent2"/>
            </a:solidFill>
          </a:ln>
          <a:effectLst/>
        </p:spPr>
        <p:txBody>
          <a:bodyPr wrap="square" lIns="68580" tIns="0" rIns="35100" bIns="35100" rtlCol="0" anchor="ctr" anchorCtr="0"/>
          <a:lstStyle/>
          <a:p>
            <a:pPr algn="ctr"/>
            <a:endParaRPr lang="en-US" sz="750" b="1">
              <a:cs typeface="Arial"/>
            </a:endParaRPr>
          </a:p>
        </p:txBody>
      </p:sp>
      <p:cxnSp>
        <p:nvCxnSpPr>
          <p:cNvPr id="8" name="Straight Connector 7">
            <a:extLst>
              <a:ext uri="{FF2B5EF4-FFF2-40B4-BE49-F238E27FC236}">
                <a16:creationId xmlns:a16="http://schemas.microsoft.com/office/drawing/2014/main" id="{C3FA27AC-0733-6217-FF2C-848079865F6B}"/>
              </a:ext>
            </a:extLst>
          </p:cNvPr>
          <p:cNvCxnSpPr>
            <a:cxnSpLocks/>
          </p:cNvCxnSpPr>
          <p:nvPr/>
        </p:nvCxnSpPr>
        <p:spPr>
          <a:xfrm>
            <a:off x="2840785"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7">
            <a:extLst>
              <a:ext uri="{FF2B5EF4-FFF2-40B4-BE49-F238E27FC236}">
                <a16:creationId xmlns:a16="http://schemas.microsoft.com/office/drawing/2014/main" id="{09072F2F-3C72-0F60-9711-A0170C51D832}"/>
              </a:ext>
            </a:extLst>
          </p:cNvPr>
          <p:cNvSpPr txBox="1"/>
          <p:nvPr/>
        </p:nvSpPr>
        <p:spPr>
          <a:xfrm>
            <a:off x="3878705"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October</a:t>
            </a:r>
            <a:endParaRPr lang="en-US" sz="1350" dirty="0"/>
          </a:p>
        </p:txBody>
      </p:sp>
      <p:graphicFrame>
        <p:nvGraphicFramePr>
          <p:cNvPr id="35" name="Table 34">
            <a:extLst>
              <a:ext uri="{FF2B5EF4-FFF2-40B4-BE49-F238E27FC236}">
                <a16:creationId xmlns:a16="http://schemas.microsoft.com/office/drawing/2014/main" id="{C589E66A-BA0E-4F00-0116-9C00F66562DC}"/>
              </a:ext>
            </a:extLst>
          </p:cNvPr>
          <p:cNvGraphicFramePr>
            <a:graphicFrameLocks noGrp="1"/>
          </p:cNvGraphicFramePr>
          <p:nvPr/>
        </p:nvGraphicFramePr>
        <p:xfrm>
          <a:off x="1789929" y="2789991"/>
          <a:ext cx="1084003" cy="281940"/>
        </p:xfrm>
        <a:graphic>
          <a:graphicData uri="http://schemas.openxmlformats.org/drawingml/2006/table">
            <a:tbl>
              <a:tblPr firstRow="1" bandRow="1">
                <a:tableStyleId>{5C22544A-7EE6-4342-B048-85BDC9FD1C3A}</a:tableStyleId>
              </a:tblPr>
              <a:tblGrid>
                <a:gridCol w="1084003">
                  <a:extLst>
                    <a:ext uri="{9D8B030D-6E8A-4147-A177-3AD203B41FA5}">
                      <a16:colId xmlns:a16="http://schemas.microsoft.com/office/drawing/2014/main" val="1197984918"/>
                    </a:ext>
                  </a:extLst>
                </a:gridCol>
              </a:tblGrid>
              <a:tr h="102870">
                <a:tc>
                  <a:txBody>
                    <a:bodyPr/>
                    <a:lstStyle/>
                    <a:p>
                      <a:pPr lvl="0" algn="ctr">
                        <a:buNone/>
                      </a:pPr>
                      <a:r>
                        <a:rPr lang="en-US" sz="500" dirty="0">
                          <a:solidFill>
                            <a:schemeClr val="accent2"/>
                          </a:solidFill>
                        </a:rPr>
                        <a:t>Sector Heads</a:t>
                      </a: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r h="171450">
                <a:tc>
                  <a:txBody>
                    <a:bodyPr/>
                    <a:lstStyle/>
                    <a:p>
                      <a:pPr lvl="0" algn="ctr">
                        <a:buNone/>
                      </a:pP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259362"/>
                  </a:ext>
                </a:extLst>
              </a:tr>
            </a:tbl>
          </a:graphicData>
        </a:graphic>
      </p:graphicFrame>
      <p:sp>
        <p:nvSpPr>
          <p:cNvPr id="36" name="Isosceles Triangle 35">
            <a:extLst>
              <a:ext uri="{FF2B5EF4-FFF2-40B4-BE49-F238E27FC236}">
                <a16:creationId xmlns:a16="http://schemas.microsoft.com/office/drawing/2014/main" id="{8D6B6C37-EFD7-2407-C92F-CD18E9E01324}"/>
              </a:ext>
            </a:extLst>
          </p:cNvPr>
          <p:cNvSpPr/>
          <p:nvPr/>
        </p:nvSpPr>
        <p:spPr bwMode="auto">
          <a:xfrm rot="10800000">
            <a:off x="2259017" y="2897298"/>
            <a:ext cx="148796" cy="115098"/>
          </a:xfrm>
          <a:prstGeom prst="triangle">
            <a:avLst/>
          </a:prstGeom>
          <a:solidFill>
            <a:schemeClr val="accent2"/>
          </a:solidFill>
          <a:ln>
            <a:solidFill>
              <a:schemeClr val="accent2"/>
            </a:solidFill>
          </a:ln>
          <a:effectLst/>
        </p:spPr>
        <p:txBody>
          <a:bodyPr wrap="square" lIns="68580" tIns="0" rIns="35100" bIns="35100" rtlCol="0" anchor="ctr" anchorCtr="0"/>
          <a:lstStyle/>
          <a:p>
            <a:pPr algn="ctr"/>
            <a:endParaRPr lang="en-US" sz="750" b="1">
              <a:cs typeface="Arial"/>
            </a:endParaRPr>
          </a:p>
        </p:txBody>
      </p:sp>
      <p:sp>
        <p:nvSpPr>
          <p:cNvPr id="46" name="Pentagon 97">
            <a:extLst>
              <a:ext uri="{FF2B5EF4-FFF2-40B4-BE49-F238E27FC236}">
                <a16:creationId xmlns:a16="http://schemas.microsoft.com/office/drawing/2014/main" id="{9AA744E6-6C33-052C-5D55-07739252F3CB}"/>
              </a:ext>
            </a:extLst>
          </p:cNvPr>
          <p:cNvSpPr/>
          <p:nvPr/>
        </p:nvSpPr>
        <p:spPr>
          <a:xfrm>
            <a:off x="1853228"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Interview Expectations</a:t>
            </a:r>
            <a:endParaRPr lang="en-US" sz="1200" dirty="0"/>
          </a:p>
        </p:txBody>
      </p:sp>
      <p:sp>
        <p:nvSpPr>
          <p:cNvPr id="61" name="Pentagon 97">
            <a:extLst>
              <a:ext uri="{FF2B5EF4-FFF2-40B4-BE49-F238E27FC236}">
                <a16:creationId xmlns:a16="http://schemas.microsoft.com/office/drawing/2014/main" id="{5BE333D7-D9F9-D795-16D0-F2C072D7C11C}"/>
              </a:ext>
            </a:extLst>
          </p:cNvPr>
          <p:cNvSpPr/>
          <p:nvPr/>
        </p:nvSpPr>
        <p:spPr>
          <a:xfrm>
            <a:off x="4922675"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Senior Panel</a:t>
            </a:r>
          </a:p>
        </p:txBody>
      </p:sp>
      <p:sp>
        <p:nvSpPr>
          <p:cNvPr id="63" name="Pentagon 97">
            <a:extLst>
              <a:ext uri="{FF2B5EF4-FFF2-40B4-BE49-F238E27FC236}">
                <a16:creationId xmlns:a16="http://schemas.microsoft.com/office/drawing/2014/main" id="{6CABE997-0AFA-E263-E7CD-849BEADF830E}"/>
              </a:ext>
            </a:extLst>
          </p:cNvPr>
          <p:cNvSpPr/>
          <p:nvPr/>
        </p:nvSpPr>
        <p:spPr>
          <a:xfrm>
            <a:off x="3897330"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Interactive Activity</a:t>
            </a:r>
          </a:p>
        </p:txBody>
      </p:sp>
      <p:sp>
        <p:nvSpPr>
          <p:cNvPr id="155" name="Pentagon 97">
            <a:extLst>
              <a:ext uri="{FF2B5EF4-FFF2-40B4-BE49-F238E27FC236}">
                <a16:creationId xmlns:a16="http://schemas.microsoft.com/office/drawing/2014/main" id="{84DC7FA9-09D5-57F7-21E8-BC6C3199A44E}"/>
              </a:ext>
            </a:extLst>
          </p:cNvPr>
          <p:cNvSpPr/>
          <p:nvPr/>
        </p:nvSpPr>
        <p:spPr>
          <a:xfrm>
            <a:off x="3380960"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Asking Good Questions</a:t>
            </a:r>
            <a:endParaRPr lang="en-US" sz="1200" dirty="0">
              <a:solidFill>
                <a:schemeClr val="tx1"/>
              </a:solidFill>
            </a:endParaRPr>
          </a:p>
        </p:txBody>
      </p:sp>
      <p:sp>
        <p:nvSpPr>
          <p:cNvPr id="157" name="Pentagon 97">
            <a:extLst>
              <a:ext uri="{FF2B5EF4-FFF2-40B4-BE49-F238E27FC236}">
                <a16:creationId xmlns:a16="http://schemas.microsoft.com/office/drawing/2014/main" id="{E40F3311-0418-22C8-7C93-85F03144BBB1}"/>
              </a:ext>
            </a:extLst>
          </p:cNvPr>
          <p:cNvSpPr/>
          <p:nvPr/>
        </p:nvSpPr>
        <p:spPr>
          <a:xfrm>
            <a:off x="3380960"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Coffee Chats</a:t>
            </a:r>
          </a:p>
        </p:txBody>
      </p:sp>
      <p:sp>
        <p:nvSpPr>
          <p:cNvPr id="162" name="Pentagon 97">
            <a:extLst>
              <a:ext uri="{FF2B5EF4-FFF2-40B4-BE49-F238E27FC236}">
                <a16:creationId xmlns:a16="http://schemas.microsoft.com/office/drawing/2014/main" id="{BFF6882F-CC3B-D5F8-4403-3F8521325546}"/>
              </a:ext>
            </a:extLst>
          </p:cNvPr>
          <p:cNvSpPr/>
          <p:nvPr/>
        </p:nvSpPr>
        <p:spPr>
          <a:xfrm>
            <a:off x="2360725"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Where / How to Recruit</a:t>
            </a:r>
            <a:endParaRPr lang="en-US" sz="1200" dirty="0">
              <a:solidFill>
                <a:schemeClr val="tx1"/>
              </a:solidFill>
            </a:endParaRPr>
          </a:p>
        </p:txBody>
      </p:sp>
      <p:sp>
        <p:nvSpPr>
          <p:cNvPr id="179" name="Pentagon 97">
            <a:extLst>
              <a:ext uri="{FF2B5EF4-FFF2-40B4-BE49-F238E27FC236}">
                <a16:creationId xmlns:a16="http://schemas.microsoft.com/office/drawing/2014/main" id="{FFBB1E04-A58C-DBCB-E73E-233F614F6AE4}"/>
              </a:ext>
            </a:extLst>
          </p:cNvPr>
          <p:cNvSpPr/>
          <p:nvPr/>
        </p:nvSpPr>
        <p:spPr>
          <a:xfrm>
            <a:off x="5954753" y="3068892"/>
            <a:ext cx="480060" cy="205740"/>
          </a:xfrm>
          <a:prstGeom prst="homePlate">
            <a:avLst>
              <a:gd name="adj" fmla="val 42597"/>
            </a:avLst>
          </a:prstGeom>
          <a:solidFill>
            <a:schemeClr val="tx1">
              <a:lumMod val="65000"/>
              <a:lumOff val="3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bg1"/>
                </a:solidFill>
              </a:rPr>
              <a:t>Speaker Series</a:t>
            </a:r>
          </a:p>
        </p:txBody>
      </p:sp>
      <p:cxnSp>
        <p:nvCxnSpPr>
          <p:cNvPr id="189" name="Straight Connector 188">
            <a:extLst>
              <a:ext uri="{FF2B5EF4-FFF2-40B4-BE49-F238E27FC236}">
                <a16:creationId xmlns:a16="http://schemas.microsoft.com/office/drawing/2014/main" id="{2ACD1928-1007-54F7-7752-7A7735A88F9F}"/>
              </a:ext>
            </a:extLst>
          </p:cNvPr>
          <p:cNvCxnSpPr>
            <a:cxnSpLocks/>
          </p:cNvCxnSpPr>
          <p:nvPr/>
        </p:nvCxnSpPr>
        <p:spPr>
          <a:xfrm>
            <a:off x="805022" y="4320758"/>
            <a:ext cx="7700142"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314ECE6E-E0D6-7B25-5DE2-75F02413BFDC}"/>
              </a:ext>
            </a:extLst>
          </p:cNvPr>
          <p:cNvGrpSpPr/>
          <p:nvPr/>
        </p:nvGrpSpPr>
        <p:grpSpPr>
          <a:xfrm>
            <a:off x="8270509" y="1367137"/>
            <a:ext cx="105461" cy="791274"/>
            <a:chOff x="4097888" y="5117893"/>
            <a:chExt cx="154676" cy="1160535"/>
          </a:xfrm>
        </p:grpSpPr>
        <p:sp>
          <p:nvSpPr>
            <p:cNvPr id="6" name="Oval 5">
              <a:extLst>
                <a:ext uri="{FF2B5EF4-FFF2-40B4-BE49-F238E27FC236}">
                  <a16:creationId xmlns:a16="http://schemas.microsoft.com/office/drawing/2014/main" id="{B700D17A-5572-6160-1943-44B94503C935}"/>
                </a:ext>
              </a:extLst>
            </p:cNvPr>
            <p:cNvSpPr/>
            <p:nvPr/>
          </p:nvSpPr>
          <p:spPr bwMode="auto">
            <a:xfrm>
              <a:off x="4097888" y="5117893"/>
              <a:ext cx="154676" cy="154676"/>
            </a:xfrm>
            <a:prstGeom prst="ellipse">
              <a:avLst/>
            </a:prstGeom>
            <a:solidFill>
              <a:schemeClr val="accent6">
                <a:lumMod val="20000"/>
                <a:lumOff val="80000"/>
              </a:schemeClr>
            </a:solidFill>
            <a:ln>
              <a:noFill/>
            </a:ln>
            <a:effectLst/>
          </p:spPr>
          <p:txBody>
            <a:bodyPr wrap="square" lIns="68580" tIns="0" rIns="35100" bIns="35100" rtlCol="0" anchor="ctr" anchorCtr="0"/>
            <a:lstStyle/>
            <a:p>
              <a:pPr algn="ctr"/>
              <a:endParaRPr lang="en-US" sz="750" b="1"/>
            </a:p>
          </p:txBody>
        </p:sp>
        <p:sp>
          <p:nvSpPr>
            <p:cNvPr id="7" name="Oval 6">
              <a:extLst>
                <a:ext uri="{FF2B5EF4-FFF2-40B4-BE49-F238E27FC236}">
                  <a16:creationId xmlns:a16="http://schemas.microsoft.com/office/drawing/2014/main" id="{07066A1B-EB83-C398-E324-3EC8560CA769}"/>
                </a:ext>
              </a:extLst>
            </p:cNvPr>
            <p:cNvSpPr/>
            <p:nvPr/>
          </p:nvSpPr>
          <p:spPr bwMode="auto">
            <a:xfrm>
              <a:off x="4097888" y="5369358"/>
              <a:ext cx="154676" cy="154676"/>
            </a:xfrm>
            <a:prstGeom prst="ellipse">
              <a:avLst/>
            </a:prstGeom>
            <a:solidFill>
              <a:schemeClr val="tx1">
                <a:lumMod val="65000"/>
                <a:lumOff val="35000"/>
              </a:schemeClr>
            </a:solidFill>
            <a:ln>
              <a:noFill/>
            </a:ln>
            <a:effectLst/>
          </p:spPr>
          <p:txBody>
            <a:bodyPr wrap="square" lIns="68580" tIns="0" rIns="35100" bIns="35100" rtlCol="0" anchor="ctr" anchorCtr="0"/>
            <a:lstStyle/>
            <a:p>
              <a:pPr algn="ctr"/>
              <a:endParaRPr lang="en-US" sz="750" b="1"/>
            </a:p>
          </p:txBody>
        </p:sp>
        <p:sp>
          <p:nvSpPr>
            <p:cNvPr id="180" name="Oval 179">
              <a:extLst>
                <a:ext uri="{FF2B5EF4-FFF2-40B4-BE49-F238E27FC236}">
                  <a16:creationId xmlns:a16="http://schemas.microsoft.com/office/drawing/2014/main" id="{22E98A51-6F30-D2F4-83FA-14EF71D71FBF}"/>
                </a:ext>
              </a:extLst>
            </p:cNvPr>
            <p:cNvSpPr/>
            <p:nvPr/>
          </p:nvSpPr>
          <p:spPr bwMode="auto">
            <a:xfrm>
              <a:off x="4097888" y="5620823"/>
              <a:ext cx="154676" cy="154676"/>
            </a:xfrm>
            <a:prstGeom prst="ellipse">
              <a:avLst/>
            </a:prstGeom>
            <a:solidFill>
              <a:schemeClr val="tx2">
                <a:lumMod val="60000"/>
                <a:lumOff val="40000"/>
              </a:schemeClr>
            </a:solidFill>
            <a:ln>
              <a:noFill/>
            </a:ln>
            <a:effectLst/>
          </p:spPr>
          <p:txBody>
            <a:bodyPr wrap="square" lIns="68580" tIns="0" rIns="35100" bIns="35100" rtlCol="0" anchor="ctr" anchorCtr="0"/>
            <a:lstStyle/>
            <a:p>
              <a:pPr algn="ctr"/>
              <a:endParaRPr lang="en-US" sz="750" b="1"/>
            </a:p>
          </p:txBody>
        </p:sp>
        <p:sp>
          <p:nvSpPr>
            <p:cNvPr id="181" name="Oval 180">
              <a:extLst>
                <a:ext uri="{FF2B5EF4-FFF2-40B4-BE49-F238E27FC236}">
                  <a16:creationId xmlns:a16="http://schemas.microsoft.com/office/drawing/2014/main" id="{07AB6516-ED85-2585-8A1B-DCD3E583E989}"/>
                </a:ext>
              </a:extLst>
            </p:cNvPr>
            <p:cNvSpPr/>
            <p:nvPr/>
          </p:nvSpPr>
          <p:spPr bwMode="auto">
            <a:xfrm>
              <a:off x="4097888" y="5872288"/>
              <a:ext cx="154676" cy="154676"/>
            </a:xfrm>
            <a:prstGeom prst="ellipse">
              <a:avLst/>
            </a:prstGeom>
            <a:solidFill>
              <a:schemeClr val="bg1">
                <a:lumMod val="85000"/>
              </a:schemeClr>
            </a:solidFill>
            <a:ln>
              <a:noFill/>
            </a:ln>
            <a:effectLst/>
          </p:spPr>
          <p:txBody>
            <a:bodyPr wrap="square" lIns="68580" tIns="0" rIns="35100" bIns="35100" rtlCol="0" anchor="ctr" anchorCtr="0"/>
            <a:lstStyle/>
            <a:p>
              <a:pPr algn="ctr"/>
              <a:endParaRPr lang="en-US" sz="750" b="1"/>
            </a:p>
          </p:txBody>
        </p:sp>
        <p:sp>
          <p:nvSpPr>
            <p:cNvPr id="197" name="Oval 196">
              <a:extLst>
                <a:ext uri="{FF2B5EF4-FFF2-40B4-BE49-F238E27FC236}">
                  <a16:creationId xmlns:a16="http://schemas.microsoft.com/office/drawing/2014/main" id="{26BE73B4-7D08-A464-9448-62807212FDA7}"/>
                </a:ext>
              </a:extLst>
            </p:cNvPr>
            <p:cNvSpPr/>
            <p:nvPr/>
          </p:nvSpPr>
          <p:spPr bwMode="auto">
            <a:xfrm>
              <a:off x="4097888" y="6123752"/>
              <a:ext cx="154676" cy="154676"/>
            </a:xfrm>
            <a:prstGeom prst="ellipse">
              <a:avLst/>
            </a:prstGeom>
            <a:solidFill>
              <a:srgbClr val="E9B43C"/>
            </a:solidFill>
            <a:ln>
              <a:noFill/>
            </a:ln>
            <a:effectLst/>
          </p:spPr>
          <p:txBody>
            <a:bodyPr wrap="square" lIns="68580" tIns="0" rIns="35100" bIns="35100" rtlCol="0" anchor="ctr" anchorCtr="0"/>
            <a:lstStyle/>
            <a:p>
              <a:pPr algn="ctr"/>
              <a:endParaRPr lang="en-US" sz="750" b="1"/>
            </a:p>
          </p:txBody>
        </p:sp>
      </p:grpSp>
      <p:sp>
        <p:nvSpPr>
          <p:cNvPr id="12" name="Rectangle 11">
            <a:extLst>
              <a:ext uri="{FF2B5EF4-FFF2-40B4-BE49-F238E27FC236}">
                <a16:creationId xmlns:a16="http://schemas.microsoft.com/office/drawing/2014/main" id="{B5C1B207-1C30-9940-B5A0-AAF05D01F2B9}"/>
              </a:ext>
            </a:extLst>
          </p:cNvPr>
          <p:cNvSpPr/>
          <p:nvPr/>
        </p:nvSpPr>
        <p:spPr>
          <a:xfrm>
            <a:off x="696152" y="4454678"/>
            <a:ext cx="108871" cy="889909"/>
          </a:xfrm>
          <a:prstGeom prst="rect">
            <a:avLst/>
          </a:prstGeom>
          <a:solidFill>
            <a:schemeClr val="tx1"/>
          </a:solidFill>
          <a:ln w="12700">
            <a:noFill/>
            <a:bevel/>
          </a:ln>
        </p:spPr>
        <p:style>
          <a:lnRef idx="2">
            <a:schemeClr val="accent1">
              <a:shade val="50000"/>
            </a:schemeClr>
          </a:lnRef>
          <a:fillRef idx="1">
            <a:schemeClr val="accent1"/>
          </a:fillRef>
          <a:effectRef idx="0">
            <a:schemeClr val="accent1"/>
          </a:effectRef>
          <a:fontRef idx="minor">
            <a:schemeClr val="lt1"/>
          </a:fontRef>
        </p:style>
        <p:txBody>
          <a:bodyPr vert="vert270" lIns="34290" tIns="34290" rIns="34290" bIns="34290" rtlCol="0" anchor="ctr"/>
          <a:lstStyle/>
          <a:p>
            <a:pPr algn="ctr"/>
            <a:r>
              <a:rPr lang="en-US" sz="675" b="1">
                <a:solidFill>
                  <a:schemeClr val="bg1"/>
                </a:solidFill>
                <a:cs typeface="Arial"/>
              </a:rPr>
              <a:t>To-Do</a:t>
            </a:r>
          </a:p>
        </p:txBody>
      </p:sp>
      <p:graphicFrame>
        <p:nvGraphicFramePr>
          <p:cNvPr id="17" name="Table 16">
            <a:extLst>
              <a:ext uri="{FF2B5EF4-FFF2-40B4-BE49-F238E27FC236}">
                <a16:creationId xmlns:a16="http://schemas.microsoft.com/office/drawing/2014/main" id="{21FF78EC-F834-BE83-004C-6B687C995CAD}"/>
              </a:ext>
            </a:extLst>
          </p:cNvPr>
          <p:cNvGraphicFramePr>
            <a:graphicFrameLocks noGrp="1"/>
          </p:cNvGraphicFramePr>
          <p:nvPr/>
        </p:nvGraphicFramePr>
        <p:xfrm>
          <a:off x="7474853" y="1165191"/>
          <a:ext cx="1030312" cy="1051560"/>
        </p:xfrm>
        <a:graphic>
          <a:graphicData uri="http://schemas.openxmlformats.org/drawingml/2006/table">
            <a:tbl>
              <a:tblPr firstRow="1" bandRow="1">
                <a:tableStyleId>{2D5ABB26-0587-4C30-8999-92F81FD0307C}</a:tableStyleId>
              </a:tblPr>
              <a:tblGrid>
                <a:gridCol w="753781">
                  <a:extLst>
                    <a:ext uri="{9D8B030D-6E8A-4147-A177-3AD203B41FA5}">
                      <a16:colId xmlns:a16="http://schemas.microsoft.com/office/drawing/2014/main" val="2337334790"/>
                    </a:ext>
                  </a:extLst>
                </a:gridCol>
                <a:gridCol w="276531">
                  <a:extLst>
                    <a:ext uri="{9D8B030D-6E8A-4147-A177-3AD203B41FA5}">
                      <a16:colId xmlns:a16="http://schemas.microsoft.com/office/drawing/2014/main" val="1651867961"/>
                    </a:ext>
                  </a:extLst>
                </a:gridCol>
              </a:tblGrid>
              <a:tr h="171450">
                <a:tc gridSpan="2">
                  <a:txBody>
                    <a:bodyPr/>
                    <a:lstStyle/>
                    <a:p>
                      <a:pPr algn="ctr"/>
                      <a:r>
                        <a:rPr lang="en-US" sz="700" b="1" u="sng" dirty="0"/>
                        <a:t>Key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en-US" sz="900" dirty="0"/>
                    </a:p>
                  </a:txBody>
                  <a:tcPr/>
                </a:tc>
                <a:extLst>
                  <a:ext uri="{0D108BD9-81ED-4DB2-BD59-A6C34878D82A}">
                    <a16:rowId xmlns:a16="http://schemas.microsoft.com/office/drawing/2014/main" val="1156460340"/>
                  </a:ext>
                </a:extLst>
              </a:tr>
              <a:tr h="171450">
                <a:tc>
                  <a:txBody>
                    <a:bodyPr/>
                    <a:lstStyle/>
                    <a:p>
                      <a:r>
                        <a:rPr lang="en-US" sz="700" dirty="0"/>
                        <a:t>Events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99514898"/>
                  </a:ext>
                </a:extLst>
              </a:tr>
              <a:tr h="171450">
                <a:tc>
                  <a:txBody>
                    <a:bodyPr/>
                    <a:lstStyle/>
                    <a:p>
                      <a:r>
                        <a:rPr lang="en-US" sz="700" dirty="0"/>
                        <a:t>Speakers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57057018"/>
                  </a:ext>
                </a:extLst>
              </a:tr>
              <a:tr h="171450">
                <a:tc>
                  <a:txBody>
                    <a:bodyPr/>
                    <a:lstStyle/>
                    <a:p>
                      <a:r>
                        <a:rPr lang="en-US" sz="700" dirty="0"/>
                        <a:t>Sector Heads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10839861"/>
                  </a:ext>
                </a:extLst>
              </a:tr>
              <a:tr h="171450">
                <a:tc>
                  <a:txBody>
                    <a:bodyPr/>
                    <a:lstStyle/>
                    <a:p>
                      <a:r>
                        <a:rPr lang="en-US" sz="700" dirty="0"/>
                        <a:t>Analyst</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44109250"/>
                  </a:ext>
                </a:extLst>
              </a:tr>
              <a:tr h="171450">
                <a:tc>
                  <a:txBody>
                    <a:bodyPr/>
                    <a:lstStyle/>
                    <a:p>
                      <a:r>
                        <a:rPr lang="en-US" sz="700" dirty="0"/>
                        <a:t>General</a:t>
                      </a:r>
                    </a:p>
                  </a:txBody>
                  <a:tcPr marL="68580" marR="68580" marT="34290" marB="3429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413626"/>
                  </a:ext>
                </a:extLst>
              </a:tr>
            </a:tbl>
          </a:graphicData>
        </a:graphic>
      </p:graphicFrame>
      <p:sp>
        <p:nvSpPr>
          <p:cNvPr id="29" name="Pentagon 97">
            <a:extLst>
              <a:ext uri="{FF2B5EF4-FFF2-40B4-BE49-F238E27FC236}">
                <a16:creationId xmlns:a16="http://schemas.microsoft.com/office/drawing/2014/main" id="{A869C263-4D57-B6CA-93D9-2FBCC4C6B0F2}"/>
              </a:ext>
            </a:extLst>
          </p:cNvPr>
          <p:cNvSpPr/>
          <p:nvPr/>
        </p:nvSpPr>
        <p:spPr>
          <a:xfrm>
            <a:off x="839993"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Kickoff</a:t>
            </a:r>
          </a:p>
        </p:txBody>
      </p:sp>
      <p:cxnSp>
        <p:nvCxnSpPr>
          <p:cNvPr id="30" name="Straight Connector 29">
            <a:extLst>
              <a:ext uri="{FF2B5EF4-FFF2-40B4-BE49-F238E27FC236}">
                <a16:creationId xmlns:a16="http://schemas.microsoft.com/office/drawing/2014/main" id="{E5162170-DC6F-852D-2732-4C1138DFFAD5}"/>
              </a:ext>
            </a:extLst>
          </p:cNvPr>
          <p:cNvCxnSpPr>
            <a:cxnSpLocks/>
          </p:cNvCxnSpPr>
          <p:nvPr/>
        </p:nvCxnSpPr>
        <p:spPr>
          <a:xfrm>
            <a:off x="5402735"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17">
            <a:extLst>
              <a:ext uri="{FF2B5EF4-FFF2-40B4-BE49-F238E27FC236}">
                <a16:creationId xmlns:a16="http://schemas.microsoft.com/office/drawing/2014/main" id="{83E9A389-8119-E75A-A60D-36320424F32F}"/>
              </a:ext>
            </a:extLst>
          </p:cNvPr>
          <p:cNvSpPr txBox="1"/>
          <p:nvPr/>
        </p:nvSpPr>
        <p:spPr>
          <a:xfrm>
            <a:off x="6188861"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November</a:t>
            </a:r>
            <a:endParaRPr lang="en-US" sz="1350" dirty="0"/>
          </a:p>
        </p:txBody>
      </p:sp>
      <p:sp>
        <p:nvSpPr>
          <p:cNvPr id="32" name="Pentagon 97">
            <a:extLst>
              <a:ext uri="{FF2B5EF4-FFF2-40B4-BE49-F238E27FC236}">
                <a16:creationId xmlns:a16="http://schemas.microsoft.com/office/drawing/2014/main" id="{50730BEF-98E0-CC85-6E5D-53BA46AA1995}"/>
              </a:ext>
            </a:extLst>
          </p:cNvPr>
          <p:cNvSpPr/>
          <p:nvPr/>
        </p:nvSpPr>
        <p:spPr>
          <a:xfrm>
            <a:off x="1345627"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a:solidFill>
                  <a:schemeClr val="tx1"/>
                </a:solidFill>
              </a:rPr>
              <a:t>Sell Side vs Buy Side</a:t>
            </a:r>
            <a:endParaRPr lang="en-US" sz="525" dirty="0">
              <a:solidFill>
                <a:schemeClr val="tx1"/>
              </a:solidFill>
            </a:endParaRPr>
          </a:p>
        </p:txBody>
      </p:sp>
      <p:sp>
        <p:nvSpPr>
          <p:cNvPr id="33" name="Pentagon 97">
            <a:extLst>
              <a:ext uri="{FF2B5EF4-FFF2-40B4-BE49-F238E27FC236}">
                <a16:creationId xmlns:a16="http://schemas.microsoft.com/office/drawing/2014/main" id="{6A1CF2F3-7ED7-0F14-DBCA-8C8D3F9E174A}"/>
              </a:ext>
            </a:extLst>
          </p:cNvPr>
          <p:cNvSpPr/>
          <p:nvPr/>
        </p:nvSpPr>
        <p:spPr>
          <a:xfrm>
            <a:off x="1853228"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Interview Workshop</a:t>
            </a:r>
          </a:p>
        </p:txBody>
      </p:sp>
      <p:sp>
        <p:nvSpPr>
          <p:cNvPr id="34" name="Pentagon 97">
            <a:extLst>
              <a:ext uri="{FF2B5EF4-FFF2-40B4-BE49-F238E27FC236}">
                <a16:creationId xmlns:a16="http://schemas.microsoft.com/office/drawing/2014/main" id="{C4AE8D73-A7BA-DA6D-1FB7-23FA994588A8}"/>
              </a:ext>
            </a:extLst>
          </p:cNvPr>
          <p:cNvSpPr/>
          <p:nvPr/>
        </p:nvSpPr>
        <p:spPr>
          <a:xfrm>
            <a:off x="2360725"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Resume Workshop</a:t>
            </a:r>
          </a:p>
        </p:txBody>
      </p:sp>
      <p:graphicFrame>
        <p:nvGraphicFramePr>
          <p:cNvPr id="37" name="Table 36">
            <a:extLst>
              <a:ext uri="{FF2B5EF4-FFF2-40B4-BE49-F238E27FC236}">
                <a16:creationId xmlns:a16="http://schemas.microsoft.com/office/drawing/2014/main" id="{D3B5CAEC-EFBC-BC4F-152D-6F08E7277257}"/>
              </a:ext>
            </a:extLst>
          </p:cNvPr>
          <p:cNvGraphicFramePr>
            <a:graphicFrameLocks noGrp="1"/>
          </p:cNvGraphicFramePr>
          <p:nvPr/>
        </p:nvGraphicFramePr>
        <p:xfrm>
          <a:off x="2155633" y="2716516"/>
          <a:ext cx="861510" cy="110490"/>
        </p:xfrm>
        <a:graphic>
          <a:graphicData uri="http://schemas.openxmlformats.org/drawingml/2006/table">
            <a:tbl>
              <a:tblPr firstRow="1" bandRow="1">
                <a:tableStyleId>{5C22544A-7EE6-4342-B048-85BDC9FD1C3A}</a:tableStyleId>
              </a:tblPr>
              <a:tblGrid>
                <a:gridCol w="861510">
                  <a:extLst>
                    <a:ext uri="{9D8B030D-6E8A-4147-A177-3AD203B41FA5}">
                      <a16:colId xmlns:a16="http://schemas.microsoft.com/office/drawing/2014/main" val="1197984918"/>
                    </a:ext>
                  </a:extLst>
                </a:gridCol>
              </a:tblGrid>
              <a:tr h="102870">
                <a:tc>
                  <a:txBody>
                    <a:bodyPr/>
                    <a:lstStyle/>
                    <a:p>
                      <a:pPr lvl="0" algn="ctr">
                        <a:buNone/>
                      </a:pPr>
                      <a:r>
                        <a:rPr lang="en-US" sz="500" dirty="0">
                          <a:solidFill>
                            <a:schemeClr val="accent2"/>
                          </a:solidFill>
                        </a:rPr>
                        <a:t>Interviews</a:t>
                      </a: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bl>
          </a:graphicData>
        </a:graphic>
      </p:graphicFrame>
      <p:cxnSp>
        <p:nvCxnSpPr>
          <p:cNvPr id="39" name="Straight Connector 38">
            <a:extLst>
              <a:ext uri="{FF2B5EF4-FFF2-40B4-BE49-F238E27FC236}">
                <a16:creationId xmlns:a16="http://schemas.microsoft.com/office/drawing/2014/main" id="{6EB48F3F-B8E9-F6DD-DAD9-4C6C175D219C}"/>
              </a:ext>
            </a:extLst>
          </p:cNvPr>
          <p:cNvCxnSpPr>
            <a:cxnSpLocks/>
          </p:cNvCxnSpPr>
          <p:nvPr/>
        </p:nvCxnSpPr>
        <p:spPr>
          <a:xfrm>
            <a:off x="2172742" y="2818565"/>
            <a:ext cx="767856"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41" name="Pentagon 97">
            <a:extLst>
              <a:ext uri="{FF2B5EF4-FFF2-40B4-BE49-F238E27FC236}">
                <a16:creationId xmlns:a16="http://schemas.microsoft.com/office/drawing/2014/main" id="{A2343E51-98FA-3064-BC28-AE9CA44691BA}"/>
              </a:ext>
            </a:extLst>
          </p:cNvPr>
          <p:cNvSpPr/>
          <p:nvPr/>
        </p:nvSpPr>
        <p:spPr>
          <a:xfrm>
            <a:off x="4409128"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Hayride</a:t>
            </a:r>
          </a:p>
        </p:txBody>
      </p:sp>
      <p:sp>
        <p:nvSpPr>
          <p:cNvPr id="44" name="Pentagon 97">
            <a:extLst>
              <a:ext uri="{FF2B5EF4-FFF2-40B4-BE49-F238E27FC236}">
                <a16:creationId xmlns:a16="http://schemas.microsoft.com/office/drawing/2014/main" id="{07B15EF7-998B-3C05-FC66-FB034E6A56A7}"/>
              </a:ext>
            </a:extLst>
          </p:cNvPr>
          <p:cNvSpPr/>
          <p:nvPr/>
        </p:nvSpPr>
        <p:spPr>
          <a:xfrm>
            <a:off x="2360725" y="445051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PE Deck Outline</a:t>
            </a:r>
            <a:endParaRPr lang="en-US" sz="1200" dirty="0"/>
          </a:p>
        </p:txBody>
      </p:sp>
      <p:sp>
        <p:nvSpPr>
          <p:cNvPr id="47" name="Pentagon 97">
            <a:extLst>
              <a:ext uri="{FF2B5EF4-FFF2-40B4-BE49-F238E27FC236}">
                <a16:creationId xmlns:a16="http://schemas.microsoft.com/office/drawing/2014/main" id="{7B6CD79B-8D7F-F8C8-A278-EEC024859C89}"/>
              </a:ext>
            </a:extLst>
          </p:cNvPr>
          <p:cNvSpPr/>
          <p:nvPr/>
        </p:nvSpPr>
        <p:spPr>
          <a:xfrm>
            <a:off x="2868680" y="4450514"/>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PE Deck Creation</a:t>
            </a:r>
            <a:endParaRPr lang="en-US" sz="1200" dirty="0"/>
          </a:p>
        </p:txBody>
      </p:sp>
      <p:sp>
        <p:nvSpPr>
          <p:cNvPr id="48" name="Pentagon 97">
            <a:extLst>
              <a:ext uri="{FF2B5EF4-FFF2-40B4-BE49-F238E27FC236}">
                <a16:creationId xmlns:a16="http://schemas.microsoft.com/office/drawing/2014/main" id="{E39D729C-7B9E-AAAE-DEDA-1D1BF51215AD}"/>
              </a:ext>
            </a:extLst>
          </p:cNvPr>
          <p:cNvSpPr/>
          <p:nvPr/>
        </p:nvSpPr>
        <p:spPr>
          <a:xfrm>
            <a:off x="2868680"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 Comments</a:t>
            </a:r>
            <a:endParaRPr lang="en-US" sz="1200" dirty="0"/>
          </a:p>
        </p:txBody>
      </p:sp>
      <p:sp>
        <p:nvSpPr>
          <p:cNvPr id="49" name="Pentagon 97">
            <a:extLst>
              <a:ext uri="{FF2B5EF4-FFF2-40B4-BE49-F238E27FC236}">
                <a16:creationId xmlns:a16="http://schemas.microsoft.com/office/drawing/2014/main" id="{ABA363D9-5E16-A215-7871-1883AF49BA1B}"/>
              </a:ext>
            </a:extLst>
          </p:cNvPr>
          <p:cNvSpPr/>
          <p:nvPr/>
        </p:nvSpPr>
        <p:spPr>
          <a:xfrm>
            <a:off x="3897330" y="3068892"/>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PE Presentation</a:t>
            </a:r>
          </a:p>
        </p:txBody>
      </p:sp>
      <p:sp>
        <p:nvSpPr>
          <p:cNvPr id="50" name="Pentagon 97">
            <a:extLst>
              <a:ext uri="{FF2B5EF4-FFF2-40B4-BE49-F238E27FC236}">
                <a16:creationId xmlns:a16="http://schemas.microsoft.com/office/drawing/2014/main" id="{CA75F704-F8A6-407E-7DE6-3CDEA13FEB6E}"/>
              </a:ext>
            </a:extLst>
          </p:cNvPr>
          <p:cNvSpPr/>
          <p:nvPr/>
        </p:nvSpPr>
        <p:spPr>
          <a:xfrm>
            <a:off x="5438880"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Interactive Activity</a:t>
            </a:r>
          </a:p>
        </p:txBody>
      </p:sp>
      <p:sp>
        <p:nvSpPr>
          <p:cNvPr id="52" name="Pentagon 97">
            <a:extLst>
              <a:ext uri="{FF2B5EF4-FFF2-40B4-BE49-F238E27FC236}">
                <a16:creationId xmlns:a16="http://schemas.microsoft.com/office/drawing/2014/main" id="{8B1B07AE-B947-B5B6-1868-FC7C03F172D6}"/>
              </a:ext>
            </a:extLst>
          </p:cNvPr>
          <p:cNvSpPr/>
          <p:nvPr/>
        </p:nvSpPr>
        <p:spPr>
          <a:xfrm>
            <a:off x="5438880" y="3068892"/>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Secondaries Presentation</a:t>
            </a:r>
          </a:p>
        </p:txBody>
      </p:sp>
      <p:sp>
        <p:nvSpPr>
          <p:cNvPr id="53" name="Pentagon 97">
            <a:extLst>
              <a:ext uri="{FF2B5EF4-FFF2-40B4-BE49-F238E27FC236}">
                <a16:creationId xmlns:a16="http://schemas.microsoft.com/office/drawing/2014/main" id="{F20ED91C-1A82-4A3C-AE48-A2DC1150BFBD}"/>
              </a:ext>
            </a:extLst>
          </p:cNvPr>
          <p:cNvSpPr/>
          <p:nvPr/>
        </p:nvSpPr>
        <p:spPr>
          <a:xfrm>
            <a:off x="3888182" y="445051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Secondaries Deck Outline</a:t>
            </a:r>
            <a:endParaRPr lang="en-US" sz="1200" dirty="0"/>
          </a:p>
        </p:txBody>
      </p:sp>
      <p:sp>
        <p:nvSpPr>
          <p:cNvPr id="54" name="Pentagon 97">
            <a:extLst>
              <a:ext uri="{FF2B5EF4-FFF2-40B4-BE49-F238E27FC236}">
                <a16:creationId xmlns:a16="http://schemas.microsoft.com/office/drawing/2014/main" id="{1DA4943B-E38F-AA27-FC0E-76E5AECC454D}"/>
              </a:ext>
            </a:extLst>
          </p:cNvPr>
          <p:cNvSpPr/>
          <p:nvPr/>
        </p:nvSpPr>
        <p:spPr>
          <a:xfrm>
            <a:off x="4401728" y="4450514"/>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Secondaries </a:t>
            </a:r>
            <a:r>
              <a:rPr lang="en-US" sz="450" dirty="0">
                <a:solidFill>
                  <a:schemeClr val="tx1"/>
                </a:solidFill>
              </a:rPr>
              <a:t>Deck Creation</a:t>
            </a:r>
            <a:endParaRPr lang="en-US" sz="1200" dirty="0"/>
          </a:p>
        </p:txBody>
      </p:sp>
      <p:sp>
        <p:nvSpPr>
          <p:cNvPr id="55" name="Pentagon 97">
            <a:extLst>
              <a:ext uri="{FF2B5EF4-FFF2-40B4-BE49-F238E27FC236}">
                <a16:creationId xmlns:a16="http://schemas.microsoft.com/office/drawing/2014/main" id="{A9C0CB88-34A7-6596-FAD3-3802214BA533}"/>
              </a:ext>
            </a:extLst>
          </p:cNvPr>
          <p:cNvSpPr/>
          <p:nvPr/>
        </p:nvSpPr>
        <p:spPr>
          <a:xfrm>
            <a:off x="4401728"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a:t>
            </a:r>
            <a:r>
              <a:rPr lang="en-US" sz="450" dirty="0">
                <a:solidFill>
                  <a:schemeClr val="tx1"/>
                </a:solidFill>
                <a:cs typeface="Arial"/>
              </a:rPr>
              <a:t> </a:t>
            </a:r>
            <a:r>
              <a:rPr lang="en-US" sz="525" dirty="0">
                <a:solidFill>
                  <a:schemeClr val="tx1"/>
                </a:solidFill>
                <a:cs typeface="Arial"/>
              </a:rPr>
              <a:t>Comments</a:t>
            </a:r>
            <a:endParaRPr lang="en-US" sz="1200" dirty="0"/>
          </a:p>
        </p:txBody>
      </p:sp>
      <p:sp>
        <p:nvSpPr>
          <p:cNvPr id="58" name="Pentagon 97">
            <a:extLst>
              <a:ext uri="{FF2B5EF4-FFF2-40B4-BE49-F238E27FC236}">
                <a16:creationId xmlns:a16="http://schemas.microsoft.com/office/drawing/2014/main" id="{D9C070BA-A516-C294-35D6-EBECBB599CBE}"/>
              </a:ext>
            </a:extLst>
          </p:cNvPr>
          <p:cNvSpPr/>
          <p:nvPr/>
        </p:nvSpPr>
        <p:spPr>
          <a:xfrm>
            <a:off x="5954753" y="4446491"/>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Thank You Notes</a:t>
            </a:r>
          </a:p>
        </p:txBody>
      </p:sp>
      <p:cxnSp>
        <p:nvCxnSpPr>
          <p:cNvPr id="159" name="Straight Connector 158">
            <a:extLst>
              <a:ext uri="{FF2B5EF4-FFF2-40B4-BE49-F238E27FC236}">
                <a16:creationId xmlns:a16="http://schemas.microsoft.com/office/drawing/2014/main" id="{7C3371DA-79F4-BCB3-7D48-393B828FE9DB}"/>
              </a:ext>
            </a:extLst>
          </p:cNvPr>
          <p:cNvCxnSpPr>
            <a:cxnSpLocks/>
          </p:cNvCxnSpPr>
          <p:nvPr/>
        </p:nvCxnSpPr>
        <p:spPr>
          <a:xfrm flipV="1">
            <a:off x="2840785" y="2905270"/>
            <a:ext cx="0" cy="2439320"/>
          </a:xfrm>
          <a:prstGeom prst="line">
            <a:avLst/>
          </a:prstGeom>
          <a:ln w="127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389CE8-657F-184B-26EC-5EC644C2F3E4}"/>
              </a:ext>
            </a:extLst>
          </p:cNvPr>
          <p:cNvCxnSpPr>
            <a:cxnSpLocks/>
          </p:cNvCxnSpPr>
          <p:nvPr/>
        </p:nvCxnSpPr>
        <p:spPr>
          <a:xfrm flipV="1">
            <a:off x="2333288" y="2905270"/>
            <a:ext cx="0" cy="2439320"/>
          </a:xfrm>
          <a:prstGeom prst="line">
            <a:avLst/>
          </a:prstGeom>
          <a:ln w="127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4F19DF8-8105-11EF-1256-087D67430552}"/>
              </a:ext>
            </a:extLst>
          </p:cNvPr>
          <p:cNvCxnSpPr>
            <a:cxnSpLocks/>
          </p:cNvCxnSpPr>
          <p:nvPr/>
        </p:nvCxnSpPr>
        <p:spPr>
          <a:xfrm>
            <a:off x="1825687"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135EBC1-AEE3-E2AB-F56F-49D199A91DBC}"/>
              </a:ext>
            </a:extLst>
          </p:cNvPr>
          <p:cNvCxnSpPr>
            <a:cxnSpLocks/>
          </p:cNvCxnSpPr>
          <p:nvPr/>
        </p:nvCxnSpPr>
        <p:spPr>
          <a:xfrm>
            <a:off x="5402735"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7B94F514-89FE-36B6-D9D1-9B549C480704}"/>
              </a:ext>
            </a:extLst>
          </p:cNvPr>
          <p:cNvCxnSpPr>
            <a:cxnSpLocks/>
          </p:cNvCxnSpPr>
          <p:nvPr/>
        </p:nvCxnSpPr>
        <p:spPr>
          <a:xfrm>
            <a:off x="4889188"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FFCC4234-E213-12E0-5D9D-C10AE9EA3321}"/>
              </a:ext>
            </a:extLst>
          </p:cNvPr>
          <p:cNvCxnSpPr>
            <a:cxnSpLocks/>
          </p:cNvCxnSpPr>
          <p:nvPr/>
        </p:nvCxnSpPr>
        <p:spPr>
          <a:xfrm>
            <a:off x="437739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BE1E8C28-B0DD-F0B1-7D5D-08C1C2DDABA4}"/>
              </a:ext>
            </a:extLst>
          </p:cNvPr>
          <p:cNvCxnSpPr>
            <a:cxnSpLocks/>
          </p:cNvCxnSpPr>
          <p:nvPr/>
        </p:nvCxnSpPr>
        <p:spPr>
          <a:xfrm>
            <a:off x="1320053"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33F8F66A-28FE-F341-38B7-3A7BED27886C}"/>
              </a:ext>
            </a:extLst>
          </p:cNvPr>
          <p:cNvCxnSpPr>
            <a:cxnSpLocks/>
          </p:cNvCxnSpPr>
          <p:nvPr/>
        </p:nvCxnSpPr>
        <p:spPr>
          <a:xfrm>
            <a:off x="386102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E254042-5AB9-1F5C-12CE-9477231F4D12}"/>
              </a:ext>
            </a:extLst>
          </p:cNvPr>
          <p:cNvCxnSpPr>
            <a:cxnSpLocks/>
          </p:cNvCxnSpPr>
          <p:nvPr/>
        </p:nvCxnSpPr>
        <p:spPr>
          <a:xfrm>
            <a:off x="591894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1E5C115-CDD4-F144-0FC2-852D7BEB174A}"/>
              </a:ext>
            </a:extLst>
          </p:cNvPr>
          <p:cNvCxnSpPr>
            <a:cxnSpLocks/>
          </p:cNvCxnSpPr>
          <p:nvPr/>
        </p:nvCxnSpPr>
        <p:spPr>
          <a:xfrm>
            <a:off x="6434813"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F1A44CF-0587-453C-0875-17691AF58FD4}"/>
              </a:ext>
            </a:extLst>
          </p:cNvPr>
          <p:cNvCxnSpPr>
            <a:cxnSpLocks/>
          </p:cNvCxnSpPr>
          <p:nvPr/>
        </p:nvCxnSpPr>
        <p:spPr>
          <a:xfrm>
            <a:off x="6951069"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2C96A2F-0533-8EDC-6786-25A285EDE104}"/>
              </a:ext>
            </a:extLst>
          </p:cNvPr>
          <p:cNvCxnSpPr>
            <a:cxnSpLocks/>
          </p:cNvCxnSpPr>
          <p:nvPr/>
        </p:nvCxnSpPr>
        <p:spPr>
          <a:xfrm>
            <a:off x="7468137"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D20801B-4592-2CE6-CD9D-23EC9C26A9E4}"/>
              </a:ext>
            </a:extLst>
          </p:cNvPr>
          <p:cNvCxnSpPr>
            <a:cxnSpLocks/>
          </p:cNvCxnSpPr>
          <p:nvPr/>
        </p:nvCxnSpPr>
        <p:spPr>
          <a:xfrm>
            <a:off x="7988582"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F6B7E25-F88D-7FF0-34FA-30C0AADC8446}"/>
              </a:ext>
            </a:extLst>
          </p:cNvPr>
          <p:cNvCxnSpPr>
            <a:cxnSpLocks/>
          </p:cNvCxnSpPr>
          <p:nvPr/>
        </p:nvCxnSpPr>
        <p:spPr>
          <a:xfrm>
            <a:off x="8505164"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138" name="TextBox 17">
            <a:extLst>
              <a:ext uri="{FF2B5EF4-FFF2-40B4-BE49-F238E27FC236}">
                <a16:creationId xmlns:a16="http://schemas.microsoft.com/office/drawing/2014/main" id="{480A662A-84E7-535C-4CB1-4C9982228E9E}"/>
              </a:ext>
            </a:extLst>
          </p:cNvPr>
          <p:cNvSpPr txBox="1"/>
          <p:nvPr/>
        </p:nvSpPr>
        <p:spPr>
          <a:xfrm>
            <a:off x="5925798" y="2589421"/>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11</a:t>
            </a:r>
          </a:p>
          <a:p>
            <a:pPr algn="ctr"/>
            <a:r>
              <a:rPr lang="en-US" sz="525" dirty="0"/>
              <a:t>Nov-13</a:t>
            </a:r>
          </a:p>
        </p:txBody>
      </p:sp>
      <p:sp>
        <p:nvSpPr>
          <p:cNvPr id="140" name="TextBox 17">
            <a:extLst>
              <a:ext uri="{FF2B5EF4-FFF2-40B4-BE49-F238E27FC236}">
                <a16:creationId xmlns:a16="http://schemas.microsoft.com/office/drawing/2014/main" id="{E40623B7-D7F6-7E2B-9AEB-9726D7BE50A4}"/>
              </a:ext>
            </a:extLst>
          </p:cNvPr>
          <p:cNvSpPr txBox="1"/>
          <p:nvPr/>
        </p:nvSpPr>
        <p:spPr>
          <a:xfrm>
            <a:off x="6446244" y="2595078"/>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12</a:t>
            </a:r>
          </a:p>
          <a:p>
            <a:pPr algn="ctr"/>
            <a:r>
              <a:rPr lang="en-US" sz="525" dirty="0"/>
              <a:t>Nov-20</a:t>
            </a:r>
          </a:p>
        </p:txBody>
      </p:sp>
      <p:sp>
        <p:nvSpPr>
          <p:cNvPr id="141" name="TextBox 17">
            <a:extLst>
              <a:ext uri="{FF2B5EF4-FFF2-40B4-BE49-F238E27FC236}">
                <a16:creationId xmlns:a16="http://schemas.microsoft.com/office/drawing/2014/main" id="{CC27108F-A577-1048-3699-00731F33348F}"/>
              </a:ext>
            </a:extLst>
          </p:cNvPr>
          <p:cNvSpPr txBox="1"/>
          <p:nvPr/>
        </p:nvSpPr>
        <p:spPr>
          <a:xfrm>
            <a:off x="6962499" y="2600735"/>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13</a:t>
            </a:r>
          </a:p>
          <a:p>
            <a:pPr algn="ctr"/>
            <a:r>
              <a:rPr lang="en-US" sz="525" dirty="0"/>
              <a:t>Nov-27</a:t>
            </a:r>
          </a:p>
        </p:txBody>
      </p:sp>
      <p:sp>
        <p:nvSpPr>
          <p:cNvPr id="142" name="TextBox 17">
            <a:extLst>
              <a:ext uri="{FF2B5EF4-FFF2-40B4-BE49-F238E27FC236}">
                <a16:creationId xmlns:a16="http://schemas.microsoft.com/office/drawing/2014/main" id="{21D14725-0774-C670-3355-63563F1CA73E}"/>
              </a:ext>
            </a:extLst>
          </p:cNvPr>
          <p:cNvSpPr txBox="1"/>
          <p:nvPr/>
        </p:nvSpPr>
        <p:spPr>
          <a:xfrm>
            <a:off x="7484139" y="2606392"/>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14</a:t>
            </a:r>
          </a:p>
          <a:p>
            <a:pPr algn="ctr"/>
            <a:r>
              <a:rPr lang="en-US" sz="525" dirty="0"/>
              <a:t>Dec-4</a:t>
            </a:r>
          </a:p>
        </p:txBody>
      </p:sp>
      <p:cxnSp>
        <p:nvCxnSpPr>
          <p:cNvPr id="145" name="Straight Connector 144">
            <a:extLst>
              <a:ext uri="{FF2B5EF4-FFF2-40B4-BE49-F238E27FC236}">
                <a16:creationId xmlns:a16="http://schemas.microsoft.com/office/drawing/2014/main" id="{7E16E160-4CE9-E4ED-7751-ED4365C7E0F5}"/>
              </a:ext>
            </a:extLst>
          </p:cNvPr>
          <p:cNvCxnSpPr>
            <a:cxnSpLocks/>
          </p:cNvCxnSpPr>
          <p:nvPr/>
        </p:nvCxnSpPr>
        <p:spPr>
          <a:xfrm>
            <a:off x="8505164"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TextBox 17">
            <a:extLst>
              <a:ext uri="{FF2B5EF4-FFF2-40B4-BE49-F238E27FC236}">
                <a16:creationId xmlns:a16="http://schemas.microsoft.com/office/drawing/2014/main" id="{ACBA2219-69B9-E7F4-6977-CA322039A721}"/>
              </a:ext>
            </a:extLst>
          </p:cNvPr>
          <p:cNvSpPr txBox="1"/>
          <p:nvPr/>
        </p:nvSpPr>
        <p:spPr>
          <a:xfrm>
            <a:off x="7742138"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December</a:t>
            </a:r>
            <a:endParaRPr lang="en-US" sz="1350" dirty="0"/>
          </a:p>
        </p:txBody>
      </p:sp>
      <p:sp>
        <p:nvSpPr>
          <p:cNvPr id="154" name="Pentagon 97">
            <a:extLst>
              <a:ext uri="{FF2B5EF4-FFF2-40B4-BE49-F238E27FC236}">
                <a16:creationId xmlns:a16="http://schemas.microsoft.com/office/drawing/2014/main" id="{632E8323-58C7-2664-5208-CD55FBCE951D}"/>
              </a:ext>
            </a:extLst>
          </p:cNvPr>
          <p:cNvSpPr/>
          <p:nvPr/>
        </p:nvSpPr>
        <p:spPr>
          <a:xfrm>
            <a:off x="8027552"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No Meeting:</a:t>
            </a:r>
          </a:p>
          <a:p>
            <a:r>
              <a:rPr lang="en-US" sz="450" dirty="0">
                <a:solidFill>
                  <a:schemeClr val="tx1"/>
                </a:solidFill>
              </a:rPr>
              <a:t>Finals</a:t>
            </a:r>
            <a:endParaRPr lang="en-US" sz="525" dirty="0">
              <a:solidFill>
                <a:schemeClr val="tx1"/>
              </a:solidFill>
            </a:endParaRPr>
          </a:p>
        </p:txBody>
      </p:sp>
      <p:sp>
        <p:nvSpPr>
          <p:cNvPr id="156" name="Pentagon 97">
            <a:extLst>
              <a:ext uri="{FF2B5EF4-FFF2-40B4-BE49-F238E27FC236}">
                <a16:creationId xmlns:a16="http://schemas.microsoft.com/office/drawing/2014/main" id="{794E1597-0205-932D-D76F-8E6A493BA30F}"/>
              </a:ext>
            </a:extLst>
          </p:cNvPr>
          <p:cNvSpPr/>
          <p:nvPr/>
        </p:nvSpPr>
        <p:spPr>
          <a:xfrm>
            <a:off x="7508522"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Holiday Party</a:t>
            </a:r>
          </a:p>
        </p:txBody>
      </p:sp>
      <p:sp>
        <p:nvSpPr>
          <p:cNvPr id="158" name="Pentagon 97">
            <a:extLst>
              <a:ext uri="{FF2B5EF4-FFF2-40B4-BE49-F238E27FC236}">
                <a16:creationId xmlns:a16="http://schemas.microsoft.com/office/drawing/2014/main" id="{C95D9711-A0C8-1719-BDDA-D18E45CD850A}"/>
              </a:ext>
            </a:extLst>
          </p:cNvPr>
          <p:cNvSpPr/>
          <p:nvPr/>
        </p:nvSpPr>
        <p:spPr>
          <a:xfrm>
            <a:off x="6988077" y="3075266"/>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No Meeting:</a:t>
            </a:r>
          </a:p>
          <a:p>
            <a:r>
              <a:rPr lang="en-US" sz="450" dirty="0">
                <a:solidFill>
                  <a:schemeClr val="tx1"/>
                </a:solidFill>
              </a:rPr>
              <a:t>Thanksgiving</a:t>
            </a:r>
            <a:endParaRPr lang="en-US" sz="525" dirty="0">
              <a:solidFill>
                <a:schemeClr val="tx1"/>
              </a:solidFill>
            </a:endParaRPr>
          </a:p>
        </p:txBody>
      </p:sp>
      <p:sp>
        <p:nvSpPr>
          <p:cNvPr id="163" name="Pentagon 97">
            <a:extLst>
              <a:ext uri="{FF2B5EF4-FFF2-40B4-BE49-F238E27FC236}">
                <a16:creationId xmlns:a16="http://schemas.microsoft.com/office/drawing/2014/main" id="{BF0AAB4A-FDA6-11DC-0C9A-5DEE453692A3}"/>
              </a:ext>
            </a:extLst>
          </p:cNvPr>
          <p:cNvSpPr/>
          <p:nvPr/>
        </p:nvSpPr>
        <p:spPr>
          <a:xfrm>
            <a:off x="6471009"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Interactive Activity</a:t>
            </a:r>
          </a:p>
        </p:txBody>
      </p:sp>
      <p:sp>
        <p:nvSpPr>
          <p:cNvPr id="164" name="Pentagon 97">
            <a:extLst>
              <a:ext uri="{FF2B5EF4-FFF2-40B4-BE49-F238E27FC236}">
                <a16:creationId xmlns:a16="http://schemas.microsoft.com/office/drawing/2014/main" id="{1A9604BD-59C6-750F-CD60-228C422C4514}"/>
              </a:ext>
            </a:extLst>
          </p:cNvPr>
          <p:cNvSpPr/>
          <p:nvPr/>
        </p:nvSpPr>
        <p:spPr>
          <a:xfrm>
            <a:off x="6471009" y="3075266"/>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VC Presentation</a:t>
            </a:r>
          </a:p>
        </p:txBody>
      </p:sp>
      <p:sp>
        <p:nvSpPr>
          <p:cNvPr id="165" name="Pentagon 97">
            <a:extLst>
              <a:ext uri="{FF2B5EF4-FFF2-40B4-BE49-F238E27FC236}">
                <a16:creationId xmlns:a16="http://schemas.microsoft.com/office/drawing/2014/main" id="{839E267E-DFA6-AF84-0853-ABD9E73C8077}"/>
              </a:ext>
            </a:extLst>
          </p:cNvPr>
          <p:cNvSpPr/>
          <p:nvPr/>
        </p:nvSpPr>
        <p:spPr>
          <a:xfrm>
            <a:off x="4917934" y="4446491"/>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VC Deck Outline</a:t>
            </a:r>
            <a:endParaRPr lang="en-US" sz="1200" dirty="0"/>
          </a:p>
        </p:txBody>
      </p:sp>
      <p:sp>
        <p:nvSpPr>
          <p:cNvPr id="166" name="Pentagon 97">
            <a:extLst>
              <a:ext uri="{FF2B5EF4-FFF2-40B4-BE49-F238E27FC236}">
                <a16:creationId xmlns:a16="http://schemas.microsoft.com/office/drawing/2014/main" id="{C4CE9866-C6B6-DA40-DB5D-28A89DD3B72E}"/>
              </a:ext>
            </a:extLst>
          </p:cNvPr>
          <p:cNvSpPr/>
          <p:nvPr/>
        </p:nvSpPr>
        <p:spPr>
          <a:xfrm>
            <a:off x="5440403" y="4446491"/>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VC Deck Creation</a:t>
            </a:r>
            <a:endParaRPr lang="en-US" sz="1200" dirty="0"/>
          </a:p>
        </p:txBody>
      </p:sp>
      <p:sp>
        <p:nvSpPr>
          <p:cNvPr id="167" name="Pentagon 97">
            <a:extLst>
              <a:ext uri="{FF2B5EF4-FFF2-40B4-BE49-F238E27FC236}">
                <a16:creationId xmlns:a16="http://schemas.microsoft.com/office/drawing/2014/main" id="{3F82F592-F143-9278-0AD5-7345DF9128C6}"/>
              </a:ext>
            </a:extLst>
          </p:cNvPr>
          <p:cNvSpPr/>
          <p:nvPr/>
        </p:nvSpPr>
        <p:spPr>
          <a:xfrm>
            <a:off x="5440403"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 Comments</a:t>
            </a:r>
            <a:endParaRPr lang="en-US" sz="1200" dirty="0"/>
          </a:p>
        </p:txBody>
      </p:sp>
      <p:cxnSp>
        <p:nvCxnSpPr>
          <p:cNvPr id="21" name="Straight Connector 20">
            <a:extLst>
              <a:ext uri="{FF2B5EF4-FFF2-40B4-BE49-F238E27FC236}">
                <a16:creationId xmlns:a16="http://schemas.microsoft.com/office/drawing/2014/main" id="{ECD16D6C-D425-7E03-8E01-598149A4642E}"/>
              </a:ext>
            </a:extLst>
          </p:cNvPr>
          <p:cNvCxnSpPr>
            <a:cxnSpLocks/>
          </p:cNvCxnSpPr>
          <p:nvPr/>
        </p:nvCxnSpPr>
        <p:spPr>
          <a:xfrm>
            <a:off x="3348740"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22" name="Pentagon 97">
            <a:extLst>
              <a:ext uri="{FF2B5EF4-FFF2-40B4-BE49-F238E27FC236}">
                <a16:creationId xmlns:a16="http://schemas.microsoft.com/office/drawing/2014/main" id="{78DDB3E8-36D5-2C44-E64F-F58C41E84939}"/>
              </a:ext>
            </a:extLst>
          </p:cNvPr>
          <p:cNvSpPr/>
          <p:nvPr/>
        </p:nvSpPr>
        <p:spPr>
          <a:xfrm>
            <a:off x="2868680"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Welcome: </a:t>
            </a:r>
            <a:r>
              <a:rPr lang="en-US" sz="450" dirty="0">
                <a:solidFill>
                  <a:schemeClr val="tx1"/>
                </a:solidFill>
              </a:rPr>
              <a:t>New</a:t>
            </a:r>
            <a:r>
              <a:rPr lang="en-US" sz="525" dirty="0">
                <a:solidFill>
                  <a:schemeClr val="tx1"/>
                </a:solidFill>
              </a:rPr>
              <a:t> </a:t>
            </a:r>
            <a:r>
              <a:rPr lang="en-US" sz="450" dirty="0">
                <a:solidFill>
                  <a:schemeClr val="tx1"/>
                </a:solidFill>
              </a:rPr>
              <a:t>Positions</a:t>
            </a:r>
            <a:endParaRPr lang="en-US" sz="525" dirty="0">
              <a:solidFill>
                <a:schemeClr val="tx1"/>
              </a:solidFill>
            </a:endParaRPr>
          </a:p>
        </p:txBody>
      </p:sp>
      <p:sp>
        <p:nvSpPr>
          <p:cNvPr id="25" name="TextBox 17">
            <a:extLst>
              <a:ext uri="{FF2B5EF4-FFF2-40B4-BE49-F238E27FC236}">
                <a16:creationId xmlns:a16="http://schemas.microsoft.com/office/drawing/2014/main" id="{D304E451-662F-BE3D-83FE-01F39FEAB616}"/>
              </a:ext>
            </a:extLst>
          </p:cNvPr>
          <p:cNvSpPr txBox="1"/>
          <p:nvPr/>
        </p:nvSpPr>
        <p:spPr>
          <a:xfrm>
            <a:off x="8002386" y="2606392"/>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15</a:t>
            </a:r>
          </a:p>
          <a:p>
            <a:pPr algn="ctr"/>
            <a:r>
              <a:rPr lang="en-US" sz="525" dirty="0"/>
              <a:t>Dec-11</a:t>
            </a:r>
          </a:p>
        </p:txBody>
      </p:sp>
      <p:sp>
        <p:nvSpPr>
          <p:cNvPr id="128" name="TextBox 127">
            <a:extLst>
              <a:ext uri="{FF2B5EF4-FFF2-40B4-BE49-F238E27FC236}">
                <a16:creationId xmlns:a16="http://schemas.microsoft.com/office/drawing/2014/main" id="{236DB98C-0C59-4957-040B-C5250D78CC7E}"/>
              </a:ext>
            </a:extLst>
          </p:cNvPr>
          <p:cNvSpPr txBox="1"/>
          <p:nvPr/>
        </p:nvSpPr>
        <p:spPr>
          <a:xfrm>
            <a:off x="7641007" y="5374308"/>
            <a:ext cx="923505" cy="173124"/>
          </a:xfrm>
          <a:prstGeom prst="rect">
            <a:avLst/>
          </a:prstGeom>
          <a:noFill/>
        </p:spPr>
        <p:txBody>
          <a:bodyPr wrap="square" rtlCol="0">
            <a:spAutoFit/>
          </a:bodyPr>
          <a:lstStyle/>
          <a:p>
            <a:pPr algn="r"/>
            <a:r>
              <a:rPr lang="en-US" sz="525" i="1" dirty="0">
                <a:solidFill>
                  <a:schemeClr val="bg2">
                    <a:lumMod val="75000"/>
                  </a:schemeClr>
                </a:solidFill>
              </a:rPr>
              <a:t>Agenda subject to change</a:t>
            </a:r>
          </a:p>
        </p:txBody>
      </p:sp>
    </p:spTree>
    <p:extLst>
      <p:ext uri="{BB962C8B-B14F-4D97-AF65-F5344CB8AC3E}">
        <p14:creationId xmlns:p14="http://schemas.microsoft.com/office/powerpoint/2010/main" val="3881402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28E9-B4B7-1362-6F73-0C6620C1AAC3}"/>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9DFA008-1421-A222-BE38-C215E38D9F1D}"/>
              </a:ext>
            </a:extLst>
          </p:cNvPr>
          <p:cNvGraphicFramePr>
            <a:graphicFrameLocks noGrp="1"/>
          </p:cNvGraphicFramePr>
          <p:nvPr/>
        </p:nvGraphicFramePr>
        <p:xfrm>
          <a:off x="462827" y="3063403"/>
          <a:ext cx="179915" cy="1148403"/>
        </p:xfrm>
        <a:graphic>
          <a:graphicData uri="http://schemas.openxmlformats.org/drawingml/2006/table">
            <a:tbl>
              <a:tblPr firstRow="1" bandRow="1">
                <a:tableStyleId>{5C22544A-7EE6-4342-B048-85BDC9FD1C3A}</a:tableStyleId>
              </a:tblPr>
              <a:tblGrid>
                <a:gridCol w="179915">
                  <a:extLst>
                    <a:ext uri="{9D8B030D-6E8A-4147-A177-3AD203B41FA5}">
                      <a16:colId xmlns:a16="http://schemas.microsoft.com/office/drawing/2014/main" val="1197984918"/>
                    </a:ext>
                  </a:extLst>
                </a:gridCol>
              </a:tblGrid>
              <a:tr h="1148403">
                <a:tc>
                  <a:txBody>
                    <a:bodyPr/>
                    <a:lstStyle/>
                    <a:p>
                      <a:pPr algn="ctr"/>
                      <a:r>
                        <a:rPr lang="en-US" sz="700" dirty="0">
                          <a:solidFill>
                            <a:schemeClr val="tx1"/>
                          </a:solidFill>
                        </a:rPr>
                        <a:t>Weekly Breakdown</a:t>
                      </a:r>
                    </a:p>
                  </a:txBody>
                  <a:tcPr marL="68580" marR="68580" marT="34290" marB="0" vert="vert270">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bl>
          </a:graphicData>
        </a:graphic>
      </p:graphicFrame>
      <p:sp>
        <p:nvSpPr>
          <p:cNvPr id="2" name="Title 1">
            <a:extLst>
              <a:ext uri="{FF2B5EF4-FFF2-40B4-BE49-F238E27FC236}">
                <a16:creationId xmlns:a16="http://schemas.microsoft.com/office/drawing/2014/main" id="{2D1FF3C7-BF1E-CF08-CE0B-28EAC49B2A62}"/>
              </a:ext>
            </a:extLst>
          </p:cNvPr>
          <p:cNvSpPr>
            <a:spLocks noGrp="1"/>
          </p:cNvSpPr>
          <p:nvPr>
            <p:ph type="title"/>
          </p:nvPr>
        </p:nvSpPr>
        <p:spPr>
          <a:xfrm>
            <a:off x="462827" y="1342352"/>
            <a:ext cx="5566853" cy="438912"/>
          </a:xfrm>
        </p:spPr>
        <p:txBody>
          <a:bodyPr>
            <a:normAutofit fontScale="90000"/>
          </a:bodyPr>
          <a:lstStyle/>
          <a:p>
            <a:r>
              <a:rPr lang="en-US" dirty="0">
                <a:latin typeface="Garamond"/>
              </a:rPr>
              <a:t>Timeline - Spring</a:t>
            </a:r>
          </a:p>
        </p:txBody>
      </p:sp>
      <p:sp>
        <p:nvSpPr>
          <p:cNvPr id="209" name="Rectangle 208">
            <a:extLst>
              <a:ext uri="{FF2B5EF4-FFF2-40B4-BE49-F238E27FC236}">
                <a16:creationId xmlns:a16="http://schemas.microsoft.com/office/drawing/2014/main" id="{2AF138D7-53E8-AA4D-801C-C0A26DB5C376}"/>
              </a:ext>
            </a:extLst>
          </p:cNvPr>
          <p:cNvSpPr/>
          <p:nvPr/>
        </p:nvSpPr>
        <p:spPr>
          <a:xfrm>
            <a:off x="696152" y="3058178"/>
            <a:ext cx="108871" cy="1145832"/>
          </a:xfrm>
          <a:prstGeom prst="rect">
            <a:avLst/>
          </a:prstGeom>
          <a:solidFill>
            <a:schemeClr val="tx1"/>
          </a:solidFill>
          <a:ln w="12700">
            <a:noFill/>
            <a:bevel/>
          </a:ln>
        </p:spPr>
        <p:style>
          <a:lnRef idx="2">
            <a:schemeClr val="accent1">
              <a:shade val="50000"/>
            </a:schemeClr>
          </a:lnRef>
          <a:fillRef idx="1">
            <a:schemeClr val="accent1"/>
          </a:fillRef>
          <a:effectRef idx="0">
            <a:schemeClr val="accent1"/>
          </a:effectRef>
          <a:fontRef idx="minor">
            <a:schemeClr val="lt1"/>
          </a:fontRef>
        </p:style>
        <p:txBody>
          <a:bodyPr vert="vert270" lIns="34290" rIns="34290" rtlCol="0" anchor="ctr"/>
          <a:lstStyle/>
          <a:p>
            <a:pPr algn="ctr"/>
            <a:r>
              <a:rPr lang="en-US" sz="675" b="1" dirty="0">
                <a:solidFill>
                  <a:schemeClr val="bg1"/>
                </a:solidFill>
              </a:rPr>
              <a:t>Weekly Meetings</a:t>
            </a:r>
          </a:p>
        </p:txBody>
      </p:sp>
      <p:sp>
        <p:nvSpPr>
          <p:cNvPr id="190" name="TextBox 17">
            <a:extLst>
              <a:ext uri="{FF2B5EF4-FFF2-40B4-BE49-F238E27FC236}">
                <a16:creationId xmlns:a16="http://schemas.microsoft.com/office/drawing/2014/main" id="{E8BC75F7-79BC-A647-B48D-60DDE70B5F5F}"/>
              </a:ext>
            </a:extLst>
          </p:cNvPr>
          <p:cNvSpPr txBox="1"/>
          <p:nvPr/>
        </p:nvSpPr>
        <p:spPr>
          <a:xfrm>
            <a:off x="810509"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a:t>
            </a:r>
          </a:p>
          <a:p>
            <a:pPr algn="ctr"/>
            <a:r>
              <a:rPr lang="en-US" sz="525" dirty="0"/>
              <a:t>Jan-22</a:t>
            </a:r>
          </a:p>
        </p:txBody>
      </p:sp>
      <p:sp>
        <p:nvSpPr>
          <p:cNvPr id="253" name="TextBox 17">
            <a:extLst>
              <a:ext uri="{FF2B5EF4-FFF2-40B4-BE49-F238E27FC236}">
                <a16:creationId xmlns:a16="http://schemas.microsoft.com/office/drawing/2014/main" id="{6D7BB0A1-D064-63BD-7AD6-A5330507E39E}"/>
              </a:ext>
            </a:extLst>
          </p:cNvPr>
          <p:cNvSpPr txBox="1"/>
          <p:nvPr/>
        </p:nvSpPr>
        <p:spPr>
          <a:xfrm>
            <a:off x="1335524"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2</a:t>
            </a:r>
          </a:p>
          <a:p>
            <a:pPr algn="ctr"/>
            <a:r>
              <a:rPr lang="en-US" sz="525" dirty="0"/>
              <a:t>Jan-29</a:t>
            </a:r>
          </a:p>
        </p:txBody>
      </p:sp>
      <p:sp>
        <p:nvSpPr>
          <p:cNvPr id="254" name="TextBox 17">
            <a:extLst>
              <a:ext uri="{FF2B5EF4-FFF2-40B4-BE49-F238E27FC236}">
                <a16:creationId xmlns:a16="http://schemas.microsoft.com/office/drawing/2014/main" id="{79800BED-0B00-2C87-3AB8-9FDD56271EFB}"/>
              </a:ext>
            </a:extLst>
          </p:cNvPr>
          <p:cNvSpPr txBox="1"/>
          <p:nvPr/>
        </p:nvSpPr>
        <p:spPr>
          <a:xfrm>
            <a:off x="1837117"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3</a:t>
            </a:r>
          </a:p>
          <a:p>
            <a:pPr algn="ctr"/>
            <a:r>
              <a:rPr lang="en-US" sz="525" dirty="0"/>
              <a:t>Feb-5</a:t>
            </a:r>
          </a:p>
        </p:txBody>
      </p:sp>
      <p:sp>
        <p:nvSpPr>
          <p:cNvPr id="255" name="TextBox 17">
            <a:extLst>
              <a:ext uri="{FF2B5EF4-FFF2-40B4-BE49-F238E27FC236}">
                <a16:creationId xmlns:a16="http://schemas.microsoft.com/office/drawing/2014/main" id="{ECDFC6C3-4456-DD1A-6D71-0753ABF1B7FC}"/>
              </a:ext>
            </a:extLst>
          </p:cNvPr>
          <p:cNvSpPr txBox="1"/>
          <p:nvPr/>
        </p:nvSpPr>
        <p:spPr>
          <a:xfrm>
            <a:off x="2367578"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4</a:t>
            </a:r>
          </a:p>
          <a:p>
            <a:pPr algn="ctr"/>
            <a:r>
              <a:rPr lang="en-US" sz="525" dirty="0"/>
              <a:t>Feb-12</a:t>
            </a:r>
          </a:p>
        </p:txBody>
      </p:sp>
      <p:sp>
        <p:nvSpPr>
          <p:cNvPr id="256" name="TextBox 17">
            <a:extLst>
              <a:ext uri="{FF2B5EF4-FFF2-40B4-BE49-F238E27FC236}">
                <a16:creationId xmlns:a16="http://schemas.microsoft.com/office/drawing/2014/main" id="{DCCFB9E6-3C7C-AEC9-1834-8323A752ACB4}"/>
              </a:ext>
            </a:extLst>
          </p:cNvPr>
          <p:cNvSpPr txBox="1"/>
          <p:nvPr/>
        </p:nvSpPr>
        <p:spPr>
          <a:xfrm>
            <a:off x="2857930"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5</a:t>
            </a:r>
          </a:p>
          <a:p>
            <a:pPr algn="ctr"/>
            <a:r>
              <a:rPr lang="en-US" sz="525" dirty="0"/>
              <a:t>Feb-19</a:t>
            </a:r>
          </a:p>
        </p:txBody>
      </p:sp>
      <p:sp>
        <p:nvSpPr>
          <p:cNvPr id="257" name="TextBox 17">
            <a:extLst>
              <a:ext uri="{FF2B5EF4-FFF2-40B4-BE49-F238E27FC236}">
                <a16:creationId xmlns:a16="http://schemas.microsoft.com/office/drawing/2014/main" id="{9B31D419-ECF4-739E-2E6F-227EA94DF969}"/>
              </a:ext>
            </a:extLst>
          </p:cNvPr>
          <p:cNvSpPr txBox="1"/>
          <p:nvPr/>
        </p:nvSpPr>
        <p:spPr>
          <a:xfrm>
            <a:off x="336017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6</a:t>
            </a:r>
          </a:p>
          <a:p>
            <a:pPr algn="ctr"/>
            <a:r>
              <a:rPr lang="en-US" sz="525" dirty="0"/>
              <a:t>Feb-26</a:t>
            </a:r>
          </a:p>
        </p:txBody>
      </p:sp>
      <p:sp>
        <p:nvSpPr>
          <p:cNvPr id="258" name="TextBox 17">
            <a:extLst>
              <a:ext uri="{FF2B5EF4-FFF2-40B4-BE49-F238E27FC236}">
                <a16:creationId xmlns:a16="http://schemas.microsoft.com/office/drawing/2014/main" id="{B8B7103D-C4C8-2EF2-C7D6-10803D0D3290}"/>
              </a:ext>
            </a:extLst>
          </p:cNvPr>
          <p:cNvSpPr txBox="1"/>
          <p:nvPr/>
        </p:nvSpPr>
        <p:spPr>
          <a:xfrm>
            <a:off x="386864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7</a:t>
            </a:r>
          </a:p>
          <a:p>
            <a:pPr algn="ctr"/>
            <a:r>
              <a:rPr lang="en-US" sz="525" dirty="0"/>
              <a:t>Mar-5</a:t>
            </a:r>
          </a:p>
        </p:txBody>
      </p:sp>
      <p:sp>
        <p:nvSpPr>
          <p:cNvPr id="259" name="TextBox 17">
            <a:extLst>
              <a:ext uri="{FF2B5EF4-FFF2-40B4-BE49-F238E27FC236}">
                <a16:creationId xmlns:a16="http://schemas.microsoft.com/office/drawing/2014/main" id="{53197CD3-1DB3-9A32-5364-6982776C23F7}"/>
              </a:ext>
            </a:extLst>
          </p:cNvPr>
          <p:cNvSpPr txBox="1"/>
          <p:nvPr/>
        </p:nvSpPr>
        <p:spPr>
          <a:xfrm>
            <a:off x="4377390"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8</a:t>
            </a:r>
          </a:p>
          <a:p>
            <a:pPr algn="ctr"/>
            <a:r>
              <a:rPr lang="en-US" sz="525" dirty="0"/>
              <a:t>Mar-12</a:t>
            </a:r>
          </a:p>
        </p:txBody>
      </p:sp>
      <p:sp>
        <p:nvSpPr>
          <p:cNvPr id="260" name="TextBox 17">
            <a:extLst>
              <a:ext uri="{FF2B5EF4-FFF2-40B4-BE49-F238E27FC236}">
                <a16:creationId xmlns:a16="http://schemas.microsoft.com/office/drawing/2014/main" id="{B548D1A9-E100-65ED-3990-541C82C9383E}"/>
              </a:ext>
            </a:extLst>
          </p:cNvPr>
          <p:cNvSpPr txBox="1"/>
          <p:nvPr/>
        </p:nvSpPr>
        <p:spPr>
          <a:xfrm>
            <a:off x="4886902"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9</a:t>
            </a:r>
          </a:p>
          <a:p>
            <a:pPr algn="ctr"/>
            <a:r>
              <a:rPr lang="en-US" sz="525" dirty="0"/>
              <a:t>Mar-19</a:t>
            </a:r>
          </a:p>
        </p:txBody>
      </p:sp>
      <p:sp>
        <p:nvSpPr>
          <p:cNvPr id="261" name="TextBox 17">
            <a:extLst>
              <a:ext uri="{FF2B5EF4-FFF2-40B4-BE49-F238E27FC236}">
                <a16:creationId xmlns:a16="http://schemas.microsoft.com/office/drawing/2014/main" id="{FCB1A0E2-F771-305C-35E8-66099ED87C5A}"/>
              </a:ext>
            </a:extLst>
          </p:cNvPr>
          <p:cNvSpPr txBox="1"/>
          <p:nvPr/>
        </p:nvSpPr>
        <p:spPr>
          <a:xfrm>
            <a:off x="5405021" y="2583763"/>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10</a:t>
            </a:r>
          </a:p>
          <a:p>
            <a:pPr algn="ctr"/>
            <a:r>
              <a:rPr lang="en-US" sz="525" dirty="0"/>
              <a:t>Mar-26</a:t>
            </a:r>
          </a:p>
        </p:txBody>
      </p:sp>
      <p:cxnSp>
        <p:nvCxnSpPr>
          <p:cNvPr id="376" name="Straight Arrow Connector 375">
            <a:extLst>
              <a:ext uri="{FF2B5EF4-FFF2-40B4-BE49-F238E27FC236}">
                <a16:creationId xmlns:a16="http://schemas.microsoft.com/office/drawing/2014/main" id="{0856873B-8F6F-25BC-A7F2-784F1A882939}"/>
              </a:ext>
            </a:extLst>
          </p:cNvPr>
          <p:cNvCxnSpPr>
            <a:cxnSpLocks/>
          </p:cNvCxnSpPr>
          <p:nvPr/>
        </p:nvCxnSpPr>
        <p:spPr>
          <a:xfrm>
            <a:off x="805023" y="2520417"/>
            <a:ext cx="7813642"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7DF00746-0337-18C1-1696-3021FCF833B3}"/>
              </a:ext>
            </a:extLst>
          </p:cNvPr>
          <p:cNvCxnSpPr>
            <a:cxnSpLocks/>
          </p:cNvCxnSpPr>
          <p:nvPr/>
        </p:nvCxnSpPr>
        <p:spPr>
          <a:xfrm>
            <a:off x="834545" y="2446664"/>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08B4A99C-169F-7DE0-E6E2-CDE20BD0BAB9}"/>
              </a:ext>
            </a:extLst>
          </p:cNvPr>
          <p:cNvCxnSpPr>
            <a:cxnSpLocks/>
          </p:cNvCxnSpPr>
          <p:nvPr/>
        </p:nvCxnSpPr>
        <p:spPr>
          <a:xfrm>
            <a:off x="6434813" y="2446664"/>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5" name="TextBox 17">
            <a:extLst>
              <a:ext uri="{FF2B5EF4-FFF2-40B4-BE49-F238E27FC236}">
                <a16:creationId xmlns:a16="http://schemas.microsoft.com/office/drawing/2014/main" id="{23280AC0-E751-0F2D-C8DD-0660041816E7}"/>
              </a:ext>
            </a:extLst>
          </p:cNvPr>
          <p:cNvSpPr txBox="1"/>
          <p:nvPr/>
        </p:nvSpPr>
        <p:spPr>
          <a:xfrm>
            <a:off x="1079755" y="240877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January</a:t>
            </a:r>
            <a:endParaRPr lang="en-US" sz="1350" dirty="0"/>
          </a:p>
        </p:txBody>
      </p:sp>
      <p:cxnSp>
        <p:nvCxnSpPr>
          <p:cNvPr id="8" name="Straight Connector 7">
            <a:extLst>
              <a:ext uri="{FF2B5EF4-FFF2-40B4-BE49-F238E27FC236}">
                <a16:creationId xmlns:a16="http://schemas.microsoft.com/office/drawing/2014/main" id="{7A7000D9-E6E3-1908-1586-51BC5DF03EBD}"/>
              </a:ext>
            </a:extLst>
          </p:cNvPr>
          <p:cNvCxnSpPr>
            <a:cxnSpLocks/>
          </p:cNvCxnSpPr>
          <p:nvPr/>
        </p:nvCxnSpPr>
        <p:spPr>
          <a:xfrm>
            <a:off x="1825687"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7">
            <a:extLst>
              <a:ext uri="{FF2B5EF4-FFF2-40B4-BE49-F238E27FC236}">
                <a16:creationId xmlns:a16="http://schemas.microsoft.com/office/drawing/2014/main" id="{8ACFFFBB-F63E-E30A-E8FC-6609F9DEA3B6}"/>
              </a:ext>
            </a:extLst>
          </p:cNvPr>
          <p:cNvSpPr txBox="1"/>
          <p:nvPr/>
        </p:nvSpPr>
        <p:spPr>
          <a:xfrm>
            <a:off x="2598545"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February</a:t>
            </a:r>
            <a:endParaRPr lang="en-US" sz="1350" dirty="0"/>
          </a:p>
        </p:txBody>
      </p:sp>
      <p:sp>
        <p:nvSpPr>
          <p:cNvPr id="36" name="Isosceles Triangle 35">
            <a:extLst>
              <a:ext uri="{FF2B5EF4-FFF2-40B4-BE49-F238E27FC236}">
                <a16:creationId xmlns:a16="http://schemas.microsoft.com/office/drawing/2014/main" id="{6C9C7857-2CD7-3069-7722-F90C6BDFFB45}"/>
              </a:ext>
            </a:extLst>
          </p:cNvPr>
          <p:cNvSpPr/>
          <p:nvPr/>
        </p:nvSpPr>
        <p:spPr bwMode="auto">
          <a:xfrm rot="10800000">
            <a:off x="6360101" y="2897298"/>
            <a:ext cx="148796" cy="115098"/>
          </a:xfrm>
          <a:prstGeom prst="triangle">
            <a:avLst/>
          </a:prstGeom>
          <a:solidFill>
            <a:schemeClr val="accent2"/>
          </a:solidFill>
          <a:ln>
            <a:solidFill>
              <a:schemeClr val="accent2"/>
            </a:solidFill>
          </a:ln>
          <a:effectLst/>
        </p:spPr>
        <p:txBody>
          <a:bodyPr wrap="square" lIns="68580" tIns="0" rIns="35100" bIns="35100" rtlCol="0" anchor="ctr" anchorCtr="0"/>
          <a:lstStyle/>
          <a:p>
            <a:pPr algn="ctr"/>
            <a:endParaRPr lang="en-US" sz="750" b="1">
              <a:cs typeface="Arial"/>
            </a:endParaRPr>
          </a:p>
        </p:txBody>
      </p:sp>
      <p:sp>
        <p:nvSpPr>
          <p:cNvPr id="155" name="Pentagon 97">
            <a:extLst>
              <a:ext uri="{FF2B5EF4-FFF2-40B4-BE49-F238E27FC236}">
                <a16:creationId xmlns:a16="http://schemas.microsoft.com/office/drawing/2014/main" id="{A1ECA32F-2953-1955-1AE8-BAFFD22BCA33}"/>
              </a:ext>
            </a:extLst>
          </p:cNvPr>
          <p:cNvSpPr/>
          <p:nvPr/>
        </p:nvSpPr>
        <p:spPr>
          <a:xfrm>
            <a:off x="3380960"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Paper LBO</a:t>
            </a:r>
            <a:endParaRPr lang="en-US" sz="1200" dirty="0">
              <a:solidFill>
                <a:schemeClr val="tx1"/>
              </a:solidFill>
            </a:endParaRPr>
          </a:p>
        </p:txBody>
      </p:sp>
      <p:sp>
        <p:nvSpPr>
          <p:cNvPr id="179" name="Pentagon 97">
            <a:extLst>
              <a:ext uri="{FF2B5EF4-FFF2-40B4-BE49-F238E27FC236}">
                <a16:creationId xmlns:a16="http://schemas.microsoft.com/office/drawing/2014/main" id="{AEBCC2C8-8C84-0FA1-C548-14371278A9EE}"/>
              </a:ext>
            </a:extLst>
          </p:cNvPr>
          <p:cNvSpPr/>
          <p:nvPr/>
        </p:nvSpPr>
        <p:spPr>
          <a:xfrm>
            <a:off x="6480092" y="3068892"/>
            <a:ext cx="480060" cy="205740"/>
          </a:xfrm>
          <a:prstGeom prst="homePlate">
            <a:avLst>
              <a:gd name="adj" fmla="val 42597"/>
            </a:avLst>
          </a:prstGeom>
          <a:solidFill>
            <a:schemeClr val="tx1">
              <a:lumMod val="65000"/>
              <a:lumOff val="3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bg1"/>
                </a:solidFill>
              </a:rPr>
              <a:t>Speaker Series</a:t>
            </a:r>
          </a:p>
        </p:txBody>
      </p:sp>
      <p:cxnSp>
        <p:nvCxnSpPr>
          <p:cNvPr id="189" name="Straight Connector 188">
            <a:extLst>
              <a:ext uri="{FF2B5EF4-FFF2-40B4-BE49-F238E27FC236}">
                <a16:creationId xmlns:a16="http://schemas.microsoft.com/office/drawing/2014/main" id="{3D679CD3-7C8D-36C0-D1D5-0C9103C1B139}"/>
              </a:ext>
            </a:extLst>
          </p:cNvPr>
          <p:cNvCxnSpPr>
            <a:cxnSpLocks/>
          </p:cNvCxnSpPr>
          <p:nvPr/>
        </p:nvCxnSpPr>
        <p:spPr>
          <a:xfrm>
            <a:off x="805022" y="4320758"/>
            <a:ext cx="7700142"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D6115C0F-CBFC-7EAA-AF51-FC4E8C5B8219}"/>
              </a:ext>
            </a:extLst>
          </p:cNvPr>
          <p:cNvGrpSpPr/>
          <p:nvPr/>
        </p:nvGrpSpPr>
        <p:grpSpPr>
          <a:xfrm>
            <a:off x="8270509" y="1367137"/>
            <a:ext cx="105461" cy="791274"/>
            <a:chOff x="4097888" y="5117893"/>
            <a:chExt cx="154676" cy="1160535"/>
          </a:xfrm>
        </p:grpSpPr>
        <p:sp>
          <p:nvSpPr>
            <p:cNvPr id="6" name="Oval 5">
              <a:extLst>
                <a:ext uri="{FF2B5EF4-FFF2-40B4-BE49-F238E27FC236}">
                  <a16:creationId xmlns:a16="http://schemas.microsoft.com/office/drawing/2014/main" id="{3C35ABE7-005B-2D0A-6214-52CF411AC5C0}"/>
                </a:ext>
              </a:extLst>
            </p:cNvPr>
            <p:cNvSpPr/>
            <p:nvPr/>
          </p:nvSpPr>
          <p:spPr bwMode="auto">
            <a:xfrm>
              <a:off x="4097888" y="5117893"/>
              <a:ext cx="154676" cy="154676"/>
            </a:xfrm>
            <a:prstGeom prst="ellipse">
              <a:avLst/>
            </a:prstGeom>
            <a:solidFill>
              <a:schemeClr val="accent6">
                <a:lumMod val="20000"/>
                <a:lumOff val="80000"/>
              </a:schemeClr>
            </a:solidFill>
            <a:ln>
              <a:noFill/>
            </a:ln>
            <a:effectLst/>
          </p:spPr>
          <p:txBody>
            <a:bodyPr wrap="square" lIns="68580" tIns="0" rIns="35100" bIns="35100" rtlCol="0" anchor="ctr" anchorCtr="0"/>
            <a:lstStyle/>
            <a:p>
              <a:pPr algn="ctr"/>
              <a:endParaRPr lang="en-US" sz="750" b="1"/>
            </a:p>
          </p:txBody>
        </p:sp>
        <p:sp>
          <p:nvSpPr>
            <p:cNvPr id="7" name="Oval 6">
              <a:extLst>
                <a:ext uri="{FF2B5EF4-FFF2-40B4-BE49-F238E27FC236}">
                  <a16:creationId xmlns:a16="http://schemas.microsoft.com/office/drawing/2014/main" id="{207DD460-54A8-9EA4-E26C-D6C5897F1805}"/>
                </a:ext>
              </a:extLst>
            </p:cNvPr>
            <p:cNvSpPr/>
            <p:nvPr/>
          </p:nvSpPr>
          <p:spPr bwMode="auto">
            <a:xfrm>
              <a:off x="4097888" y="5369358"/>
              <a:ext cx="154676" cy="154676"/>
            </a:xfrm>
            <a:prstGeom prst="ellipse">
              <a:avLst/>
            </a:prstGeom>
            <a:solidFill>
              <a:schemeClr val="tx1">
                <a:lumMod val="65000"/>
                <a:lumOff val="35000"/>
              </a:schemeClr>
            </a:solidFill>
            <a:ln>
              <a:noFill/>
            </a:ln>
            <a:effectLst/>
          </p:spPr>
          <p:txBody>
            <a:bodyPr wrap="square" lIns="68580" tIns="0" rIns="35100" bIns="35100" rtlCol="0" anchor="ctr" anchorCtr="0"/>
            <a:lstStyle/>
            <a:p>
              <a:pPr algn="ctr"/>
              <a:endParaRPr lang="en-US" sz="750" b="1"/>
            </a:p>
          </p:txBody>
        </p:sp>
        <p:sp>
          <p:nvSpPr>
            <p:cNvPr id="180" name="Oval 179">
              <a:extLst>
                <a:ext uri="{FF2B5EF4-FFF2-40B4-BE49-F238E27FC236}">
                  <a16:creationId xmlns:a16="http://schemas.microsoft.com/office/drawing/2014/main" id="{21FC9E10-2A92-9523-8985-FFEE29D57575}"/>
                </a:ext>
              </a:extLst>
            </p:cNvPr>
            <p:cNvSpPr/>
            <p:nvPr/>
          </p:nvSpPr>
          <p:spPr bwMode="auto">
            <a:xfrm>
              <a:off x="4097888" y="5620823"/>
              <a:ext cx="154676" cy="154676"/>
            </a:xfrm>
            <a:prstGeom prst="ellipse">
              <a:avLst/>
            </a:prstGeom>
            <a:solidFill>
              <a:schemeClr val="tx2">
                <a:lumMod val="60000"/>
                <a:lumOff val="40000"/>
              </a:schemeClr>
            </a:solidFill>
            <a:ln>
              <a:noFill/>
            </a:ln>
            <a:effectLst/>
          </p:spPr>
          <p:txBody>
            <a:bodyPr wrap="square" lIns="68580" tIns="0" rIns="35100" bIns="35100" rtlCol="0" anchor="ctr" anchorCtr="0"/>
            <a:lstStyle/>
            <a:p>
              <a:pPr algn="ctr"/>
              <a:endParaRPr lang="en-US" sz="750" b="1"/>
            </a:p>
          </p:txBody>
        </p:sp>
        <p:sp>
          <p:nvSpPr>
            <p:cNvPr id="181" name="Oval 180">
              <a:extLst>
                <a:ext uri="{FF2B5EF4-FFF2-40B4-BE49-F238E27FC236}">
                  <a16:creationId xmlns:a16="http://schemas.microsoft.com/office/drawing/2014/main" id="{DA20D0D6-6691-970D-9A26-ADFEBC60AE0E}"/>
                </a:ext>
              </a:extLst>
            </p:cNvPr>
            <p:cNvSpPr/>
            <p:nvPr/>
          </p:nvSpPr>
          <p:spPr bwMode="auto">
            <a:xfrm>
              <a:off x="4097888" y="5872288"/>
              <a:ext cx="154676" cy="154676"/>
            </a:xfrm>
            <a:prstGeom prst="ellipse">
              <a:avLst/>
            </a:prstGeom>
            <a:solidFill>
              <a:schemeClr val="bg1">
                <a:lumMod val="85000"/>
              </a:schemeClr>
            </a:solidFill>
            <a:ln>
              <a:noFill/>
            </a:ln>
            <a:effectLst/>
          </p:spPr>
          <p:txBody>
            <a:bodyPr wrap="square" lIns="68580" tIns="0" rIns="35100" bIns="35100" rtlCol="0" anchor="ctr" anchorCtr="0"/>
            <a:lstStyle/>
            <a:p>
              <a:pPr algn="ctr"/>
              <a:endParaRPr lang="en-US" sz="750" b="1"/>
            </a:p>
          </p:txBody>
        </p:sp>
        <p:sp>
          <p:nvSpPr>
            <p:cNvPr id="197" name="Oval 196">
              <a:extLst>
                <a:ext uri="{FF2B5EF4-FFF2-40B4-BE49-F238E27FC236}">
                  <a16:creationId xmlns:a16="http://schemas.microsoft.com/office/drawing/2014/main" id="{A0B5DF79-BA48-6AE9-A801-B9F0C10CBA20}"/>
                </a:ext>
              </a:extLst>
            </p:cNvPr>
            <p:cNvSpPr/>
            <p:nvPr/>
          </p:nvSpPr>
          <p:spPr bwMode="auto">
            <a:xfrm>
              <a:off x="4097888" y="6123752"/>
              <a:ext cx="154676" cy="154676"/>
            </a:xfrm>
            <a:prstGeom prst="ellipse">
              <a:avLst/>
            </a:prstGeom>
            <a:solidFill>
              <a:srgbClr val="E9B43C"/>
            </a:solidFill>
            <a:ln>
              <a:noFill/>
            </a:ln>
            <a:effectLst/>
          </p:spPr>
          <p:txBody>
            <a:bodyPr wrap="square" lIns="68580" tIns="0" rIns="35100" bIns="35100" rtlCol="0" anchor="ctr" anchorCtr="0"/>
            <a:lstStyle/>
            <a:p>
              <a:pPr algn="ctr"/>
              <a:endParaRPr lang="en-US" sz="750" b="1"/>
            </a:p>
          </p:txBody>
        </p:sp>
      </p:grpSp>
      <p:sp>
        <p:nvSpPr>
          <p:cNvPr id="12" name="Rectangle 11">
            <a:extLst>
              <a:ext uri="{FF2B5EF4-FFF2-40B4-BE49-F238E27FC236}">
                <a16:creationId xmlns:a16="http://schemas.microsoft.com/office/drawing/2014/main" id="{7EC8D06F-231B-A16F-014E-860F709DB2F1}"/>
              </a:ext>
            </a:extLst>
          </p:cNvPr>
          <p:cNvSpPr/>
          <p:nvPr/>
        </p:nvSpPr>
        <p:spPr>
          <a:xfrm>
            <a:off x="696152" y="4454678"/>
            <a:ext cx="108871" cy="889909"/>
          </a:xfrm>
          <a:prstGeom prst="rect">
            <a:avLst/>
          </a:prstGeom>
          <a:solidFill>
            <a:schemeClr val="tx1"/>
          </a:solidFill>
          <a:ln w="12700">
            <a:noFill/>
            <a:bevel/>
          </a:ln>
        </p:spPr>
        <p:style>
          <a:lnRef idx="2">
            <a:schemeClr val="accent1">
              <a:shade val="50000"/>
            </a:schemeClr>
          </a:lnRef>
          <a:fillRef idx="1">
            <a:schemeClr val="accent1"/>
          </a:fillRef>
          <a:effectRef idx="0">
            <a:schemeClr val="accent1"/>
          </a:effectRef>
          <a:fontRef idx="minor">
            <a:schemeClr val="lt1"/>
          </a:fontRef>
        </p:style>
        <p:txBody>
          <a:bodyPr vert="vert270" lIns="34290" tIns="34290" rIns="34290" bIns="34290" rtlCol="0" anchor="ctr"/>
          <a:lstStyle/>
          <a:p>
            <a:pPr algn="ctr"/>
            <a:r>
              <a:rPr lang="en-US" sz="675" b="1">
                <a:solidFill>
                  <a:schemeClr val="bg1"/>
                </a:solidFill>
                <a:cs typeface="Arial"/>
              </a:rPr>
              <a:t>To-Do</a:t>
            </a:r>
          </a:p>
        </p:txBody>
      </p:sp>
      <p:graphicFrame>
        <p:nvGraphicFramePr>
          <p:cNvPr id="17" name="Table 16">
            <a:extLst>
              <a:ext uri="{FF2B5EF4-FFF2-40B4-BE49-F238E27FC236}">
                <a16:creationId xmlns:a16="http://schemas.microsoft.com/office/drawing/2014/main" id="{A9B61223-768C-4097-6D63-352F0E4202F2}"/>
              </a:ext>
            </a:extLst>
          </p:cNvPr>
          <p:cNvGraphicFramePr>
            <a:graphicFrameLocks noGrp="1"/>
          </p:cNvGraphicFramePr>
          <p:nvPr/>
        </p:nvGraphicFramePr>
        <p:xfrm>
          <a:off x="7474853" y="1165191"/>
          <a:ext cx="1030312" cy="1051560"/>
        </p:xfrm>
        <a:graphic>
          <a:graphicData uri="http://schemas.openxmlformats.org/drawingml/2006/table">
            <a:tbl>
              <a:tblPr firstRow="1" bandRow="1">
                <a:tableStyleId>{2D5ABB26-0587-4C30-8999-92F81FD0307C}</a:tableStyleId>
              </a:tblPr>
              <a:tblGrid>
                <a:gridCol w="753781">
                  <a:extLst>
                    <a:ext uri="{9D8B030D-6E8A-4147-A177-3AD203B41FA5}">
                      <a16:colId xmlns:a16="http://schemas.microsoft.com/office/drawing/2014/main" val="2337334790"/>
                    </a:ext>
                  </a:extLst>
                </a:gridCol>
                <a:gridCol w="276531">
                  <a:extLst>
                    <a:ext uri="{9D8B030D-6E8A-4147-A177-3AD203B41FA5}">
                      <a16:colId xmlns:a16="http://schemas.microsoft.com/office/drawing/2014/main" val="1651867961"/>
                    </a:ext>
                  </a:extLst>
                </a:gridCol>
              </a:tblGrid>
              <a:tr h="171450">
                <a:tc gridSpan="2">
                  <a:txBody>
                    <a:bodyPr/>
                    <a:lstStyle/>
                    <a:p>
                      <a:pPr algn="ctr"/>
                      <a:r>
                        <a:rPr lang="en-US" sz="700" b="1" u="sng" dirty="0"/>
                        <a:t>Key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en-US" sz="900" dirty="0"/>
                    </a:p>
                  </a:txBody>
                  <a:tcPr/>
                </a:tc>
                <a:extLst>
                  <a:ext uri="{0D108BD9-81ED-4DB2-BD59-A6C34878D82A}">
                    <a16:rowId xmlns:a16="http://schemas.microsoft.com/office/drawing/2014/main" val="1156460340"/>
                  </a:ext>
                </a:extLst>
              </a:tr>
              <a:tr h="171450">
                <a:tc>
                  <a:txBody>
                    <a:bodyPr/>
                    <a:lstStyle/>
                    <a:p>
                      <a:r>
                        <a:rPr lang="en-US" sz="700" dirty="0"/>
                        <a:t>Events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99514898"/>
                  </a:ext>
                </a:extLst>
              </a:tr>
              <a:tr h="171450">
                <a:tc>
                  <a:txBody>
                    <a:bodyPr/>
                    <a:lstStyle/>
                    <a:p>
                      <a:r>
                        <a:rPr lang="en-US" sz="700" dirty="0"/>
                        <a:t>Speakers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57057018"/>
                  </a:ext>
                </a:extLst>
              </a:tr>
              <a:tr h="171450">
                <a:tc>
                  <a:txBody>
                    <a:bodyPr/>
                    <a:lstStyle/>
                    <a:p>
                      <a:r>
                        <a:rPr lang="en-US" sz="700" dirty="0"/>
                        <a:t>Sector Heads</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10839861"/>
                  </a:ext>
                </a:extLst>
              </a:tr>
              <a:tr h="171450">
                <a:tc>
                  <a:txBody>
                    <a:bodyPr/>
                    <a:lstStyle/>
                    <a:p>
                      <a:r>
                        <a:rPr lang="en-US" sz="700" dirty="0"/>
                        <a:t>Analyst</a:t>
                      </a:r>
                    </a:p>
                  </a:txBody>
                  <a:tcPr marL="68580" marR="68580" marT="34290" marB="34290">
                    <a:lnL w="12700" cap="flat" cmpd="sng" algn="ctr">
                      <a:solidFill>
                        <a:schemeClr val="tx1"/>
                      </a:solidFill>
                      <a:prstDash val="solid"/>
                      <a:round/>
                      <a:headEnd type="none" w="med" len="med"/>
                      <a:tailEnd type="none" w="med" len="med"/>
                    </a:lnL>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44109250"/>
                  </a:ext>
                </a:extLst>
              </a:tr>
              <a:tr h="171450">
                <a:tc>
                  <a:txBody>
                    <a:bodyPr/>
                    <a:lstStyle/>
                    <a:p>
                      <a:r>
                        <a:rPr lang="en-US" sz="700" dirty="0"/>
                        <a:t>General</a:t>
                      </a:r>
                    </a:p>
                  </a:txBody>
                  <a:tcPr marL="68580" marR="68580" marT="34290" marB="3429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US" sz="700" dirty="0"/>
                    </a:p>
                  </a:txBody>
                  <a:tcPr marL="68580" marR="68580" marT="34290" marB="3429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413626"/>
                  </a:ext>
                </a:extLst>
              </a:tr>
            </a:tbl>
          </a:graphicData>
        </a:graphic>
      </p:graphicFrame>
      <p:sp>
        <p:nvSpPr>
          <p:cNvPr id="29" name="Pentagon 97">
            <a:extLst>
              <a:ext uri="{FF2B5EF4-FFF2-40B4-BE49-F238E27FC236}">
                <a16:creationId xmlns:a16="http://schemas.microsoft.com/office/drawing/2014/main" id="{DEB6CA7A-4822-441A-A641-A92FC91019DE}"/>
              </a:ext>
            </a:extLst>
          </p:cNvPr>
          <p:cNvSpPr/>
          <p:nvPr/>
        </p:nvSpPr>
        <p:spPr>
          <a:xfrm>
            <a:off x="839993"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Market Mapping</a:t>
            </a:r>
          </a:p>
        </p:txBody>
      </p:sp>
      <p:cxnSp>
        <p:nvCxnSpPr>
          <p:cNvPr id="30" name="Straight Connector 29">
            <a:extLst>
              <a:ext uri="{FF2B5EF4-FFF2-40B4-BE49-F238E27FC236}">
                <a16:creationId xmlns:a16="http://schemas.microsoft.com/office/drawing/2014/main" id="{BD7C0C92-A730-2EFD-1A25-75895500D720}"/>
              </a:ext>
            </a:extLst>
          </p:cNvPr>
          <p:cNvCxnSpPr>
            <a:cxnSpLocks/>
          </p:cNvCxnSpPr>
          <p:nvPr/>
        </p:nvCxnSpPr>
        <p:spPr>
          <a:xfrm>
            <a:off x="3861020"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17">
            <a:extLst>
              <a:ext uri="{FF2B5EF4-FFF2-40B4-BE49-F238E27FC236}">
                <a16:creationId xmlns:a16="http://schemas.microsoft.com/office/drawing/2014/main" id="{01E73E47-CA36-A4D0-BA0F-2C60B393043E}"/>
              </a:ext>
            </a:extLst>
          </p:cNvPr>
          <p:cNvSpPr txBox="1"/>
          <p:nvPr/>
        </p:nvSpPr>
        <p:spPr>
          <a:xfrm>
            <a:off x="4891556"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March</a:t>
            </a:r>
            <a:endParaRPr lang="en-US" sz="1350" dirty="0"/>
          </a:p>
        </p:txBody>
      </p:sp>
      <p:sp>
        <p:nvSpPr>
          <p:cNvPr id="32" name="Pentagon 97">
            <a:extLst>
              <a:ext uri="{FF2B5EF4-FFF2-40B4-BE49-F238E27FC236}">
                <a16:creationId xmlns:a16="http://schemas.microsoft.com/office/drawing/2014/main" id="{A83B4EDF-F3E0-3FBD-2382-2C95D7BC0312}"/>
              </a:ext>
            </a:extLst>
          </p:cNvPr>
          <p:cNvSpPr/>
          <p:nvPr/>
        </p:nvSpPr>
        <p:spPr>
          <a:xfrm>
            <a:off x="1345627"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a:solidFill>
                  <a:schemeClr val="tx1"/>
                </a:solidFill>
              </a:rPr>
              <a:t>Recruiting Overview</a:t>
            </a:r>
            <a:endParaRPr lang="en-US" sz="525" dirty="0">
              <a:solidFill>
                <a:schemeClr val="tx1"/>
              </a:solidFill>
            </a:endParaRPr>
          </a:p>
        </p:txBody>
      </p:sp>
      <p:sp>
        <p:nvSpPr>
          <p:cNvPr id="34" name="Pentagon 97">
            <a:extLst>
              <a:ext uri="{FF2B5EF4-FFF2-40B4-BE49-F238E27FC236}">
                <a16:creationId xmlns:a16="http://schemas.microsoft.com/office/drawing/2014/main" id="{625706A8-B3F1-E799-3991-AF53EB2D7461}"/>
              </a:ext>
            </a:extLst>
          </p:cNvPr>
          <p:cNvSpPr/>
          <p:nvPr/>
        </p:nvSpPr>
        <p:spPr>
          <a:xfrm>
            <a:off x="2360725"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685800">
              <a:defRPr/>
            </a:pPr>
            <a:r>
              <a:rPr lang="en-US" sz="525" dirty="0">
                <a:solidFill>
                  <a:prstClr val="black"/>
                </a:solidFill>
                <a:latin typeface="Aptos" panose="020B0004020202020204"/>
              </a:rPr>
              <a:t>Analysis:</a:t>
            </a:r>
            <a:r>
              <a:rPr lang="en-US" sz="450" dirty="0">
                <a:solidFill>
                  <a:prstClr val="black"/>
                </a:solidFill>
                <a:latin typeface="Aptos" panose="020B0004020202020204"/>
              </a:rPr>
              <a:t> CIP/Financials</a:t>
            </a:r>
            <a:endParaRPr lang="en-US" sz="525" dirty="0">
              <a:solidFill>
                <a:prstClr val="black"/>
              </a:solidFill>
              <a:latin typeface="Aptos" panose="020B0004020202020204"/>
            </a:endParaRPr>
          </a:p>
        </p:txBody>
      </p:sp>
      <p:graphicFrame>
        <p:nvGraphicFramePr>
          <p:cNvPr id="37" name="Table 36">
            <a:extLst>
              <a:ext uri="{FF2B5EF4-FFF2-40B4-BE49-F238E27FC236}">
                <a16:creationId xmlns:a16="http://schemas.microsoft.com/office/drawing/2014/main" id="{C77E8AE0-32B1-DFEC-133A-290B1C043197}"/>
              </a:ext>
            </a:extLst>
          </p:cNvPr>
          <p:cNvGraphicFramePr>
            <a:graphicFrameLocks noGrp="1"/>
          </p:cNvGraphicFramePr>
          <p:nvPr/>
        </p:nvGraphicFramePr>
        <p:xfrm>
          <a:off x="6006189" y="2771399"/>
          <a:ext cx="861510" cy="281940"/>
        </p:xfrm>
        <a:graphic>
          <a:graphicData uri="http://schemas.openxmlformats.org/drawingml/2006/table">
            <a:tbl>
              <a:tblPr firstRow="1" bandRow="1">
                <a:tableStyleId>{5C22544A-7EE6-4342-B048-85BDC9FD1C3A}</a:tableStyleId>
              </a:tblPr>
              <a:tblGrid>
                <a:gridCol w="861510">
                  <a:extLst>
                    <a:ext uri="{9D8B030D-6E8A-4147-A177-3AD203B41FA5}">
                      <a16:colId xmlns:a16="http://schemas.microsoft.com/office/drawing/2014/main" val="1197984918"/>
                    </a:ext>
                  </a:extLst>
                </a:gridCol>
              </a:tblGrid>
              <a:tr h="102870">
                <a:tc>
                  <a:txBody>
                    <a:bodyPr/>
                    <a:lstStyle/>
                    <a:p>
                      <a:pPr lvl="0" algn="ctr">
                        <a:buNone/>
                      </a:pPr>
                      <a:r>
                        <a:rPr lang="en-US" sz="500" dirty="0">
                          <a:solidFill>
                            <a:schemeClr val="accent2"/>
                          </a:solidFill>
                        </a:rPr>
                        <a:t>E-Board Interviews</a:t>
                      </a: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680822"/>
                  </a:ext>
                </a:extLst>
              </a:tr>
              <a:tr h="171450">
                <a:tc>
                  <a:txBody>
                    <a:bodyPr/>
                    <a:lstStyle/>
                    <a:p>
                      <a:pPr lvl="0" algn="ctr">
                        <a:buNone/>
                      </a:pPr>
                      <a:endParaRPr lang="en-US" sz="900" dirty="0"/>
                    </a:p>
                  </a:txBody>
                  <a:tcPr marL="68580" marR="68580" marT="34290" marB="0">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1002863"/>
                  </a:ext>
                </a:extLst>
              </a:tr>
            </a:tbl>
          </a:graphicData>
        </a:graphic>
      </p:graphicFrame>
      <p:sp>
        <p:nvSpPr>
          <p:cNvPr id="41" name="Pentagon 97">
            <a:extLst>
              <a:ext uri="{FF2B5EF4-FFF2-40B4-BE49-F238E27FC236}">
                <a16:creationId xmlns:a16="http://schemas.microsoft.com/office/drawing/2014/main" id="{70CF8132-F198-7DC6-53DD-3E0033B040D1}"/>
              </a:ext>
            </a:extLst>
          </p:cNvPr>
          <p:cNvSpPr/>
          <p:nvPr/>
        </p:nvSpPr>
        <p:spPr>
          <a:xfrm>
            <a:off x="3897330"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Road Show:</a:t>
            </a:r>
          </a:p>
          <a:p>
            <a:r>
              <a:rPr lang="en-US" sz="450" dirty="0">
                <a:solidFill>
                  <a:schemeClr val="tx1"/>
                </a:solidFill>
              </a:rPr>
              <a:t>New York City</a:t>
            </a:r>
            <a:endParaRPr lang="en-US" sz="525" dirty="0">
              <a:solidFill>
                <a:schemeClr val="tx1"/>
              </a:solidFill>
            </a:endParaRPr>
          </a:p>
        </p:txBody>
      </p:sp>
      <p:sp>
        <p:nvSpPr>
          <p:cNvPr id="44" name="Pentagon 97">
            <a:extLst>
              <a:ext uri="{FF2B5EF4-FFF2-40B4-BE49-F238E27FC236}">
                <a16:creationId xmlns:a16="http://schemas.microsoft.com/office/drawing/2014/main" id="{F5497A21-7F25-A970-D20D-1EDDAC87CC19}"/>
              </a:ext>
            </a:extLst>
          </p:cNvPr>
          <p:cNvSpPr/>
          <p:nvPr/>
        </p:nvSpPr>
        <p:spPr>
          <a:xfrm>
            <a:off x="839993" y="445051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RE Deck Outline</a:t>
            </a:r>
            <a:endParaRPr lang="en-US" sz="1200" dirty="0"/>
          </a:p>
        </p:txBody>
      </p:sp>
      <p:sp>
        <p:nvSpPr>
          <p:cNvPr id="47" name="Pentagon 97">
            <a:extLst>
              <a:ext uri="{FF2B5EF4-FFF2-40B4-BE49-F238E27FC236}">
                <a16:creationId xmlns:a16="http://schemas.microsoft.com/office/drawing/2014/main" id="{F6FA7AE2-8B42-4008-7A50-6885C93C657C}"/>
              </a:ext>
            </a:extLst>
          </p:cNvPr>
          <p:cNvSpPr/>
          <p:nvPr/>
        </p:nvSpPr>
        <p:spPr>
          <a:xfrm>
            <a:off x="1345627" y="4450514"/>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RE Deck Creation</a:t>
            </a:r>
            <a:endParaRPr lang="en-US" sz="1200" dirty="0"/>
          </a:p>
        </p:txBody>
      </p:sp>
      <p:sp>
        <p:nvSpPr>
          <p:cNvPr id="48" name="Pentagon 97">
            <a:extLst>
              <a:ext uri="{FF2B5EF4-FFF2-40B4-BE49-F238E27FC236}">
                <a16:creationId xmlns:a16="http://schemas.microsoft.com/office/drawing/2014/main" id="{42814B83-2681-54C7-2CD7-213B321CD3B2}"/>
              </a:ext>
            </a:extLst>
          </p:cNvPr>
          <p:cNvSpPr/>
          <p:nvPr/>
        </p:nvSpPr>
        <p:spPr>
          <a:xfrm>
            <a:off x="1345627"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 Comments</a:t>
            </a:r>
            <a:endParaRPr lang="en-US" sz="1200" dirty="0"/>
          </a:p>
        </p:txBody>
      </p:sp>
      <p:sp>
        <p:nvSpPr>
          <p:cNvPr id="50" name="Pentagon 97">
            <a:extLst>
              <a:ext uri="{FF2B5EF4-FFF2-40B4-BE49-F238E27FC236}">
                <a16:creationId xmlns:a16="http://schemas.microsoft.com/office/drawing/2014/main" id="{5C2E60C4-BA41-5AE2-2069-F7C7B7D1F23E}"/>
              </a:ext>
            </a:extLst>
          </p:cNvPr>
          <p:cNvSpPr/>
          <p:nvPr/>
        </p:nvSpPr>
        <p:spPr>
          <a:xfrm>
            <a:off x="5438880"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Interactive Activity</a:t>
            </a:r>
          </a:p>
        </p:txBody>
      </p:sp>
      <p:sp>
        <p:nvSpPr>
          <p:cNvPr id="52" name="Pentagon 97">
            <a:extLst>
              <a:ext uri="{FF2B5EF4-FFF2-40B4-BE49-F238E27FC236}">
                <a16:creationId xmlns:a16="http://schemas.microsoft.com/office/drawing/2014/main" id="{D7A8F42E-76CD-C0FA-ABA5-54A2E56DC117}"/>
              </a:ext>
            </a:extLst>
          </p:cNvPr>
          <p:cNvSpPr/>
          <p:nvPr/>
        </p:nvSpPr>
        <p:spPr>
          <a:xfrm>
            <a:off x="4409128" y="3068892"/>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Hedge funds Presentation</a:t>
            </a:r>
          </a:p>
        </p:txBody>
      </p:sp>
      <p:sp>
        <p:nvSpPr>
          <p:cNvPr id="54" name="Pentagon 97">
            <a:extLst>
              <a:ext uri="{FF2B5EF4-FFF2-40B4-BE49-F238E27FC236}">
                <a16:creationId xmlns:a16="http://schemas.microsoft.com/office/drawing/2014/main" id="{D52452E5-A8DB-7129-BB04-D135DDAB9217}"/>
              </a:ext>
            </a:extLst>
          </p:cNvPr>
          <p:cNvSpPr/>
          <p:nvPr/>
        </p:nvSpPr>
        <p:spPr>
          <a:xfrm>
            <a:off x="3380960" y="4450514"/>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HF</a:t>
            </a:r>
            <a:r>
              <a:rPr lang="en-US" sz="600" dirty="0">
                <a:solidFill>
                  <a:schemeClr val="tx1"/>
                </a:solidFill>
              </a:rPr>
              <a:t> </a:t>
            </a:r>
            <a:r>
              <a:rPr lang="en-US" sz="525" dirty="0">
                <a:solidFill>
                  <a:schemeClr val="tx1"/>
                </a:solidFill>
              </a:rPr>
              <a:t>Deck Creation</a:t>
            </a:r>
            <a:endParaRPr lang="en-US" sz="1350" dirty="0"/>
          </a:p>
        </p:txBody>
      </p:sp>
      <p:sp>
        <p:nvSpPr>
          <p:cNvPr id="55" name="Pentagon 97">
            <a:extLst>
              <a:ext uri="{FF2B5EF4-FFF2-40B4-BE49-F238E27FC236}">
                <a16:creationId xmlns:a16="http://schemas.microsoft.com/office/drawing/2014/main" id="{94EAA9CB-B4F3-3984-5299-4BF5213C816B}"/>
              </a:ext>
            </a:extLst>
          </p:cNvPr>
          <p:cNvSpPr/>
          <p:nvPr/>
        </p:nvSpPr>
        <p:spPr>
          <a:xfrm>
            <a:off x="3380960"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a:t>
            </a:r>
            <a:r>
              <a:rPr lang="en-US" sz="450" dirty="0">
                <a:solidFill>
                  <a:schemeClr val="tx1"/>
                </a:solidFill>
                <a:cs typeface="Arial"/>
              </a:rPr>
              <a:t> </a:t>
            </a:r>
            <a:r>
              <a:rPr lang="en-US" sz="525" dirty="0">
                <a:solidFill>
                  <a:schemeClr val="tx1"/>
                </a:solidFill>
                <a:cs typeface="Arial"/>
              </a:rPr>
              <a:t>Comments</a:t>
            </a:r>
            <a:endParaRPr lang="en-US" sz="1200" dirty="0"/>
          </a:p>
        </p:txBody>
      </p:sp>
      <p:sp>
        <p:nvSpPr>
          <p:cNvPr id="58" name="Pentagon 97">
            <a:extLst>
              <a:ext uri="{FF2B5EF4-FFF2-40B4-BE49-F238E27FC236}">
                <a16:creationId xmlns:a16="http://schemas.microsoft.com/office/drawing/2014/main" id="{38DC1734-3063-69AC-FF61-4984AB5EFDAB}"/>
              </a:ext>
            </a:extLst>
          </p:cNvPr>
          <p:cNvSpPr/>
          <p:nvPr/>
        </p:nvSpPr>
        <p:spPr>
          <a:xfrm>
            <a:off x="6480092" y="4446491"/>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Thank You Notes</a:t>
            </a:r>
          </a:p>
        </p:txBody>
      </p:sp>
      <p:cxnSp>
        <p:nvCxnSpPr>
          <p:cNvPr id="24" name="Straight Connector 23">
            <a:extLst>
              <a:ext uri="{FF2B5EF4-FFF2-40B4-BE49-F238E27FC236}">
                <a16:creationId xmlns:a16="http://schemas.microsoft.com/office/drawing/2014/main" id="{28DAA1DD-7A48-4423-3858-70EB96829049}"/>
              </a:ext>
            </a:extLst>
          </p:cNvPr>
          <p:cNvCxnSpPr>
            <a:cxnSpLocks/>
          </p:cNvCxnSpPr>
          <p:nvPr/>
        </p:nvCxnSpPr>
        <p:spPr>
          <a:xfrm flipV="1">
            <a:off x="6434372" y="2905270"/>
            <a:ext cx="0" cy="2439320"/>
          </a:xfrm>
          <a:prstGeom prst="line">
            <a:avLst/>
          </a:prstGeom>
          <a:ln w="127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4C73A0D-285E-5DC5-971B-D9CDF4C03EF4}"/>
              </a:ext>
            </a:extLst>
          </p:cNvPr>
          <p:cNvCxnSpPr>
            <a:cxnSpLocks/>
          </p:cNvCxnSpPr>
          <p:nvPr/>
        </p:nvCxnSpPr>
        <p:spPr>
          <a:xfrm>
            <a:off x="1825687"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09AA0DC-EA14-EAFE-2C23-42B4EB2EF9ED}"/>
              </a:ext>
            </a:extLst>
          </p:cNvPr>
          <p:cNvCxnSpPr>
            <a:cxnSpLocks/>
          </p:cNvCxnSpPr>
          <p:nvPr/>
        </p:nvCxnSpPr>
        <p:spPr>
          <a:xfrm>
            <a:off x="5402735"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EAC2814-B80B-EB45-CF84-947719AE26AB}"/>
              </a:ext>
            </a:extLst>
          </p:cNvPr>
          <p:cNvCxnSpPr>
            <a:cxnSpLocks/>
          </p:cNvCxnSpPr>
          <p:nvPr/>
        </p:nvCxnSpPr>
        <p:spPr>
          <a:xfrm>
            <a:off x="4889188"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0ED20A8B-9B73-4774-D924-042695C2E768}"/>
              </a:ext>
            </a:extLst>
          </p:cNvPr>
          <p:cNvCxnSpPr>
            <a:cxnSpLocks/>
          </p:cNvCxnSpPr>
          <p:nvPr/>
        </p:nvCxnSpPr>
        <p:spPr>
          <a:xfrm>
            <a:off x="437739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5E651C8-7D1A-7A22-BE56-F71F0397EAAE}"/>
              </a:ext>
            </a:extLst>
          </p:cNvPr>
          <p:cNvCxnSpPr>
            <a:cxnSpLocks/>
          </p:cNvCxnSpPr>
          <p:nvPr/>
        </p:nvCxnSpPr>
        <p:spPr>
          <a:xfrm>
            <a:off x="1320053"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01E946BC-A315-9099-4390-E65F1734CFDC}"/>
              </a:ext>
            </a:extLst>
          </p:cNvPr>
          <p:cNvCxnSpPr>
            <a:cxnSpLocks/>
          </p:cNvCxnSpPr>
          <p:nvPr/>
        </p:nvCxnSpPr>
        <p:spPr>
          <a:xfrm>
            <a:off x="386102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8758952-C905-82D4-DBBC-CBAD00E0A79D}"/>
              </a:ext>
            </a:extLst>
          </p:cNvPr>
          <p:cNvCxnSpPr>
            <a:cxnSpLocks/>
          </p:cNvCxnSpPr>
          <p:nvPr/>
        </p:nvCxnSpPr>
        <p:spPr>
          <a:xfrm>
            <a:off x="5918940"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B06792A-49F2-709F-81DD-1D68D350DF7A}"/>
              </a:ext>
            </a:extLst>
          </p:cNvPr>
          <p:cNvCxnSpPr>
            <a:cxnSpLocks/>
          </p:cNvCxnSpPr>
          <p:nvPr/>
        </p:nvCxnSpPr>
        <p:spPr>
          <a:xfrm>
            <a:off x="7468137"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5D92EBFD-5F6A-81FC-5A65-0AAC0B779FCA}"/>
              </a:ext>
            </a:extLst>
          </p:cNvPr>
          <p:cNvCxnSpPr>
            <a:cxnSpLocks/>
          </p:cNvCxnSpPr>
          <p:nvPr/>
        </p:nvCxnSpPr>
        <p:spPr>
          <a:xfrm>
            <a:off x="7988582"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63658-4224-65F3-81B7-58FB85395B56}"/>
              </a:ext>
            </a:extLst>
          </p:cNvPr>
          <p:cNvCxnSpPr>
            <a:cxnSpLocks/>
          </p:cNvCxnSpPr>
          <p:nvPr/>
        </p:nvCxnSpPr>
        <p:spPr>
          <a:xfrm>
            <a:off x="8505164"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138" name="TextBox 17">
            <a:extLst>
              <a:ext uri="{FF2B5EF4-FFF2-40B4-BE49-F238E27FC236}">
                <a16:creationId xmlns:a16="http://schemas.microsoft.com/office/drawing/2014/main" id="{3E15476F-6A1F-0C64-9099-DE6C85D7EE8F}"/>
              </a:ext>
            </a:extLst>
          </p:cNvPr>
          <p:cNvSpPr txBox="1"/>
          <p:nvPr/>
        </p:nvSpPr>
        <p:spPr>
          <a:xfrm>
            <a:off x="5925798" y="2589421"/>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11</a:t>
            </a:r>
          </a:p>
          <a:p>
            <a:pPr algn="ctr"/>
            <a:r>
              <a:rPr lang="en-US" sz="525" dirty="0"/>
              <a:t>Apr-2</a:t>
            </a:r>
          </a:p>
        </p:txBody>
      </p:sp>
      <p:sp>
        <p:nvSpPr>
          <p:cNvPr id="140" name="TextBox 17">
            <a:extLst>
              <a:ext uri="{FF2B5EF4-FFF2-40B4-BE49-F238E27FC236}">
                <a16:creationId xmlns:a16="http://schemas.microsoft.com/office/drawing/2014/main" id="{1D3F9427-E992-2934-D97F-EAC391327D96}"/>
              </a:ext>
            </a:extLst>
          </p:cNvPr>
          <p:cNvSpPr txBox="1"/>
          <p:nvPr/>
        </p:nvSpPr>
        <p:spPr>
          <a:xfrm>
            <a:off x="6446244" y="2595078"/>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12</a:t>
            </a:r>
          </a:p>
          <a:p>
            <a:pPr algn="ctr"/>
            <a:r>
              <a:rPr lang="en-US" sz="525" dirty="0"/>
              <a:t>Apr-9</a:t>
            </a:r>
          </a:p>
        </p:txBody>
      </p:sp>
      <p:sp>
        <p:nvSpPr>
          <p:cNvPr id="141" name="TextBox 17">
            <a:extLst>
              <a:ext uri="{FF2B5EF4-FFF2-40B4-BE49-F238E27FC236}">
                <a16:creationId xmlns:a16="http://schemas.microsoft.com/office/drawing/2014/main" id="{E2316255-178C-0A33-B7E8-1649EA0BA028}"/>
              </a:ext>
            </a:extLst>
          </p:cNvPr>
          <p:cNvSpPr txBox="1"/>
          <p:nvPr/>
        </p:nvSpPr>
        <p:spPr>
          <a:xfrm>
            <a:off x="6962499" y="2600735"/>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13</a:t>
            </a:r>
          </a:p>
          <a:p>
            <a:pPr algn="ctr"/>
            <a:r>
              <a:rPr lang="en-US" sz="525" dirty="0"/>
              <a:t>Apr-16</a:t>
            </a:r>
          </a:p>
        </p:txBody>
      </p:sp>
      <p:sp>
        <p:nvSpPr>
          <p:cNvPr id="142" name="TextBox 17">
            <a:extLst>
              <a:ext uri="{FF2B5EF4-FFF2-40B4-BE49-F238E27FC236}">
                <a16:creationId xmlns:a16="http://schemas.microsoft.com/office/drawing/2014/main" id="{7B780AD2-7F44-2FFE-7197-DC6D6D270E65}"/>
              </a:ext>
            </a:extLst>
          </p:cNvPr>
          <p:cNvSpPr txBox="1"/>
          <p:nvPr/>
        </p:nvSpPr>
        <p:spPr>
          <a:xfrm>
            <a:off x="7484139" y="2606392"/>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14</a:t>
            </a:r>
          </a:p>
          <a:p>
            <a:pPr algn="ctr"/>
            <a:r>
              <a:rPr lang="en-US" sz="525" dirty="0"/>
              <a:t>Apr-23</a:t>
            </a:r>
          </a:p>
        </p:txBody>
      </p:sp>
      <p:cxnSp>
        <p:nvCxnSpPr>
          <p:cNvPr id="145" name="Straight Connector 144">
            <a:extLst>
              <a:ext uri="{FF2B5EF4-FFF2-40B4-BE49-F238E27FC236}">
                <a16:creationId xmlns:a16="http://schemas.microsoft.com/office/drawing/2014/main" id="{1950D681-446C-3ADF-F50F-3ED2C7A9A3D2}"/>
              </a:ext>
            </a:extLst>
          </p:cNvPr>
          <p:cNvCxnSpPr>
            <a:cxnSpLocks/>
          </p:cNvCxnSpPr>
          <p:nvPr/>
        </p:nvCxnSpPr>
        <p:spPr>
          <a:xfrm>
            <a:off x="8505164" y="2441600"/>
            <a:ext cx="0" cy="82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TextBox 17">
            <a:extLst>
              <a:ext uri="{FF2B5EF4-FFF2-40B4-BE49-F238E27FC236}">
                <a16:creationId xmlns:a16="http://schemas.microsoft.com/office/drawing/2014/main" id="{0F43BB87-B9D1-C9F0-2B3F-B63B62F48888}"/>
              </a:ext>
            </a:extLst>
          </p:cNvPr>
          <p:cNvSpPr txBox="1"/>
          <p:nvPr/>
        </p:nvSpPr>
        <p:spPr>
          <a:xfrm>
            <a:off x="7227788" y="2405001"/>
            <a:ext cx="480592" cy="11541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50" dirty="0"/>
              <a:t>April</a:t>
            </a:r>
            <a:endParaRPr lang="en-US" sz="1350" dirty="0"/>
          </a:p>
        </p:txBody>
      </p:sp>
      <p:sp>
        <p:nvSpPr>
          <p:cNvPr id="154" name="Pentagon 97">
            <a:extLst>
              <a:ext uri="{FF2B5EF4-FFF2-40B4-BE49-F238E27FC236}">
                <a16:creationId xmlns:a16="http://schemas.microsoft.com/office/drawing/2014/main" id="{50CBDF95-0BF2-04B6-072C-77370E1142B7}"/>
              </a:ext>
            </a:extLst>
          </p:cNvPr>
          <p:cNvSpPr/>
          <p:nvPr/>
        </p:nvSpPr>
        <p:spPr>
          <a:xfrm>
            <a:off x="8027552"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No Meeting:</a:t>
            </a:r>
          </a:p>
          <a:p>
            <a:r>
              <a:rPr lang="en-US" sz="450" dirty="0">
                <a:solidFill>
                  <a:schemeClr val="tx1"/>
                </a:solidFill>
              </a:rPr>
              <a:t>Finals</a:t>
            </a:r>
            <a:endParaRPr lang="en-US" sz="525" dirty="0">
              <a:solidFill>
                <a:schemeClr val="tx1"/>
              </a:solidFill>
            </a:endParaRPr>
          </a:p>
        </p:txBody>
      </p:sp>
      <p:sp>
        <p:nvSpPr>
          <p:cNvPr id="156" name="Pentagon 97">
            <a:extLst>
              <a:ext uri="{FF2B5EF4-FFF2-40B4-BE49-F238E27FC236}">
                <a16:creationId xmlns:a16="http://schemas.microsoft.com/office/drawing/2014/main" id="{EE66059A-D5B7-A8F1-EE8E-7C06F9B923DA}"/>
              </a:ext>
            </a:extLst>
          </p:cNvPr>
          <p:cNvSpPr/>
          <p:nvPr/>
        </p:nvSpPr>
        <p:spPr>
          <a:xfrm>
            <a:off x="7508522"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No Meeting:</a:t>
            </a:r>
          </a:p>
          <a:p>
            <a:r>
              <a:rPr lang="en-US" sz="450" dirty="0">
                <a:solidFill>
                  <a:schemeClr val="tx1"/>
                </a:solidFill>
              </a:rPr>
              <a:t>Study for Finals</a:t>
            </a:r>
            <a:endParaRPr lang="en-US" sz="375" dirty="0">
              <a:solidFill>
                <a:schemeClr val="tx1"/>
              </a:solidFill>
            </a:endParaRPr>
          </a:p>
        </p:txBody>
      </p:sp>
      <p:sp>
        <p:nvSpPr>
          <p:cNvPr id="163" name="Pentagon 97">
            <a:extLst>
              <a:ext uri="{FF2B5EF4-FFF2-40B4-BE49-F238E27FC236}">
                <a16:creationId xmlns:a16="http://schemas.microsoft.com/office/drawing/2014/main" id="{7EDFE2E9-ED20-2FFD-93F8-7567F35F9579}"/>
              </a:ext>
            </a:extLst>
          </p:cNvPr>
          <p:cNvSpPr/>
          <p:nvPr/>
        </p:nvSpPr>
        <p:spPr>
          <a:xfrm>
            <a:off x="1853228" y="3424598"/>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Interactive Activity</a:t>
            </a:r>
          </a:p>
        </p:txBody>
      </p:sp>
      <p:sp>
        <p:nvSpPr>
          <p:cNvPr id="164" name="Pentagon 97">
            <a:extLst>
              <a:ext uri="{FF2B5EF4-FFF2-40B4-BE49-F238E27FC236}">
                <a16:creationId xmlns:a16="http://schemas.microsoft.com/office/drawing/2014/main" id="{BF7A134B-2607-1969-CC1D-0744188C4750}"/>
              </a:ext>
            </a:extLst>
          </p:cNvPr>
          <p:cNvSpPr/>
          <p:nvPr/>
        </p:nvSpPr>
        <p:spPr>
          <a:xfrm>
            <a:off x="5438880" y="3075266"/>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Credit</a:t>
            </a:r>
          </a:p>
          <a:p>
            <a:r>
              <a:rPr lang="en-US" sz="525" dirty="0">
                <a:solidFill>
                  <a:schemeClr val="tx1"/>
                </a:solidFill>
              </a:rPr>
              <a:t>Presentation</a:t>
            </a:r>
          </a:p>
        </p:txBody>
      </p:sp>
      <p:sp>
        <p:nvSpPr>
          <p:cNvPr id="165" name="Pentagon 97">
            <a:extLst>
              <a:ext uri="{FF2B5EF4-FFF2-40B4-BE49-F238E27FC236}">
                <a16:creationId xmlns:a16="http://schemas.microsoft.com/office/drawing/2014/main" id="{9B23AFBC-4898-BC9B-42BD-4FF5557B9921}"/>
              </a:ext>
            </a:extLst>
          </p:cNvPr>
          <p:cNvSpPr/>
          <p:nvPr/>
        </p:nvSpPr>
        <p:spPr>
          <a:xfrm>
            <a:off x="3897330" y="4446491"/>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PC Deck Outline</a:t>
            </a:r>
            <a:endParaRPr lang="en-US" sz="1200" dirty="0"/>
          </a:p>
        </p:txBody>
      </p:sp>
      <p:sp>
        <p:nvSpPr>
          <p:cNvPr id="166" name="Pentagon 97">
            <a:extLst>
              <a:ext uri="{FF2B5EF4-FFF2-40B4-BE49-F238E27FC236}">
                <a16:creationId xmlns:a16="http://schemas.microsoft.com/office/drawing/2014/main" id="{96F3CAA7-60A5-FC62-B4E2-4EB0B45E8EA6}"/>
              </a:ext>
            </a:extLst>
          </p:cNvPr>
          <p:cNvSpPr/>
          <p:nvPr/>
        </p:nvSpPr>
        <p:spPr>
          <a:xfrm>
            <a:off x="4409128" y="4446491"/>
            <a:ext cx="480060" cy="205740"/>
          </a:xfrm>
          <a:prstGeom prst="homePlate">
            <a:avLst>
              <a:gd name="adj" fmla="val 42597"/>
            </a:avLst>
          </a:prstGeom>
          <a:solidFill>
            <a:schemeClr val="bg1">
              <a:lumMod val="8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PC Deck Creation</a:t>
            </a:r>
            <a:endParaRPr lang="en-US" sz="1200" dirty="0"/>
          </a:p>
        </p:txBody>
      </p:sp>
      <p:sp>
        <p:nvSpPr>
          <p:cNvPr id="167" name="Pentagon 97">
            <a:extLst>
              <a:ext uri="{FF2B5EF4-FFF2-40B4-BE49-F238E27FC236}">
                <a16:creationId xmlns:a16="http://schemas.microsoft.com/office/drawing/2014/main" id="{6CA752B2-26D2-AF97-66D0-FC6112A619DC}"/>
              </a:ext>
            </a:extLst>
          </p:cNvPr>
          <p:cNvSpPr/>
          <p:nvPr/>
        </p:nvSpPr>
        <p:spPr>
          <a:xfrm>
            <a:off x="4409128"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Turn Deck Comments</a:t>
            </a:r>
            <a:endParaRPr lang="en-US" sz="1200" dirty="0"/>
          </a:p>
        </p:txBody>
      </p:sp>
      <p:cxnSp>
        <p:nvCxnSpPr>
          <p:cNvPr id="21" name="Straight Connector 20">
            <a:extLst>
              <a:ext uri="{FF2B5EF4-FFF2-40B4-BE49-F238E27FC236}">
                <a16:creationId xmlns:a16="http://schemas.microsoft.com/office/drawing/2014/main" id="{30C59360-A397-6C9C-CB4F-22E09040A561}"/>
              </a:ext>
            </a:extLst>
          </p:cNvPr>
          <p:cNvCxnSpPr>
            <a:cxnSpLocks/>
          </p:cNvCxnSpPr>
          <p:nvPr/>
        </p:nvCxnSpPr>
        <p:spPr>
          <a:xfrm>
            <a:off x="3348740"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25" name="TextBox 17">
            <a:extLst>
              <a:ext uri="{FF2B5EF4-FFF2-40B4-BE49-F238E27FC236}">
                <a16:creationId xmlns:a16="http://schemas.microsoft.com/office/drawing/2014/main" id="{B14A0254-3430-179E-B983-EF161B348278}"/>
              </a:ext>
            </a:extLst>
          </p:cNvPr>
          <p:cNvSpPr txBox="1"/>
          <p:nvPr/>
        </p:nvSpPr>
        <p:spPr>
          <a:xfrm>
            <a:off x="8002386" y="2606392"/>
            <a:ext cx="480592" cy="1615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25" dirty="0"/>
              <a:t>Week 15</a:t>
            </a:r>
          </a:p>
          <a:p>
            <a:pPr algn="ctr"/>
            <a:r>
              <a:rPr lang="en-US" sz="525" dirty="0"/>
              <a:t>Apr-30</a:t>
            </a:r>
          </a:p>
        </p:txBody>
      </p:sp>
      <p:sp>
        <p:nvSpPr>
          <p:cNvPr id="4" name="TextBox 3">
            <a:extLst>
              <a:ext uri="{FF2B5EF4-FFF2-40B4-BE49-F238E27FC236}">
                <a16:creationId xmlns:a16="http://schemas.microsoft.com/office/drawing/2014/main" id="{FF0B22E3-6AA9-06B8-FBE4-3232949273AC}"/>
              </a:ext>
            </a:extLst>
          </p:cNvPr>
          <p:cNvSpPr txBox="1"/>
          <p:nvPr/>
        </p:nvSpPr>
        <p:spPr>
          <a:xfrm>
            <a:off x="7641007" y="5374308"/>
            <a:ext cx="923505" cy="173124"/>
          </a:xfrm>
          <a:prstGeom prst="rect">
            <a:avLst/>
          </a:prstGeom>
          <a:noFill/>
        </p:spPr>
        <p:txBody>
          <a:bodyPr wrap="square" rtlCol="0">
            <a:spAutoFit/>
          </a:bodyPr>
          <a:lstStyle/>
          <a:p>
            <a:pPr algn="r"/>
            <a:r>
              <a:rPr lang="en-US" sz="525" i="1" dirty="0">
                <a:solidFill>
                  <a:schemeClr val="bg2">
                    <a:lumMod val="75000"/>
                  </a:schemeClr>
                </a:solidFill>
              </a:rPr>
              <a:t>Agenda subject to change</a:t>
            </a:r>
          </a:p>
        </p:txBody>
      </p:sp>
      <p:cxnSp>
        <p:nvCxnSpPr>
          <p:cNvPr id="5" name="Straight Connector 4">
            <a:extLst>
              <a:ext uri="{FF2B5EF4-FFF2-40B4-BE49-F238E27FC236}">
                <a16:creationId xmlns:a16="http://schemas.microsoft.com/office/drawing/2014/main" id="{1A88DB1C-A5D7-5E25-41C5-D50A660783E1}"/>
              </a:ext>
            </a:extLst>
          </p:cNvPr>
          <p:cNvCxnSpPr>
            <a:cxnSpLocks/>
          </p:cNvCxnSpPr>
          <p:nvPr/>
        </p:nvCxnSpPr>
        <p:spPr>
          <a:xfrm>
            <a:off x="2333288"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D5ABC0-1F0C-6931-21B1-8EB5E29E1468}"/>
              </a:ext>
            </a:extLst>
          </p:cNvPr>
          <p:cNvCxnSpPr>
            <a:cxnSpLocks/>
          </p:cNvCxnSpPr>
          <p:nvPr/>
        </p:nvCxnSpPr>
        <p:spPr>
          <a:xfrm>
            <a:off x="2840785" y="2677423"/>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14" name="Pentagon 97">
            <a:extLst>
              <a:ext uri="{FF2B5EF4-FFF2-40B4-BE49-F238E27FC236}">
                <a16:creationId xmlns:a16="http://schemas.microsoft.com/office/drawing/2014/main" id="{9804585C-7785-3939-46DE-B04EFBA57D50}"/>
              </a:ext>
            </a:extLst>
          </p:cNvPr>
          <p:cNvSpPr/>
          <p:nvPr/>
        </p:nvSpPr>
        <p:spPr>
          <a:xfrm>
            <a:off x="2863600" y="3068892"/>
            <a:ext cx="480060" cy="205740"/>
          </a:xfrm>
          <a:prstGeom prst="homePlate">
            <a:avLst>
              <a:gd name="adj" fmla="val 42597"/>
            </a:avLst>
          </a:prstGeom>
          <a:solidFill>
            <a:schemeClr val="tx1">
              <a:lumMod val="65000"/>
              <a:lumOff val="35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bg1"/>
                </a:solidFill>
              </a:rPr>
              <a:t>Speaker Series</a:t>
            </a:r>
          </a:p>
        </p:txBody>
      </p:sp>
      <p:sp>
        <p:nvSpPr>
          <p:cNvPr id="15" name="Pentagon 97">
            <a:extLst>
              <a:ext uri="{FF2B5EF4-FFF2-40B4-BE49-F238E27FC236}">
                <a16:creationId xmlns:a16="http://schemas.microsoft.com/office/drawing/2014/main" id="{7F339C02-38FB-6BEA-9C8F-60D1A815364D}"/>
              </a:ext>
            </a:extLst>
          </p:cNvPr>
          <p:cNvSpPr/>
          <p:nvPr/>
        </p:nvSpPr>
        <p:spPr>
          <a:xfrm>
            <a:off x="1853228" y="3068892"/>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Real Estate Presentation</a:t>
            </a:r>
          </a:p>
        </p:txBody>
      </p:sp>
      <p:sp>
        <p:nvSpPr>
          <p:cNvPr id="26" name="Pentagon 97">
            <a:extLst>
              <a:ext uri="{FF2B5EF4-FFF2-40B4-BE49-F238E27FC236}">
                <a16:creationId xmlns:a16="http://schemas.microsoft.com/office/drawing/2014/main" id="{D6149C1B-8717-6D9D-D8B0-4D609C3BE3E8}"/>
              </a:ext>
            </a:extLst>
          </p:cNvPr>
          <p:cNvSpPr/>
          <p:nvPr/>
        </p:nvSpPr>
        <p:spPr>
          <a:xfrm>
            <a:off x="2868680" y="4446491"/>
            <a:ext cx="480060" cy="205740"/>
          </a:xfrm>
          <a:prstGeom prst="homePlate">
            <a:avLst>
              <a:gd name="adj" fmla="val 42597"/>
            </a:avLst>
          </a:prstGeom>
          <a:gradFill>
            <a:gsLst>
              <a:gs pos="66000">
                <a:srgbClr val="D9D9D9"/>
              </a:gs>
              <a:gs pos="62000">
                <a:srgbClr val="D9D9D9"/>
              </a:gs>
              <a:gs pos="41000">
                <a:srgbClr val="2D7FCF"/>
              </a:gs>
              <a:gs pos="100000">
                <a:srgbClr val="D9D9D9"/>
              </a:gs>
            </a:gsLst>
            <a:lin ang="12000000" scaled="0"/>
          </a:gra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Thank You Notes</a:t>
            </a:r>
          </a:p>
        </p:txBody>
      </p:sp>
      <p:sp>
        <p:nvSpPr>
          <p:cNvPr id="38" name="Pentagon 97">
            <a:extLst>
              <a:ext uri="{FF2B5EF4-FFF2-40B4-BE49-F238E27FC236}">
                <a16:creationId xmlns:a16="http://schemas.microsoft.com/office/drawing/2014/main" id="{9078E629-3727-6F82-A76B-CF628A593335}"/>
              </a:ext>
            </a:extLst>
          </p:cNvPr>
          <p:cNvSpPr/>
          <p:nvPr/>
        </p:nvSpPr>
        <p:spPr>
          <a:xfrm>
            <a:off x="4922675"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Social</a:t>
            </a:r>
          </a:p>
        </p:txBody>
      </p:sp>
      <p:sp>
        <p:nvSpPr>
          <p:cNvPr id="40" name="Pentagon 97">
            <a:extLst>
              <a:ext uri="{FF2B5EF4-FFF2-40B4-BE49-F238E27FC236}">
                <a16:creationId xmlns:a16="http://schemas.microsoft.com/office/drawing/2014/main" id="{55A300D8-F0DC-0EDA-7B59-7634A5FADBE2}"/>
              </a:ext>
            </a:extLst>
          </p:cNvPr>
          <p:cNvSpPr/>
          <p:nvPr/>
        </p:nvSpPr>
        <p:spPr>
          <a:xfrm>
            <a:off x="5954753" y="3068892"/>
            <a:ext cx="480060" cy="205740"/>
          </a:xfrm>
          <a:prstGeom prst="homePlate">
            <a:avLst>
              <a:gd name="adj" fmla="val 42597"/>
            </a:avLst>
          </a:prstGeom>
          <a:solidFill>
            <a:schemeClr val="accent6">
              <a:lumMod val="20000"/>
              <a:lumOff val="8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Spring Break</a:t>
            </a:r>
          </a:p>
        </p:txBody>
      </p:sp>
      <p:sp>
        <p:nvSpPr>
          <p:cNvPr id="45" name="Pentagon 97">
            <a:extLst>
              <a:ext uri="{FF2B5EF4-FFF2-40B4-BE49-F238E27FC236}">
                <a16:creationId xmlns:a16="http://schemas.microsoft.com/office/drawing/2014/main" id="{34C7EE3D-F485-6557-052E-DB620D4FDC38}"/>
              </a:ext>
            </a:extLst>
          </p:cNvPr>
          <p:cNvSpPr/>
          <p:nvPr/>
        </p:nvSpPr>
        <p:spPr>
          <a:xfrm>
            <a:off x="6988077" y="3429016"/>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Jeopardy</a:t>
            </a:r>
            <a:endParaRPr lang="en-US" sz="1200" dirty="0">
              <a:solidFill>
                <a:schemeClr val="tx1"/>
              </a:solidFill>
            </a:endParaRPr>
          </a:p>
        </p:txBody>
      </p:sp>
      <p:sp>
        <p:nvSpPr>
          <p:cNvPr id="51" name="Pentagon 97">
            <a:extLst>
              <a:ext uri="{FF2B5EF4-FFF2-40B4-BE49-F238E27FC236}">
                <a16:creationId xmlns:a16="http://schemas.microsoft.com/office/drawing/2014/main" id="{5A8DDC08-1CAF-4312-6059-179A0F644844}"/>
              </a:ext>
            </a:extLst>
          </p:cNvPr>
          <p:cNvSpPr/>
          <p:nvPr/>
        </p:nvSpPr>
        <p:spPr>
          <a:xfrm>
            <a:off x="6988077" y="3068892"/>
            <a:ext cx="480060" cy="205740"/>
          </a:xfrm>
          <a:prstGeom prst="homePlate">
            <a:avLst>
              <a:gd name="adj" fmla="val 42597"/>
            </a:avLst>
          </a:prstGeom>
          <a:solidFill>
            <a:srgbClr val="E9B43C"/>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r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rPr>
              <a:t>New E-Board Intros</a:t>
            </a:r>
            <a:endParaRPr lang="en-US" sz="1200" dirty="0">
              <a:solidFill>
                <a:schemeClr val="tx1"/>
              </a:solidFill>
            </a:endParaRPr>
          </a:p>
        </p:txBody>
      </p:sp>
      <p:cxnSp>
        <p:nvCxnSpPr>
          <p:cNvPr id="56" name="Straight Connector 55">
            <a:extLst>
              <a:ext uri="{FF2B5EF4-FFF2-40B4-BE49-F238E27FC236}">
                <a16:creationId xmlns:a16="http://schemas.microsoft.com/office/drawing/2014/main" id="{EEACFA00-2510-0567-82C0-0843709E14F0}"/>
              </a:ext>
            </a:extLst>
          </p:cNvPr>
          <p:cNvCxnSpPr>
            <a:cxnSpLocks/>
          </p:cNvCxnSpPr>
          <p:nvPr/>
        </p:nvCxnSpPr>
        <p:spPr>
          <a:xfrm>
            <a:off x="6960152" y="2677360"/>
            <a:ext cx="0" cy="2667167"/>
          </a:xfrm>
          <a:prstGeom prst="line">
            <a:avLst/>
          </a:prstGeom>
          <a:ln w="12700">
            <a:solidFill>
              <a:srgbClr val="9F9F9F"/>
            </a:solidFill>
            <a:prstDash val="sysDot"/>
          </a:ln>
        </p:spPr>
        <p:style>
          <a:lnRef idx="1">
            <a:schemeClr val="accent1"/>
          </a:lnRef>
          <a:fillRef idx="0">
            <a:schemeClr val="accent1"/>
          </a:fillRef>
          <a:effectRef idx="0">
            <a:schemeClr val="accent1"/>
          </a:effectRef>
          <a:fontRef idx="minor">
            <a:schemeClr val="tx1"/>
          </a:fontRef>
        </p:style>
      </p:cxnSp>
      <p:sp>
        <p:nvSpPr>
          <p:cNvPr id="57" name="Pentagon 97">
            <a:extLst>
              <a:ext uri="{FF2B5EF4-FFF2-40B4-BE49-F238E27FC236}">
                <a16:creationId xmlns:a16="http://schemas.microsoft.com/office/drawing/2014/main" id="{F14A9376-AEFF-14C8-257E-2CEE221E461A}"/>
              </a:ext>
            </a:extLst>
          </p:cNvPr>
          <p:cNvSpPr/>
          <p:nvPr/>
        </p:nvSpPr>
        <p:spPr>
          <a:xfrm>
            <a:off x="2868680" y="4782574"/>
            <a:ext cx="480060" cy="205740"/>
          </a:xfrm>
          <a:prstGeom prst="homePlate">
            <a:avLst>
              <a:gd name="adj" fmla="val 42597"/>
            </a:avLst>
          </a:prstGeom>
          <a:solidFill>
            <a:schemeClr val="tx2">
              <a:lumMod val="60000"/>
              <a:lumOff val="40000"/>
            </a:schemeClr>
          </a:solidFill>
          <a:ln w="9525">
            <a:noFill/>
            <a:bevel/>
          </a:ln>
          <a:effectLst/>
        </p:spPr>
        <p:style>
          <a:lnRef idx="2">
            <a:schemeClr val="accent1">
              <a:shade val="50000"/>
            </a:schemeClr>
          </a:lnRef>
          <a:fillRef idx="1">
            <a:schemeClr val="accent1"/>
          </a:fillRef>
          <a:effectRef idx="0">
            <a:schemeClr val="accent1"/>
          </a:effectRef>
          <a:fontRef idx="minor">
            <a:schemeClr val="lt1"/>
          </a:fontRef>
        </p:style>
        <p:txBody>
          <a:bodyPr lIns="20574" tIns="34290" rIns="34290" bIns="3429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525" dirty="0">
                <a:solidFill>
                  <a:schemeClr val="tx1"/>
                </a:solidFill>
                <a:cs typeface="Arial"/>
              </a:rPr>
              <a:t>HF Deck Outline</a:t>
            </a:r>
            <a:endParaRPr lang="en-US" sz="1200" dirty="0"/>
          </a:p>
        </p:txBody>
      </p:sp>
    </p:spTree>
    <p:extLst>
      <p:ext uri="{BB962C8B-B14F-4D97-AF65-F5344CB8AC3E}">
        <p14:creationId xmlns:p14="http://schemas.microsoft.com/office/powerpoint/2010/main" val="770379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466D77-DBB7-7B3B-F8A1-5EEB7DF3B456}"/>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a:t>Upcoming Events</a:t>
            </a:r>
            <a:endParaRPr lang="en-US" sz="3200" b="1" i="1" cap="small" baseline="0">
              <a:latin typeface="+mn-lt"/>
            </a:endParaRPr>
          </a:p>
        </p:txBody>
      </p:sp>
      <p:sp>
        <p:nvSpPr>
          <p:cNvPr id="4" name="Rectangle: Rounded Corners 3">
            <a:extLst>
              <a:ext uri="{FF2B5EF4-FFF2-40B4-BE49-F238E27FC236}">
                <a16:creationId xmlns:a16="http://schemas.microsoft.com/office/drawing/2014/main" id="{87C05F40-8EA6-463B-655B-9AC0253AF693}"/>
              </a:ext>
            </a:extLst>
          </p:cNvPr>
          <p:cNvSpPr/>
          <p:nvPr/>
        </p:nvSpPr>
        <p:spPr>
          <a:xfrm>
            <a:off x="114300" y="2932046"/>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Senior Student Panel</a:t>
            </a:r>
          </a:p>
        </p:txBody>
      </p:sp>
      <p:cxnSp>
        <p:nvCxnSpPr>
          <p:cNvPr id="5" name="Straight Connector 4">
            <a:extLst>
              <a:ext uri="{FF2B5EF4-FFF2-40B4-BE49-F238E27FC236}">
                <a16:creationId xmlns:a16="http://schemas.microsoft.com/office/drawing/2014/main" id="{87200E32-A294-F2AE-0E97-A830375E1FAE}"/>
              </a:ext>
            </a:extLst>
          </p:cNvPr>
          <p:cNvCxnSpPr>
            <a:cxnSpLocks/>
          </p:cNvCxnSpPr>
          <p:nvPr/>
        </p:nvCxnSpPr>
        <p:spPr>
          <a:xfrm flipH="1">
            <a:off x="114300" y="1853224"/>
            <a:ext cx="8915399"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5120FC0-FE75-4ED3-8E03-FF195FC47098}"/>
              </a:ext>
            </a:extLst>
          </p:cNvPr>
          <p:cNvSpPr/>
          <p:nvPr/>
        </p:nvSpPr>
        <p:spPr>
          <a:xfrm>
            <a:off x="3248019" y="2898525"/>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Thursday 9/19, 5:00pm – 6:00pm, in Room M200 </a:t>
            </a:r>
          </a:p>
        </p:txBody>
      </p:sp>
      <p:sp>
        <p:nvSpPr>
          <p:cNvPr id="27" name="Rectangle: Rounded Corners 26">
            <a:extLst>
              <a:ext uri="{FF2B5EF4-FFF2-40B4-BE49-F238E27FC236}">
                <a16:creationId xmlns:a16="http://schemas.microsoft.com/office/drawing/2014/main" id="{83BA4C4C-4622-2B29-3584-A53FFEAC0127}"/>
              </a:ext>
            </a:extLst>
          </p:cNvPr>
          <p:cNvSpPr/>
          <p:nvPr/>
        </p:nvSpPr>
        <p:spPr>
          <a:xfrm>
            <a:off x="114300" y="3823387"/>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FMI DE&amp;I Panel</a:t>
            </a:r>
          </a:p>
        </p:txBody>
      </p:sp>
      <p:cxnSp>
        <p:nvCxnSpPr>
          <p:cNvPr id="28" name="Straight Connector 27">
            <a:extLst>
              <a:ext uri="{FF2B5EF4-FFF2-40B4-BE49-F238E27FC236}">
                <a16:creationId xmlns:a16="http://schemas.microsoft.com/office/drawing/2014/main" id="{06A881B6-28D5-9585-B0D2-EC7889BBC577}"/>
              </a:ext>
            </a:extLst>
          </p:cNvPr>
          <p:cNvCxnSpPr>
            <a:cxnSpLocks/>
          </p:cNvCxnSpPr>
          <p:nvPr/>
        </p:nvCxnSpPr>
        <p:spPr>
          <a:xfrm flipH="1">
            <a:off x="114300" y="2775652"/>
            <a:ext cx="8915399"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C866B10-087E-1F61-DB65-48EF32E70A04}"/>
              </a:ext>
            </a:extLst>
          </p:cNvPr>
          <p:cNvSpPr/>
          <p:nvPr/>
        </p:nvSpPr>
        <p:spPr>
          <a:xfrm>
            <a:off x="3248019" y="3820116"/>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Thursday 9/26, 3:30pm – 5:00pm, Multipurpose Room</a:t>
            </a:r>
          </a:p>
        </p:txBody>
      </p:sp>
      <p:sp>
        <p:nvSpPr>
          <p:cNvPr id="30" name="Rectangle: Rounded Corners 29">
            <a:extLst>
              <a:ext uri="{FF2B5EF4-FFF2-40B4-BE49-F238E27FC236}">
                <a16:creationId xmlns:a16="http://schemas.microsoft.com/office/drawing/2014/main" id="{6FC79E9A-3639-433B-5E13-0EDBC0C46952}"/>
              </a:ext>
            </a:extLst>
          </p:cNvPr>
          <p:cNvSpPr/>
          <p:nvPr/>
        </p:nvSpPr>
        <p:spPr>
          <a:xfrm>
            <a:off x="114300" y="4766753"/>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Buy-side vs. Sell-side overview</a:t>
            </a:r>
          </a:p>
        </p:txBody>
      </p:sp>
      <p:cxnSp>
        <p:nvCxnSpPr>
          <p:cNvPr id="31" name="Straight Connector 30">
            <a:extLst>
              <a:ext uri="{FF2B5EF4-FFF2-40B4-BE49-F238E27FC236}">
                <a16:creationId xmlns:a16="http://schemas.microsoft.com/office/drawing/2014/main" id="{A16F80F0-D201-32C5-9A94-88408BE9A383}"/>
              </a:ext>
            </a:extLst>
          </p:cNvPr>
          <p:cNvCxnSpPr>
            <a:cxnSpLocks/>
          </p:cNvCxnSpPr>
          <p:nvPr/>
        </p:nvCxnSpPr>
        <p:spPr>
          <a:xfrm flipH="1">
            <a:off x="114300" y="3698080"/>
            <a:ext cx="8915399"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77E25C5-9692-42B3-3A0C-557DA83B121A}"/>
              </a:ext>
            </a:extLst>
          </p:cNvPr>
          <p:cNvSpPr/>
          <p:nvPr/>
        </p:nvSpPr>
        <p:spPr>
          <a:xfrm>
            <a:off x="3248018" y="4738228"/>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Thursday 9/26, 5:00pm – 6:00pm, in Room M200 </a:t>
            </a:r>
          </a:p>
        </p:txBody>
      </p:sp>
      <p:sp>
        <p:nvSpPr>
          <p:cNvPr id="33" name="Rectangle: Rounded Corners 32">
            <a:extLst>
              <a:ext uri="{FF2B5EF4-FFF2-40B4-BE49-F238E27FC236}">
                <a16:creationId xmlns:a16="http://schemas.microsoft.com/office/drawing/2014/main" id="{57969D35-550C-C2D7-9640-B48B2BA531AF}"/>
              </a:ext>
            </a:extLst>
          </p:cNvPr>
          <p:cNvSpPr/>
          <p:nvPr/>
        </p:nvSpPr>
        <p:spPr>
          <a:xfrm>
            <a:off x="114300" y="1053045"/>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Sector Head Application Deadline</a:t>
            </a:r>
          </a:p>
        </p:txBody>
      </p:sp>
      <p:cxnSp>
        <p:nvCxnSpPr>
          <p:cNvPr id="34" name="Straight Connector 33">
            <a:extLst>
              <a:ext uri="{FF2B5EF4-FFF2-40B4-BE49-F238E27FC236}">
                <a16:creationId xmlns:a16="http://schemas.microsoft.com/office/drawing/2014/main" id="{55963E2E-2F15-02F9-CA5B-44D75C8F960E}"/>
              </a:ext>
            </a:extLst>
          </p:cNvPr>
          <p:cNvCxnSpPr>
            <a:cxnSpLocks/>
          </p:cNvCxnSpPr>
          <p:nvPr/>
        </p:nvCxnSpPr>
        <p:spPr>
          <a:xfrm flipH="1">
            <a:off x="114300" y="4620508"/>
            <a:ext cx="8915399"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ACD1206F-A965-64DF-2CC8-295FC2D86191}"/>
              </a:ext>
            </a:extLst>
          </p:cNvPr>
          <p:cNvSpPr/>
          <p:nvPr/>
        </p:nvSpPr>
        <p:spPr>
          <a:xfrm>
            <a:off x="3248019" y="1029460"/>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Applications Due Monday 9/9 at 11:59pm</a:t>
            </a:r>
          </a:p>
        </p:txBody>
      </p:sp>
      <p:sp>
        <p:nvSpPr>
          <p:cNvPr id="45" name="Rectangle: Rounded Corners 44">
            <a:extLst>
              <a:ext uri="{FF2B5EF4-FFF2-40B4-BE49-F238E27FC236}">
                <a16:creationId xmlns:a16="http://schemas.microsoft.com/office/drawing/2014/main" id="{69382F2E-FB1B-59F5-1C01-8222A52CC02B}"/>
              </a:ext>
            </a:extLst>
          </p:cNvPr>
          <p:cNvSpPr/>
          <p:nvPr/>
        </p:nvSpPr>
        <p:spPr>
          <a:xfrm>
            <a:off x="133345" y="1992089"/>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Sector Analyst Application Deadline</a:t>
            </a:r>
          </a:p>
        </p:txBody>
      </p:sp>
      <p:cxnSp>
        <p:nvCxnSpPr>
          <p:cNvPr id="46" name="Straight Connector 45">
            <a:extLst>
              <a:ext uri="{FF2B5EF4-FFF2-40B4-BE49-F238E27FC236}">
                <a16:creationId xmlns:a16="http://schemas.microsoft.com/office/drawing/2014/main" id="{9D45363E-713D-5966-CBB9-CD53B83244C3}"/>
              </a:ext>
            </a:extLst>
          </p:cNvPr>
          <p:cNvCxnSpPr>
            <a:cxnSpLocks/>
          </p:cNvCxnSpPr>
          <p:nvPr/>
        </p:nvCxnSpPr>
        <p:spPr>
          <a:xfrm flipH="1">
            <a:off x="114300" y="5542936"/>
            <a:ext cx="8915399" cy="0"/>
          </a:xfrm>
          <a:prstGeom prst="line">
            <a:avLst/>
          </a:prstGeom>
          <a:ln w="28575">
            <a:solidFill>
              <a:srgbClr val="48604A"/>
            </a:solidFill>
            <a:prstDash val="sysDash"/>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36281606-2010-924B-46CE-58BE983046CB}"/>
              </a:ext>
            </a:extLst>
          </p:cNvPr>
          <p:cNvSpPr/>
          <p:nvPr/>
        </p:nvSpPr>
        <p:spPr>
          <a:xfrm>
            <a:off x="3200405" y="1963564"/>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Applications Due Monday 9/23 at 11:59pm</a:t>
            </a:r>
          </a:p>
        </p:txBody>
      </p:sp>
      <p:sp>
        <p:nvSpPr>
          <p:cNvPr id="48" name="Rectangle: Rounded Corners 47">
            <a:extLst>
              <a:ext uri="{FF2B5EF4-FFF2-40B4-BE49-F238E27FC236}">
                <a16:creationId xmlns:a16="http://schemas.microsoft.com/office/drawing/2014/main" id="{459F220C-E1B3-4ADF-5475-430B14C90AD8}"/>
              </a:ext>
            </a:extLst>
          </p:cNvPr>
          <p:cNvSpPr/>
          <p:nvPr/>
        </p:nvSpPr>
        <p:spPr>
          <a:xfrm>
            <a:off x="114300" y="5689181"/>
            <a:ext cx="2743200" cy="629939"/>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Hayride With SIA and FA</a:t>
            </a:r>
          </a:p>
        </p:txBody>
      </p:sp>
      <p:sp>
        <p:nvSpPr>
          <p:cNvPr id="50" name="Rectangle 49">
            <a:extLst>
              <a:ext uri="{FF2B5EF4-FFF2-40B4-BE49-F238E27FC236}">
                <a16:creationId xmlns:a16="http://schemas.microsoft.com/office/drawing/2014/main" id="{D258D951-3AE1-E32E-BB43-9BF313DCD01E}"/>
              </a:ext>
            </a:extLst>
          </p:cNvPr>
          <p:cNvSpPr/>
          <p:nvPr/>
        </p:nvSpPr>
        <p:spPr>
          <a:xfrm>
            <a:off x="3248017" y="5660655"/>
            <a:ext cx="5781675" cy="686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i="1" cap="small">
                <a:solidFill>
                  <a:schemeClr val="tx1"/>
                </a:solidFill>
              </a:rPr>
              <a:t>Thursday 10/24, Andy T’s - details forthcoming </a:t>
            </a:r>
          </a:p>
        </p:txBody>
      </p:sp>
    </p:spTree>
    <p:extLst>
      <p:ext uri="{BB962C8B-B14F-4D97-AF65-F5344CB8AC3E}">
        <p14:creationId xmlns:p14="http://schemas.microsoft.com/office/powerpoint/2010/main" val="1727416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6726-A82C-C300-B7D0-EFE545358477}"/>
            </a:ext>
          </a:extLst>
        </p:cNvPr>
        <p:cNvGrpSpPr/>
        <p:nvPr/>
      </p:nvGrpSpPr>
      <p:grpSpPr>
        <a:xfrm>
          <a:off x="0" y="0"/>
          <a:ext cx="0" cy="0"/>
          <a:chOff x="0" y="0"/>
          <a:chExt cx="0" cy="0"/>
        </a:xfrm>
      </p:grpSpPr>
      <p:sp>
        <p:nvSpPr>
          <p:cNvPr id="4" name="Rectangle: Rounded Corners 6">
            <a:extLst>
              <a:ext uri="{FF2B5EF4-FFF2-40B4-BE49-F238E27FC236}">
                <a16:creationId xmlns:a16="http://schemas.microsoft.com/office/drawing/2014/main" id="{236EBB9D-A782-A33C-B197-934F7B5FD7BA}"/>
              </a:ext>
            </a:extLst>
          </p:cNvPr>
          <p:cNvSpPr/>
          <p:nvPr/>
        </p:nvSpPr>
        <p:spPr>
          <a:xfrm>
            <a:off x="4808004" y="1342204"/>
            <a:ext cx="4196895" cy="432905"/>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Pricing Options </a:t>
            </a:r>
          </a:p>
        </p:txBody>
      </p:sp>
      <p:sp>
        <p:nvSpPr>
          <p:cNvPr id="5" name="Rectangle: Rounded Corners 6">
            <a:extLst>
              <a:ext uri="{FF2B5EF4-FFF2-40B4-BE49-F238E27FC236}">
                <a16:creationId xmlns:a16="http://schemas.microsoft.com/office/drawing/2014/main" id="{DB73A650-78DC-5613-BE7F-33F4D065BCD1}"/>
              </a:ext>
            </a:extLst>
          </p:cNvPr>
          <p:cNvSpPr/>
          <p:nvPr/>
        </p:nvSpPr>
        <p:spPr>
          <a:xfrm>
            <a:off x="132055" y="1342203"/>
            <a:ext cx="3985095" cy="432906"/>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Membership Benefits</a:t>
            </a:r>
            <a:endParaRPr lang="en-US" sz="2000" b="1" i="1" cap="small"/>
          </a:p>
        </p:txBody>
      </p:sp>
      <p:sp>
        <p:nvSpPr>
          <p:cNvPr id="7" name="TextBox 6">
            <a:extLst>
              <a:ext uri="{FF2B5EF4-FFF2-40B4-BE49-F238E27FC236}">
                <a16:creationId xmlns:a16="http://schemas.microsoft.com/office/drawing/2014/main" id="{E87BAE99-8DBA-4C2E-73C8-8CE5B6771B35}"/>
              </a:ext>
            </a:extLst>
          </p:cNvPr>
          <p:cNvSpPr txBox="1"/>
          <p:nvPr/>
        </p:nvSpPr>
        <p:spPr>
          <a:xfrm>
            <a:off x="132055" y="1879413"/>
            <a:ext cx="398509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i="1" cap="small" dirty="0">
                <a:cs typeface="Calibri" panose="020F0502020204030204"/>
              </a:rPr>
              <a:t>Access to exclusive slide decks and resources available on AIG website.</a:t>
            </a:r>
          </a:p>
          <a:p>
            <a:pPr marL="285750" indent="-285750">
              <a:buFont typeface="Arial"/>
              <a:buChar char="•"/>
            </a:pPr>
            <a:r>
              <a:rPr lang="en-US" b="1" i="1" cap="small" dirty="0">
                <a:cs typeface="Calibri" panose="020F0502020204030204"/>
              </a:rPr>
              <a:t>Member only Private Equity case study.</a:t>
            </a:r>
          </a:p>
          <a:p>
            <a:pPr marL="285750" indent="-285750">
              <a:buFont typeface="Arial"/>
              <a:buChar char="•"/>
            </a:pPr>
            <a:r>
              <a:rPr lang="en-US" b="1" i="1" cap="small" dirty="0">
                <a:cs typeface="Calibri" panose="020F0502020204030204"/>
              </a:rPr>
              <a:t>Future leadership application eligibility (Sector Analyst/Lead, Executive Board ).</a:t>
            </a:r>
          </a:p>
          <a:p>
            <a:pPr marL="285750" indent="-285750">
              <a:buFont typeface="Arial"/>
              <a:buChar char="•"/>
            </a:pPr>
            <a:r>
              <a:rPr lang="en-US" b="1" i="1" cap="small" dirty="0">
                <a:cs typeface="Calibri" panose="020F0502020204030204"/>
              </a:rPr>
              <a:t>Social events including Hayride, holiday parties, and NYC Roadshow</a:t>
            </a:r>
          </a:p>
        </p:txBody>
      </p:sp>
      <p:sp>
        <p:nvSpPr>
          <p:cNvPr id="11" name="Rectangle: Rounded Corners 6">
            <a:extLst>
              <a:ext uri="{FF2B5EF4-FFF2-40B4-BE49-F238E27FC236}">
                <a16:creationId xmlns:a16="http://schemas.microsoft.com/office/drawing/2014/main" id="{4DFC0164-C739-84B3-04BB-187807E4C54B}"/>
              </a:ext>
            </a:extLst>
          </p:cNvPr>
          <p:cNvSpPr/>
          <p:nvPr/>
        </p:nvSpPr>
        <p:spPr>
          <a:xfrm>
            <a:off x="132054" y="4687239"/>
            <a:ext cx="8897645" cy="385699"/>
          </a:xfrm>
          <a:prstGeom prst="roundRect">
            <a:avLst/>
          </a:prstGeom>
          <a:solidFill>
            <a:srgbClr val="48604A"/>
          </a:solidFill>
          <a:ln>
            <a:solidFill>
              <a:srgbClr val="48604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a:cs typeface="Calibri"/>
              </a:rPr>
              <a:t>How to become a paid member</a:t>
            </a:r>
          </a:p>
        </p:txBody>
      </p:sp>
      <p:sp>
        <p:nvSpPr>
          <p:cNvPr id="12" name="TextBox 11">
            <a:extLst>
              <a:ext uri="{FF2B5EF4-FFF2-40B4-BE49-F238E27FC236}">
                <a16:creationId xmlns:a16="http://schemas.microsoft.com/office/drawing/2014/main" id="{2506C13C-CB5B-FE7A-4C30-0185063FAC0E}"/>
              </a:ext>
            </a:extLst>
          </p:cNvPr>
          <p:cNvSpPr txBox="1"/>
          <p:nvPr/>
        </p:nvSpPr>
        <p:spPr>
          <a:xfrm>
            <a:off x="3646714" y="143041"/>
            <a:ext cx="5497286" cy="584775"/>
          </a:xfrm>
          <a:prstGeom prst="rect">
            <a:avLst/>
          </a:prstGeom>
          <a:noFill/>
        </p:spPr>
        <p:txBody>
          <a:bodyPr wrap="square" rtlCol="0" anchor="ctr">
            <a:spAutoFit/>
          </a:bodyPr>
          <a:lstStyle/>
          <a:p>
            <a:pPr algn="r"/>
            <a:r>
              <a:rPr lang="en-US" sz="3200" b="1" i="1" cap="small"/>
              <a:t>Paid Membership</a:t>
            </a:r>
            <a:endParaRPr lang="en-US" sz="3200" b="1" i="1" cap="small" baseline="0">
              <a:latin typeface="+mn-lt"/>
            </a:endParaRPr>
          </a:p>
        </p:txBody>
      </p:sp>
      <p:sp>
        <p:nvSpPr>
          <p:cNvPr id="2" name="TextBox 1">
            <a:extLst>
              <a:ext uri="{FF2B5EF4-FFF2-40B4-BE49-F238E27FC236}">
                <a16:creationId xmlns:a16="http://schemas.microsoft.com/office/drawing/2014/main" id="{87904514-5350-E89A-0518-D1BF458EE930}"/>
              </a:ext>
            </a:extLst>
          </p:cNvPr>
          <p:cNvSpPr txBox="1"/>
          <p:nvPr/>
        </p:nvSpPr>
        <p:spPr>
          <a:xfrm>
            <a:off x="132055" y="5342093"/>
            <a:ext cx="636205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cap="small" dirty="0">
                <a:cs typeface="Calibri"/>
              </a:rPr>
              <a:t>Dues can be paid directly using the QR code provided to the right. Please submit your payment at your earliest convenience. If you have any questions or concerns, reach out to Matt at walperma@msu.edu</a:t>
            </a:r>
          </a:p>
        </p:txBody>
      </p:sp>
      <p:sp>
        <p:nvSpPr>
          <p:cNvPr id="8" name="Rectangle: Rounded Corners 6">
            <a:extLst>
              <a:ext uri="{FF2B5EF4-FFF2-40B4-BE49-F238E27FC236}">
                <a16:creationId xmlns:a16="http://schemas.microsoft.com/office/drawing/2014/main" id="{AFECC700-48C0-5151-8F54-D3B7043F18E2}"/>
              </a:ext>
            </a:extLst>
          </p:cNvPr>
          <p:cNvSpPr/>
          <p:nvPr/>
        </p:nvSpPr>
        <p:spPr>
          <a:xfrm>
            <a:off x="4808004" y="2083441"/>
            <a:ext cx="4196895" cy="957329"/>
          </a:xfrm>
          <a:prstGeom prst="roundRect">
            <a:avLst/>
          </a:prstGeom>
          <a:noFill/>
          <a:ln w="38100">
            <a:solidFill>
              <a:srgbClr val="48604A"/>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dirty="0">
                <a:solidFill>
                  <a:schemeClr val="tx1"/>
                </a:solidFill>
                <a:cs typeface="Calibri"/>
              </a:rPr>
              <a:t>$40 for one Semester</a:t>
            </a:r>
          </a:p>
        </p:txBody>
      </p:sp>
      <p:sp>
        <p:nvSpPr>
          <p:cNvPr id="9" name="Rectangle: Rounded Corners 6">
            <a:extLst>
              <a:ext uri="{FF2B5EF4-FFF2-40B4-BE49-F238E27FC236}">
                <a16:creationId xmlns:a16="http://schemas.microsoft.com/office/drawing/2014/main" id="{256B905C-6F1F-C486-F4A9-355E38471BCA}"/>
              </a:ext>
            </a:extLst>
          </p:cNvPr>
          <p:cNvSpPr/>
          <p:nvPr/>
        </p:nvSpPr>
        <p:spPr>
          <a:xfrm>
            <a:off x="4808004" y="3429000"/>
            <a:ext cx="4196895" cy="957329"/>
          </a:xfrm>
          <a:prstGeom prst="roundRect">
            <a:avLst/>
          </a:prstGeom>
          <a:noFill/>
          <a:ln w="38100">
            <a:solidFill>
              <a:srgbClr val="48604A"/>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i="1" cap="small" dirty="0">
                <a:solidFill>
                  <a:schemeClr val="tx1"/>
                </a:solidFill>
                <a:cs typeface="Calibri"/>
              </a:rPr>
              <a:t>$65 for One Year</a:t>
            </a:r>
          </a:p>
        </p:txBody>
      </p:sp>
      <p:pic>
        <p:nvPicPr>
          <p:cNvPr id="3" name="Picture 2" descr="A qr code with circles&#10;&#10;AI-generated content may be incorrect.">
            <a:extLst>
              <a:ext uri="{FF2B5EF4-FFF2-40B4-BE49-F238E27FC236}">
                <a16:creationId xmlns:a16="http://schemas.microsoft.com/office/drawing/2014/main" id="{18A8B584-A249-AC6F-8FD9-13A337B689BE}"/>
              </a:ext>
            </a:extLst>
          </p:cNvPr>
          <p:cNvPicPr>
            <a:picLocks noChangeAspect="1"/>
          </p:cNvPicPr>
          <p:nvPr/>
        </p:nvPicPr>
        <p:blipFill>
          <a:blip r:embed="rId3">
            <a:extLst>
              <a:ext uri="{28A0092B-C50C-407E-A947-70E740481C1C}">
                <a14:useLocalDpi xmlns:a14="http://schemas.microsoft.com/office/drawing/2010/main" val="0"/>
              </a:ext>
            </a:extLst>
          </a:blip>
          <a:srcRect t="3996" b="4044"/>
          <a:stretch>
            <a:fillRect/>
          </a:stretch>
        </p:blipFill>
        <p:spPr>
          <a:xfrm>
            <a:off x="6830008" y="5106507"/>
            <a:ext cx="1502229" cy="1381459"/>
          </a:xfrm>
          <a:prstGeom prst="rect">
            <a:avLst/>
          </a:prstGeom>
        </p:spPr>
      </p:pic>
    </p:spTree>
    <p:extLst>
      <p:ext uri="{BB962C8B-B14F-4D97-AF65-F5344CB8AC3E}">
        <p14:creationId xmlns:p14="http://schemas.microsoft.com/office/powerpoint/2010/main" val="2105901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7C05F40-8EA6-463B-655B-9AC0253AF693}"/>
              </a:ext>
            </a:extLst>
          </p:cNvPr>
          <p:cNvSpPr/>
          <p:nvPr/>
        </p:nvSpPr>
        <p:spPr>
          <a:xfrm>
            <a:off x="114300" y="1103711"/>
            <a:ext cx="8915399" cy="531945"/>
          </a:xfrm>
          <a:prstGeom prst="roundRect">
            <a:avLst/>
          </a:prstGeom>
          <a:solidFill>
            <a:srgbClr val="4860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cap="small">
                <a:solidFill>
                  <a:schemeClr val="bg1"/>
                </a:solidFill>
              </a:rPr>
              <a:t>Adventis Financial Modeling Boot Camp</a:t>
            </a:r>
          </a:p>
        </p:txBody>
      </p:sp>
      <p:pic>
        <p:nvPicPr>
          <p:cNvPr id="7" name="Picture 6">
            <a:extLst>
              <a:ext uri="{FF2B5EF4-FFF2-40B4-BE49-F238E27FC236}">
                <a16:creationId xmlns:a16="http://schemas.microsoft.com/office/drawing/2014/main" id="{14D66DDC-1F4B-42DE-C61F-510D7B48DB62}"/>
              </a:ext>
            </a:extLst>
          </p:cNvPr>
          <p:cNvPicPr>
            <a:picLocks noChangeAspect="1"/>
          </p:cNvPicPr>
          <p:nvPr/>
        </p:nvPicPr>
        <p:blipFill rotWithShape="1">
          <a:blip r:embed="rId3">
            <a:extLst>
              <a:ext uri="{28A0092B-C50C-407E-A947-70E740481C1C}">
                <a14:useLocalDpi xmlns:a14="http://schemas.microsoft.com/office/drawing/2010/main" val="0"/>
              </a:ext>
            </a:extLst>
          </a:blip>
          <a:srcRect l="4613" t="55580" r="4077" b="2406"/>
          <a:stretch/>
        </p:blipFill>
        <p:spPr>
          <a:xfrm>
            <a:off x="4455041" y="2175860"/>
            <a:ext cx="4599024" cy="3072795"/>
          </a:xfrm>
          <a:prstGeom prst="rect">
            <a:avLst/>
          </a:prstGeom>
        </p:spPr>
      </p:pic>
      <p:pic>
        <p:nvPicPr>
          <p:cNvPr id="9" name="Picture 8">
            <a:extLst>
              <a:ext uri="{FF2B5EF4-FFF2-40B4-BE49-F238E27FC236}">
                <a16:creationId xmlns:a16="http://schemas.microsoft.com/office/drawing/2014/main" id="{F812F9E7-5B80-5A33-54F7-56B775FF5482}"/>
              </a:ext>
            </a:extLst>
          </p:cNvPr>
          <p:cNvPicPr>
            <a:picLocks noChangeAspect="1"/>
          </p:cNvPicPr>
          <p:nvPr/>
        </p:nvPicPr>
        <p:blipFill rotWithShape="1">
          <a:blip r:embed="rId3">
            <a:extLst>
              <a:ext uri="{28A0092B-C50C-407E-A947-70E740481C1C}">
                <a14:useLocalDpi xmlns:a14="http://schemas.microsoft.com/office/drawing/2010/main" val="0"/>
              </a:ext>
            </a:extLst>
          </a:blip>
          <a:srcRect l="2522" t="2606" r="4587" b="46356"/>
          <a:stretch/>
        </p:blipFill>
        <p:spPr>
          <a:xfrm>
            <a:off x="89935" y="2175860"/>
            <a:ext cx="4287579" cy="3420669"/>
          </a:xfrm>
          <a:prstGeom prst="rect">
            <a:avLst/>
          </a:prstGeom>
        </p:spPr>
      </p:pic>
    </p:spTree>
    <p:extLst>
      <p:ext uri="{BB962C8B-B14F-4D97-AF65-F5344CB8AC3E}">
        <p14:creationId xmlns:p14="http://schemas.microsoft.com/office/powerpoint/2010/main" val="1363803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uilding with a large roof&#10;&#10;Description automatically generated">
            <a:extLst>
              <a:ext uri="{FF2B5EF4-FFF2-40B4-BE49-F238E27FC236}">
                <a16:creationId xmlns:a16="http://schemas.microsoft.com/office/drawing/2014/main" id="{8AAC615A-0302-EF63-DABC-3D17E51E9C7E}"/>
              </a:ext>
            </a:extLst>
          </p:cNvPr>
          <p:cNvPicPr>
            <a:picLocks noChangeAspect="1"/>
          </p:cNvPicPr>
          <p:nvPr/>
        </p:nvPicPr>
        <p:blipFill rotWithShape="1">
          <a:blip r:embed="rId3">
            <a:extLst>
              <a:ext uri="{28A0092B-C50C-407E-A947-70E740481C1C}">
                <a14:useLocalDpi xmlns:a14="http://schemas.microsoft.com/office/drawing/2010/main" val="0"/>
              </a:ext>
            </a:extLst>
          </a:blip>
          <a:srcRect l="5443" t="7489" r="5612"/>
          <a:stretch/>
        </p:blipFill>
        <p:spPr>
          <a:xfrm>
            <a:off x="-1013552" y="0"/>
            <a:ext cx="11171104" cy="6864770"/>
          </a:xfrm>
          <a:prstGeom prst="rect">
            <a:avLst/>
          </a:prstGeom>
          <a:effectLst/>
        </p:spPr>
      </p:pic>
      <p:sp>
        <p:nvSpPr>
          <p:cNvPr id="3" name="Rectangle 2">
            <a:extLst>
              <a:ext uri="{FF2B5EF4-FFF2-40B4-BE49-F238E27FC236}">
                <a16:creationId xmlns:a16="http://schemas.microsoft.com/office/drawing/2014/main" id="{36AC19C1-EA9C-FCB6-8F6C-1BA9343A5822}"/>
              </a:ext>
            </a:extLst>
          </p:cNvPr>
          <p:cNvSpPr/>
          <p:nvPr/>
        </p:nvSpPr>
        <p:spPr>
          <a:xfrm>
            <a:off x="44067" y="768426"/>
            <a:ext cx="9055865" cy="5321147"/>
          </a:xfrm>
          <a:prstGeom prst="rect">
            <a:avLst/>
          </a:pr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64018FF-4265-D829-380D-0DA7F2E69FB0}"/>
              </a:ext>
            </a:extLst>
          </p:cNvPr>
          <p:cNvSpPr txBox="1"/>
          <p:nvPr/>
        </p:nvSpPr>
        <p:spPr>
          <a:xfrm>
            <a:off x="374703" y="1026666"/>
            <a:ext cx="5794741" cy="646331"/>
          </a:xfrm>
          <a:prstGeom prst="rect">
            <a:avLst/>
          </a:prstGeom>
          <a:noFill/>
        </p:spPr>
        <p:txBody>
          <a:bodyPr wrap="square" lIns="91440" tIns="45720" rIns="91440" bIns="45720" rtlCol="0" anchor="ctr">
            <a:spAutoFit/>
          </a:bodyPr>
          <a:lstStyle/>
          <a:p>
            <a:r>
              <a:rPr lang="en-US" sz="3600" b="1" cap="small" baseline="0">
                <a:latin typeface="Calibri"/>
                <a:ea typeface="Cambria" panose="02040503050406030204" pitchFamily="18" charset="0"/>
                <a:cs typeface="Calibri"/>
              </a:rPr>
              <a:t>Q&amp;A Period</a:t>
            </a:r>
          </a:p>
        </p:txBody>
      </p:sp>
      <p:grpSp>
        <p:nvGrpSpPr>
          <p:cNvPr id="16" name="Group 15">
            <a:extLst>
              <a:ext uri="{FF2B5EF4-FFF2-40B4-BE49-F238E27FC236}">
                <a16:creationId xmlns:a16="http://schemas.microsoft.com/office/drawing/2014/main" id="{DEB9ABD8-9A6F-E663-9667-1E28063EF91D}"/>
              </a:ext>
            </a:extLst>
          </p:cNvPr>
          <p:cNvGrpSpPr/>
          <p:nvPr/>
        </p:nvGrpSpPr>
        <p:grpSpPr>
          <a:xfrm>
            <a:off x="2358437" y="4409737"/>
            <a:ext cx="4427123" cy="954107"/>
            <a:chOff x="2358437" y="4784309"/>
            <a:chExt cx="4427123" cy="954107"/>
          </a:xfrm>
        </p:grpSpPr>
        <p:sp>
          <p:nvSpPr>
            <p:cNvPr id="9" name="TextBox 8">
              <a:extLst>
                <a:ext uri="{FF2B5EF4-FFF2-40B4-BE49-F238E27FC236}">
                  <a16:creationId xmlns:a16="http://schemas.microsoft.com/office/drawing/2014/main" id="{FEAFCB6B-0CBD-8AEA-F5E7-2472E6FB2E73}"/>
                </a:ext>
              </a:extLst>
            </p:cNvPr>
            <p:cNvSpPr txBox="1"/>
            <p:nvPr/>
          </p:nvSpPr>
          <p:spPr>
            <a:xfrm>
              <a:off x="2358437" y="4784309"/>
              <a:ext cx="4427123" cy="954107"/>
            </a:xfrm>
            <a:prstGeom prst="rect">
              <a:avLst/>
            </a:prstGeom>
            <a:noFill/>
          </p:spPr>
          <p:txBody>
            <a:bodyPr wrap="square" rtlCol="0">
              <a:spAutoFit/>
            </a:bodyPr>
            <a:lstStyle/>
            <a:p>
              <a:pPr algn="ctr"/>
              <a:r>
                <a:rPr lang="en-US" sz="2000" b="1" cap="small" dirty="0">
                  <a:solidFill>
                    <a:srgbClr val="3C614B"/>
                  </a:solidFill>
                  <a:latin typeface="Calibri"/>
                  <a:ea typeface="Cambria" panose="02040503050406030204" pitchFamily="18" charset="0"/>
                  <a:cs typeface="Calibri"/>
                </a:rPr>
                <a:t>Alternative Investments Group</a:t>
              </a:r>
              <a:endParaRPr lang="en-US" sz="2000" b="1" cap="small" dirty="0">
                <a:latin typeface="Calibri"/>
                <a:ea typeface="Cambria" panose="02040503050406030204" pitchFamily="18" charset="0"/>
                <a:cs typeface="Calibri"/>
              </a:endParaRPr>
            </a:p>
            <a:p>
              <a:pPr algn="ctr"/>
              <a:r>
                <a:rPr lang="en-US" b="1" cap="small" dirty="0">
                  <a:latin typeface="Calibri"/>
                  <a:ea typeface="Cambria" panose="02040503050406030204" pitchFamily="18" charset="0"/>
                  <a:cs typeface="Calibri"/>
                </a:rPr>
                <a:t>aigmsu@gmail.com</a:t>
              </a:r>
            </a:p>
            <a:p>
              <a:pPr algn="ctr"/>
              <a:r>
                <a:rPr lang="en-US" b="1" cap="small" dirty="0">
                  <a:latin typeface="Calibri"/>
                  <a:ea typeface="Cambria" panose="02040503050406030204" pitchFamily="18" charset="0"/>
                  <a:cs typeface="Calibri"/>
                </a:rPr>
                <a:t>     @aig_msu</a:t>
              </a:r>
            </a:p>
          </p:txBody>
        </p:sp>
        <p:pic>
          <p:nvPicPr>
            <p:cNvPr id="1026" name="Picture 2">
              <a:extLst>
                <a:ext uri="{FF2B5EF4-FFF2-40B4-BE49-F238E27FC236}">
                  <a16:creationId xmlns:a16="http://schemas.microsoft.com/office/drawing/2014/main" id="{ECA8EF34-692F-44AB-1708-9E1EB76EE1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110" y="5449860"/>
              <a:ext cx="220683" cy="22068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 name="Straight Connector 10">
            <a:extLst>
              <a:ext uri="{FF2B5EF4-FFF2-40B4-BE49-F238E27FC236}">
                <a16:creationId xmlns:a16="http://schemas.microsoft.com/office/drawing/2014/main" id="{B8F19E3E-C45B-D848-64A5-59E0146BEC60}"/>
              </a:ext>
            </a:extLst>
          </p:cNvPr>
          <p:cNvCxnSpPr>
            <a:cxnSpLocks/>
          </p:cNvCxnSpPr>
          <p:nvPr/>
        </p:nvCxnSpPr>
        <p:spPr>
          <a:xfrm>
            <a:off x="506776" y="3987900"/>
            <a:ext cx="8130448" cy="0"/>
          </a:xfrm>
          <a:prstGeom prst="line">
            <a:avLst/>
          </a:prstGeom>
          <a:ln w="28575">
            <a:solidFill>
              <a:srgbClr val="3C614B"/>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86C33C1-906C-9473-73D8-D7A0E20D63BE}"/>
              </a:ext>
            </a:extLst>
          </p:cNvPr>
          <p:cNvSpPr txBox="1"/>
          <p:nvPr/>
        </p:nvSpPr>
        <p:spPr>
          <a:xfrm>
            <a:off x="915043" y="2924795"/>
            <a:ext cx="1780027" cy="830997"/>
          </a:xfrm>
          <a:prstGeom prst="rect">
            <a:avLst/>
          </a:prstGeom>
          <a:noFill/>
        </p:spPr>
        <p:txBody>
          <a:bodyPr wrap="square" lIns="91440" tIns="45720" rIns="91440" bIns="45720" rtlCol="0" anchor="t">
            <a:spAutoFit/>
          </a:bodyPr>
          <a:lstStyle/>
          <a:p>
            <a:pPr algn="ctr"/>
            <a:r>
              <a:rPr lang="en-US" sz="1600" b="1" cap="small" dirty="0">
                <a:solidFill>
                  <a:srgbClr val="3C614B"/>
                </a:solidFill>
                <a:latin typeface="Calibri"/>
                <a:ea typeface="Cambria"/>
                <a:cs typeface="Calibri"/>
              </a:rPr>
              <a:t>Sid </a:t>
            </a:r>
            <a:r>
              <a:rPr lang="en-US" sz="1600" b="1" cap="small" dirty="0" err="1">
                <a:solidFill>
                  <a:srgbClr val="3C614B"/>
                </a:solidFill>
                <a:latin typeface="Calibri"/>
                <a:ea typeface="Cambria"/>
                <a:cs typeface="Calibri"/>
              </a:rPr>
              <a:t>Akkala</a:t>
            </a:r>
            <a:endParaRPr lang="en-US" sz="1600" b="1" cap="small" dirty="0">
              <a:solidFill>
                <a:srgbClr val="3C614B"/>
              </a:solidFill>
              <a:latin typeface="Calibri"/>
              <a:ea typeface="Cambria"/>
              <a:cs typeface="Calibri"/>
            </a:endParaRPr>
          </a:p>
          <a:p>
            <a:pPr algn="ctr"/>
            <a:r>
              <a:rPr lang="en-US" sz="1600" b="1" i="1" cap="small" dirty="0">
                <a:latin typeface="Calibri"/>
                <a:ea typeface="Cambria"/>
                <a:cs typeface="Calibri"/>
              </a:rPr>
              <a:t>Treasurer</a:t>
            </a:r>
          </a:p>
          <a:p>
            <a:pPr algn="ctr"/>
            <a:r>
              <a:rPr lang="en-US" sz="1600" b="1" cap="small" dirty="0">
                <a:ea typeface="Cambria"/>
                <a:cs typeface="Calibri"/>
              </a:rPr>
              <a:t>akkalasi@msu.edu</a:t>
            </a:r>
            <a:endParaRPr lang="en-US" sz="1600" b="1" cap="small" dirty="0">
              <a:latin typeface="Calibri"/>
              <a:ea typeface="Cambria"/>
              <a:cs typeface="Calibri"/>
            </a:endParaRPr>
          </a:p>
        </p:txBody>
      </p:sp>
      <p:sp>
        <p:nvSpPr>
          <p:cNvPr id="14" name="TextBox 13">
            <a:extLst>
              <a:ext uri="{FF2B5EF4-FFF2-40B4-BE49-F238E27FC236}">
                <a16:creationId xmlns:a16="http://schemas.microsoft.com/office/drawing/2014/main" id="{3EF69B57-52B9-5E0F-3690-E97B29EAAE1E}"/>
              </a:ext>
            </a:extLst>
          </p:cNvPr>
          <p:cNvSpPr txBox="1"/>
          <p:nvPr/>
        </p:nvSpPr>
        <p:spPr>
          <a:xfrm>
            <a:off x="6448931" y="2924794"/>
            <a:ext cx="2133721" cy="830997"/>
          </a:xfrm>
          <a:prstGeom prst="rect">
            <a:avLst/>
          </a:prstGeom>
          <a:noFill/>
        </p:spPr>
        <p:txBody>
          <a:bodyPr wrap="square" lIns="91440" tIns="45720" rIns="91440" bIns="45720" rtlCol="0" anchor="t">
            <a:spAutoFit/>
          </a:bodyPr>
          <a:lstStyle/>
          <a:p>
            <a:pPr algn="ctr"/>
            <a:r>
              <a:rPr lang="en-US" sz="1600" b="1" cap="small" dirty="0">
                <a:solidFill>
                  <a:srgbClr val="3C614B"/>
                </a:solidFill>
                <a:latin typeface="Calibri"/>
                <a:ea typeface="Cambria"/>
                <a:cs typeface="Calibri"/>
              </a:rPr>
              <a:t>Parth Tiwari</a:t>
            </a:r>
          </a:p>
          <a:p>
            <a:pPr algn="ctr"/>
            <a:r>
              <a:rPr lang="en-US" sz="1600" b="1" i="1" cap="small" dirty="0">
                <a:latin typeface="Calibri"/>
                <a:ea typeface="Cambria"/>
                <a:cs typeface="Calibri"/>
              </a:rPr>
              <a:t>Director of Education</a:t>
            </a:r>
          </a:p>
          <a:p>
            <a:pPr algn="ctr"/>
            <a:r>
              <a:rPr lang="en-US" sz="1600" b="1" cap="small" dirty="0">
                <a:ea typeface="Cambria"/>
                <a:cs typeface="Calibri"/>
              </a:rPr>
              <a:t>tiwaripa@msu.edu</a:t>
            </a:r>
            <a:endParaRPr lang="en-US" sz="1600" b="1" cap="small" dirty="0">
              <a:latin typeface="Calibri"/>
              <a:ea typeface="Cambria"/>
              <a:cs typeface="Calibri"/>
            </a:endParaRPr>
          </a:p>
        </p:txBody>
      </p:sp>
      <p:sp>
        <p:nvSpPr>
          <p:cNvPr id="5" name="TextBox 4">
            <a:extLst>
              <a:ext uri="{FF2B5EF4-FFF2-40B4-BE49-F238E27FC236}">
                <a16:creationId xmlns:a16="http://schemas.microsoft.com/office/drawing/2014/main" id="{9C542BDC-7534-866C-510F-58656D46F3F8}"/>
              </a:ext>
            </a:extLst>
          </p:cNvPr>
          <p:cNvSpPr txBox="1"/>
          <p:nvPr/>
        </p:nvSpPr>
        <p:spPr>
          <a:xfrm>
            <a:off x="1921433" y="2025924"/>
            <a:ext cx="2289360" cy="830997"/>
          </a:xfrm>
          <a:prstGeom prst="rect">
            <a:avLst/>
          </a:prstGeom>
          <a:noFill/>
        </p:spPr>
        <p:txBody>
          <a:bodyPr wrap="square" lIns="91440" tIns="45720" rIns="91440" bIns="45720" rtlCol="0" anchor="t">
            <a:spAutoFit/>
          </a:bodyPr>
          <a:lstStyle/>
          <a:p>
            <a:pPr algn="ctr"/>
            <a:r>
              <a:rPr lang="en-US" sz="1600" b="1" cap="small" dirty="0">
                <a:solidFill>
                  <a:srgbClr val="3C614B"/>
                </a:solidFill>
                <a:latin typeface="Calibri"/>
                <a:ea typeface="Cambria"/>
                <a:cs typeface="Calibri"/>
              </a:rPr>
              <a:t>Dina Younes</a:t>
            </a:r>
            <a:endParaRPr lang="en-US" sz="1600" dirty="0">
              <a:cs typeface="Calibri"/>
            </a:endParaRPr>
          </a:p>
          <a:p>
            <a:pPr algn="ctr"/>
            <a:r>
              <a:rPr lang="en-US" sz="1600" b="1" i="1" cap="small" dirty="0">
                <a:latin typeface="Calibri"/>
                <a:ea typeface="Cambria"/>
                <a:cs typeface="Calibri"/>
              </a:rPr>
              <a:t>President</a:t>
            </a:r>
          </a:p>
          <a:p>
            <a:pPr algn="ctr"/>
            <a:r>
              <a:rPr lang="en-US" sz="1600" b="1" cap="small" dirty="0">
                <a:latin typeface="Calibri"/>
                <a:ea typeface="Cambria"/>
                <a:cs typeface="Calibri"/>
              </a:rPr>
              <a:t>walperma@msu.edu</a:t>
            </a:r>
          </a:p>
        </p:txBody>
      </p:sp>
      <p:sp>
        <p:nvSpPr>
          <p:cNvPr id="7" name="TextBox 6">
            <a:extLst>
              <a:ext uri="{FF2B5EF4-FFF2-40B4-BE49-F238E27FC236}">
                <a16:creationId xmlns:a16="http://schemas.microsoft.com/office/drawing/2014/main" id="{1DC350F4-F304-92EC-4A9F-28D4A5F8EEFE}"/>
              </a:ext>
            </a:extLst>
          </p:cNvPr>
          <p:cNvSpPr txBox="1"/>
          <p:nvPr/>
        </p:nvSpPr>
        <p:spPr>
          <a:xfrm>
            <a:off x="4933207" y="2018474"/>
            <a:ext cx="2289360" cy="830997"/>
          </a:xfrm>
          <a:prstGeom prst="rect">
            <a:avLst/>
          </a:prstGeom>
          <a:noFill/>
        </p:spPr>
        <p:txBody>
          <a:bodyPr wrap="square" lIns="91440" tIns="45720" rIns="91440" bIns="45720" rtlCol="0" anchor="t">
            <a:spAutoFit/>
          </a:bodyPr>
          <a:lstStyle/>
          <a:p>
            <a:pPr algn="ctr"/>
            <a:r>
              <a:rPr lang="en-US" sz="1600" b="1" cap="small" dirty="0">
                <a:solidFill>
                  <a:srgbClr val="3C614B"/>
                </a:solidFill>
                <a:latin typeface="Calibri"/>
                <a:ea typeface="Cambria"/>
                <a:cs typeface="Calibri"/>
              </a:rPr>
              <a:t>Lilia </a:t>
            </a:r>
            <a:r>
              <a:rPr lang="en-US" sz="1600" b="1" cap="small" dirty="0" err="1">
                <a:solidFill>
                  <a:srgbClr val="3C614B"/>
                </a:solidFill>
                <a:latin typeface="Calibri"/>
                <a:ea typeface="Cambria"/>
                <a:cs typeface="Calibri"/>
              </a:rPr>
              <a:t>Laraki</a:t>
            </a:r>
            <a:endParaRPr lang="en-US" sz="1600" dirty="0">
              <a:cs typeface="Calibri"/>
            </a:endParaRPr>
          </a:p>
          <a:p>
            <a:pPr algn="ctr"/>
            <a:r>
              <a:rPr lang="en-US" sz="1600" b="1" i="1" cap="small" dirty="0">
                <a:latin typeface="Calibri"/>
                <a:ea typeface="Cambria"/>
                <a:cs typeface="Calibri"/>
              </a:rPr>
              <a:t>Vice President</a:t>
            </a:r>
          </a:p>
          <a:p>
            <a:pPr algn="ctr"/>
            <a:r>
              <a:rPr lang="en-US" sz="1600" b="1" cap="small" dirty="0">
                <a:ea typeface="Cambria"/>
                <a:cs typeface="Calibri"/>
              </a:rPr>
              <a:t>larakili@msu.edu</a:t>
            </a:r>
            <a:endParaRPr lang="en-US" sz="1600" b="1" cap="small" dirty="0">
              <a:latin typeface="Calibri"/>
              <a:ea typeface="Cambria"/>
              <a:cs typeface="Calibri"/>
            </a:endParaRPr>
          </a:p>
        </p:txBody>
      </p:sp>
      <p:sp>
        <p:nvSpPr>
          <p:cNvPr id="8" name="TextBox 7">
            <a:extLst>
              <a:ext uri="{FF2B5EF4-FFF2-40B4-BE49-F238E27FC236}">
                <a16:creationId xmlns:a16="http://schemas.microsoft.com/office/drawing/2014/main" id="{B80A80AF-4357-28FA-7E11-F8767199C611}"/>
              </a:ext>
            </a:extLst>
          </p:cNvPr>
          <p:cNvSpPr txBox="1"/>
          <p:nvPr/>
        </p:nvSpPr>
        <p:spPr>
          <a:xfrm>
            <a:off x="3212350" y="2924794"/>
            <a:ext cx="2719301" cy="830997"/>
          </a:xfrm>
          <a:prstGeom prst="rect">
            <a:avLst/>
          </a:prstGeom>
          <a:noFill/>
        </p:spPr>
        <p:txBody>
          <a:bodyPr wrap="square" lIns="91440" tIns="45720" rIns="91440" bIns="45720" rtlCol="0" anchor="t">
            <a:spAutoFit/>
          </a:bodyPr>
          <a:lstStyle/>
          <a:p>
            <a:pPr algn="ctr"/>
            <a:r>
              <a:rPr lang="en-US" sz="1600" b="1" cap="small" dirty="0">
                <a:solidFill>
                  <a:srgbClr val="3C614B"/>
                </a:solidFill>
                <a:latin typeface="Calibri"/>
                <a:ea typeface="Cambria"/>
                <a:cs typeface="Calibri"/>
              </a:rPr>
              <a:t>Adam Robinson</a:t>
            </a:r>
            <a:endParaRPr lang="en-US" sz="1600" dirty="0">
              <a:cs typeface="Calibri"/>
            </a:endParaRPr>
          </a:p>
          <a:p>
            <a:pPr algn="ctr"/>
            <a:r>
              <a:rPr lang="en-US" sz="1600" b="1" i="1" cap="small" dirty="0">
                <a:latin typeface="Calibri"/>
                <a:ea typeface="Cambria"/>
                <a:cs typeface="Calibri"/>
              </a:rPr>
              <a:t>Head of Business Development</a:t>
            </a:r>
          </a:p>
          <a:p>
            <a:pPr algn="ctr"/>
            <a:r>
              <a:rPr lang="en-US" sz="1600" b="1" cap="small" dirty="0">
                <a:ea typeface="Cambria"/>
                <a:cs typeface="Calibri"/>
              </a:rPr>
              <a:t>robi1367@msu.edu</a:t>
            </a:r>
            <a:endParaRPr lang="en-US" sz="1600" b="1" cap="small" dirty="0">
              <a:latin typeface="Calibri"/>
              <a:ea typeface="Cambria"/>
              <a:cs typeface="Calibri"/>
            </a:endParaRPr>
          </a:p>
        </p:txBody>
      </p:sp>
    </p:spTree>
    <p:extLst>
      <p:ext uri="{BB962C8B-B14F-4D97-AF65-F5344CB8AC3E}">
        <p14:creationId xmlns:p14="http://schemas.microsoft.com/office/powerpoint/2010/main" val="2832808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A294-3214-24A4-8AF8-249F85DE06FD}"/>
            </a:ext>
          </a:extLst>
        </p:cNvPr>
        <p:cNvGrpSpPr/>
        <p:nvPr/>
      </p:nvGrpSpPr>
      <p:grpSpPr>
        <a:xfrm>
          <a:off x="0" y="0"/>
          <a:ext cx="0" cy="0"/>
          <a:chOff x="0" y="0"/>
          <a:chExt cx="0" cy="0"/>
        </a:xfrm>
      </p:grpSpPr>
      <p:pic>
        <p:nvPicPr>
          <p:cNvPr id="2" name="Picture 1" descr="A building with a large roof&#10;&#10;Description automatically generated">
            <a:extLst>
              <a:ext uri="{FF2B5EF4-FFF2-40B4-BE49-F238E27FC236}">
                <a16:creationId xmlns:a16="http://schemas.microsoft.com/office/drawing/2014/main" id="{CB1D9F79-23C5-FE94-59D1-5CC4BFF81703}"/>
              </a:ext>
            </a:extLst>
          </p:cNvPr>
          <p:cNvPicPr>
            <a:picLocks noChangeAspect="1"/>
          </p:cNvPicPr>
          <p:nvPr/>
        </p:nvPicPr>
        <p:blipFill rotWithShape="1">
          <a:blip r:embed="rId3">
            <a:extLst>
              <a:ext uri="{28A0092B-C50C-407E-A947-70E740481C1C}">
                <a14:useLocalDpi xmlns:a14="http://schemas.microsoft.com/office/drawing/2010/main" val="0"/>
              </a:ext>
            </a:extLst>
          </a:blip>
          <a:srcRect l="5443" t="7489" r="5612"/>
          <a:stretch/>
        </p:blipFill>
        <p:spPr>
          <a:xfrm>
            <a:off x="-1013552" y="0"/>
            <a:ext cx="11171104" cy="6864770"/>
          </a:xfrm>
          <a:prstGeom prst="rect">
            <a:avLst/>
          </a:prstGeom>
          <a:effectLst/>
        </p:spPr>
      </p:pic>
      <p:sp>
        <p:nvSpPr>
          <p:cNvPr id="3" name="Rectangle 2">
            <a:extLst>
              <a:ext uri="{FF2B5EF4-FFF2-40B4-BE49-F238E27FC236}">
                <a16:creationId xmlns:a16="http://schemas.microsoft.com/office/drawing/2014/main" id="{C9CA33D3-C7BB-D6D8-A5C5-E5F8B1AD82FC}"/>
              </a:ext>
            </a:extLst>
          </p:cNvPr>
          <p:cNvSpPr/>
          <p:nvPr/>
        </p:nvSpPr>
        <p:spPr>
          <a:xfrm>
            <a:off x="44067" y="768426"/>
            <a:ext cx="9055865" cy="5321147"/>
          </a:xfrm>
          <a:prstGeom prst="rect">
            <a:avLst/>
          </a:pr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250244-E6B4-2102-49FA-61C489375BD4}"/>
              </a:ext>
            </a:extLst>
          </p:cNvPr>
          <p:cNvSpPr txBox="1"/>
          <p:nvPr/>
        </p:nvSpPr>
        <p:spPr>
          <a:xfrm>
            <a:off x="374703" y="1026666"/>
            <a:ext cx="5794741" cy="646331"/>
          </a:xfrm>
          <a:prstGeom prst="rect">
            <a:avLst/>
          </a:prstGeom>
          <a:noFill/>
        </p:spPr>
        <p:txBody>
          <a:bodyPr wrap="square" lIns="91440" tIns="45720" rIns="91440" bIns="45720" rtlCol="0" anchor="ctr">
            <a:spAutoFit/>
          </a:bodyPr>
          <a:lstStyle/>
          <a:p>
            <a:r>
              <a:rPr lang="en-US" sz="3600" b="1" cap="small" baseline="0" dirty="0">
                <a:latin typeface="Calibri"/>
                <a:ea typeface="Cambria" panose="02040503050406030204" pitchFamily="18" charset="0"/>
                <a:cs typeface="Calibri"/>
              </a:rPr>
              <a:t>QR Codes</a:t>
            </a:r>
          </a:p>
        </p:txBody>
      </p:sp>
      <p:cxnSp>
        <p:nvCxnSpPr>
          <p:cNvPr id="11" name="Straight Connector 10">
            <a:extLst>
              <a:ext uri="{FF2B5EF4-FFF2-40B4-BE49-F238E27FC236}">
                <a16:creationId xmlns:a16="http://schemas.microsoft.com/office/drawing/2014/main" id="{29F2D349-DB4B-6C05-EB5A-BC103B7A582F}"/>
              </a:ext>
            </a:extLst>
          </p:cNvPr>
          <p:cNvCxnSpPr>
            <a:cxnSpLocks/>
          </p:cNvCxnSpPr>
          <p:nvPr/>
        </p:nvCxnSpPr>
        <p:spPr>
          <a:xfrm flipV="1">
            <a:off x="4572000" y="1940767"/>
            <a:ext cx="0" cy="3374094"/>
          </a:xfrm>
          <a:prstGeom prst="line">
            <a:avLst/>
          </a:prstGeom>
          <a:ln w="28575">
            <a:solidFill>
              <a:srgbClr val="3C614B"/>
            </a:solidFill>
          </a:ln>
        </p:spPr>
        <p:style>
          <a:lnRef idx="1">
            <a:schemeClr val="accent1"/>
          </a:lnRef>
          <a:fillRef idx="0">
            <a:schemeClr val="accent1"/>
          </a:fillRef>
          <a:effectRef idx="0">
            <a:schemeClr val="accent1"/>
          </a:effectRef>
          <a:fontRef idx="minor">
            <a:schemeClr val="tx1"/>
          </a:fontRef>
        </p:style>
      </p:cxnSp>
      <p:pic>
        <p:nvPicPr>
          <p:cNvPr id="24" name="Picture 23" descr="A qr code with circles and squares&#10;&#10;AI-generated content may be incorrect.">
            <a:extLst>
              <a:ext uri="{FF2B5EF4-FFF2-40B4-BE49-F238E27FC236}">
                <a16:creationId xmlns:a16="http://schemas.microsoft.com/office/drawing/2014/main" id="{9E61E116-1E35-4D60-DA2D-0604F72BA3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952" y="2283313"/>
            <a:ext cx="2795906" cy="2795906"/>
          </a:xfrm>
          <a:prstGeom prst="rect">
            <a:avLst/>
          </a:prstGeom>
        </p:spPr>
      </p:pic>
      <p:sp>
        <p:nvSpPr>
          <p:cNvPr id="25" name="TextBox 24">
            <a:extLst>
              <a:ext uri="{FF2B5EF4-FFF2-40B4-BE49-F238E27FC236}">
                <a16:creationId xmlns:a16="http://schemas.microsoft.com/office/drawing/2014/main" id="{4E07F50A-DE31-7D5C-BEB3-F4B7F2B22EC8}"/>
              </a:ext>
            </a:extLst>
          </p:cNvPr>
          <p:cNvSpPr txBox="1"/>
          <p:nvPr/>
        </p:nvSpPr>
        <p:spPr>
          <a:xfrm>
            <a:off x="1395171" y="1843121"/>
            <a:ext cx="1819469" cy="369332"/>
          </a:xfrm>
          <a:prstGeom prst="rect">
            <a:avLst/>
          </a:prstGeom>
          <a:noFill/>
        </p:spPr>
        <p:txBody>
          <a:bodyPr wrap="square" rtlCol="0">
            <a:spAutoFit/>
          </a:bodyPr>
          <a:lstStyle/>
          <a:p>
            <a:pPr algn="ctr"/>
            <a:r>
              <a:rPr lang="en-US" b="1" dirty="0">
                <a:solidFill>
                  <a:srgbClr val="48604A"/>
                </a:solidFill>
              </a:rPr>
              <a:t>Attendance</a:t>
            </a:r>
          </a:p>
        </p:txBody>
      </p:sp>
      <p:sp>
        <p:nvSpPr>
          <p:cNvPr id="35" name="TextBox 34">
            <a:extLst>
              <a:ext uri="{FF2B5EF4-FFF2-40B4-BE49-F238E27FC236}">
                <a16:creationId xmlns:a16="http://schemas.microsoft.com/office/drawing/2014/main" id="{6ADF2FD1-ACEF-E8F4-C60A-B5E7D421A8F4}"/>
              </a:ext>
            </a:extLst>
          </p:cNvPr>
          <p:cNvSpPr txBox="1"/>
          <p:nvPr/>
        </p:nvSpPr>
        <p:spPr>
          <a:xfrm>
            <a:off x="5974641" y="1843121"/>
            <a:ext cx="1819469" cy="369332"/>
          </a:xfrm>
          <a:prstGeom prst="rect">
            <a:avLst/>
          </a:prstGeom>
          <a:noFill/>
        </p:spPr>
        <p:txBody>
          <a:bodyPr wrap="square" rtlCol="0">
            <a:spAutoFit/>
          </a:bodyPr>
          <a:lstStyle/>
          <a:p>
            <a:pPr algn="ctr"/>
            <a:r>
              <a:rPr lang="en-US" b="1" dirty="0">
                <a:solidFill>
                  <a:srgbClr val="48604A"/>
                </a:solidFill>
              </a:rPr>
              <a:t>Pay Dues</a:t>
            </a:r>
          </a:p>
        </p:txBody>
      </p:sp>
      <p:pic>
        <p:nvPicPr>
          <p:cNvPr id="37" name="Picture 36" descr="A qr code with circles&#10;&#10;AI-generated content may be incorrect.">
            <a:extLst>
              <a:ext uri="{FF2B5EF4-FFF2-40B4-BE49-F238E27FC236}">
                <a16:creationId xmlns:a16="http://schemas.microsoft.com/office/drawing/2014/main" id="{D5CAAC87-DD78-A3D0-454D-B11D617D10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5343" y="2283313"/>
            <a:ext cx="2798064" cy="2798064"/>
          </a:xfrm>
          <a:prstGeom prst="rect">
            <a:avLst/>
          </a:prstGeom>
        </p:spPr>
      </p:pic>
    </p:spTree>
    <p:extLst>
      <p:ext uri="{BB962C8B-B14F-4D97-AF65-F5344CB8AC3E}">
        <p14:creationId xmlns:p14="http://schemas.microsoft.com/office/powerpoint/2010/main" val="107332851"/>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2177130-642f-41d9-9211-74237ad5687d}" enabled="0" method="" siteId="{22177130-642f-41d9-9211-74237ad5687d}" removed="1"/>
</clbl:labelList>
</file>

<file path=docProps/app.xml><?xml version="1.0" encoding="utf-8"?>
<Properties xmlns="http://schemas.openxmlformats.org/officeDocument/2006/extended-properties" xmlns:vt="http://schemas.openxmlformats.org/officeDocument/2006/docPropsVTypes">
  <Template/>
  <TotalTime>3004</TotalTime>
  <Words>2027</Words>
  <Application>Microsoft Office PowerPoint</Application>
  <PresentationFormat>On-screen Show (4:3)</PresentationFormat>
  <Paragraphs>402</Paragraphs>
  <Slides>21</Slides>
  <Notes>17</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Aptos</vt:lpstr>
      <vt:lpstr>Arial</vt:lpstr>
      <vt:lpstr>Calibri</vt:lpstr>
      <vt:lpstr>Calibri Light</vt:lpstr>
      <vt:lpstr>Cambria</vt:lpstr>
      <vt:lpstr>Garamond</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 Fall</vt:lpstr>
      <vt:lpstr>Timeline - Spring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Smalley, Ryan</dc:creator>
  <cp:lastModifiedBy>Walper, Matthew</cp:lastModifiedBy>
  <cp:revision>5</cp:revision>
  <dcterms:created xsi:type="dcterms:W3CDTF">2023-08-29T18:30:56Z</dcterms:created>
  <dcterms:modified xsi:type="dcterms:W3CDTF">2025-09-06T19:49:14Z</dcterms:modified>
</cp:coreProperties>
</file>